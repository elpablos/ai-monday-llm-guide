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 Otevíráme krabičku" id="{059d51c6-9d4c-52ea-b6c1-85a6d8934fee}">
          <p14:sldIdLst>
            <p14:sldId id="256"/>
            <p14:sldId id="257"/>
            <p14:sldId id="258"/>
          </p14:sldIdLst>
        </p14:section>
        <p14:section name="II. Rozebíráme" id="{2f58a2c2-f15d-7f08-9452-5a33345ec257}">
          <p14:sldIdLst>
            <p14:sldId id="259"/>
            <p14:sldId id="260"/>
            <p14:sldId id="261"/>
            <p14:sldId id="262"/>
            <p14:sldId id="263"/>
            <p14:sldId id="264"/>
            <p14:sldId id="265"/>
            <p14:sldId id="266"/>
            <p14:sldId id="267"/>
            <p14:sldId id="268"/>
            <p14:sldId id="269"/>
            <p14:sldId id="270"/>
          </p14:sldIdLst>
        </p14:section>
        <p14:section name="III. Kde to skřípe" id="{2f7ac7c7-52eb-2921-a46c-c529ef925057}">
          <p14:sldIdLst>
            <p14:sldId id="271"/>
            <p14:sldId id="272"/>
            <p14:sldId id="273"/>
          </p14:sldIdLst>
        </p14:section>
        <p14:section name="IV. Stavíme kolem toho software" id="{70da9dab-d8e7-fb30-dfb5-5f6b5b9002be}">
          <p14:sldIdLst>
            <p14:sldId id="274"/>
            <p14:sldId id="275"/>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(sekce I celkem 2:30)
ŘÍCT:
Představit se jednou větou. Název: Stopařův průvodce po LLMs. DON'T PANIC je rada z obálky Průvodce — a dneska je to i rada pro debatu o AI.
POINTA: Nastavit tón: lehce, ale vážně míněno.
VTIP / CALLBACK: Průvodce měl na obálce velkými přátelskými písmeny DON'T PANIC. My máme slidy.
PŘECHOD: Co se o AI dneska nejčastěji ptáme?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ŘÍCT:
Projít otázky rychle, nechat je viset. Neodpovídat — slíbit, že se k první vrátíme na konci, poctivě.
POINTA: Strach pramení z neznalosti mechanismu. Dneska mechanismus otevřeme.
TECHNICKÁ POZNÁMKA: Neslibovat, že porozumění mechanismu = bezpečnost. Na konci (slide Terminátoři) to uzavřeme poctivě.
PŘECHOD: Já jsem na neznámé věci měl vždycky jeden nástroj.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ŘÍCT:
Příběh z dětství: šroubovák, rozebírání, nic už nefungovalo. Co se v mládí naučíš… Dneska vezmeme pomyslný otvírák na konzervy na tuhle krabičku: prompt dovnitř, odpověď ven.
POINTA: Celá přednáška = postupné rozebírání téhle krabičky.
VTIP / CALLBACK: Rodiče by vám řekli, kolik rádií to stálo.
PŘECHOD: Než sáhneme dovnitř, zkusíme si, co ta krabička vlastně dělá. Na sobě.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(spolu s dalším slidem 1:15)
ŘÍCT:
Nic neříkat. Nechat publikum doplnit nahlas. Počkat 3–4 vteřiny.
POINTA: Každý v sále má v hlavě několik kandidátů s různou jistotou.
PŘECHOD: Klik — co jste říkali.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ŘÍCT:
Vyjmenovat, co zaznělo. Nikdo nevěděl ‚správnou' odpověď — ale všichni věděli, co je pravděpodobné a co ne (‚na kvantové fyzice' asi nikdo).
POINTA: Language model dělá přesně tohle: z kontextu odhaduje, co bude dál.
TECHNICKÁ POZNÁMKA: Zatím vědomě neříkáme nic o transformeru ani o tom, že model nepracuje se slovy.
PŘECHOD: Jenže je tu háček: model ty věty nevidí jako 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ŘÍCT:
Model nedostane ‚Kočka sedí na střeše'. Dostane kousky — tokeny. Někdy celé slovo, někdy kus slova, mezera bývá součástí tokenu, tečka je samostatný token. Pod každým tokenem je jeho číslo ve slovníku tokenizeru.
POINTA: Základní jednotka LLM je token, ne slovo ani význam.
VTIP / CALLBACK: Střecha se rozpadla na ‚st', ‚ře', ‚še'. Tak tohle si model musí dát dohromady sám.
TECHNICKÁ POZNÁMKA: Skutečný výstup tiktoken o200k_base pro tyto dvě věty. Jiné modely mají jiné tokenizery a jiná čísla. Počet tokenů záleží na tokenizeru a konkrétním textu — nezobecňovat na ‚čeština je vždycky horší'. ‚Nevidí text' = dostává token IDs; neplyne z toho, že uvnitř nevznikají reprezentace významu. Tokenizace je bezeztrátová (z ID jde text přesně zrekonstruovat).
ZDROJ: github.com/openai/tiktoken
PŘECHOD: A s čísly ve slovníku se ještě nedá počítat. Potřebujeme víc.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ŘÍCT:
Aby s tím počítač mohl počítat, z každého tokenu uděláme dlouhý vektor čísel — embedding. Přidá se i informace o pozici, protože ‚pes kousl pošťáka' není ‚pošťák kousl psa'. Tyhle vektory se model naučí při tréninku a zachycují vztahy mezi tokeny — tokeny používané v podobných souvislostech často skončí blízko sebe.
POINTA: Jazyk převedeme na čísla. Naučené vektory zachycují vztahy mezi tokeny.
TECHNICKÁ POZNÁMKA: ZJEDNODUŠENÍ PRO VYSVĚTLENÍ — Hodnoty vektorů jsou vymyšlené. Token ID je jen index ve slovníku, není seřazené podle významu. Blízkost ve vektorovém prostoru není univerzální záruka významové podobnosti. Obrázek vpravo je 2D ilustrace; reálný prostor má stovky až tisíce dimenzí a jednotlivé souřadnice obvykle nemají lidsky čitelný význam. Pozice se dnes často kóduje přímo uvnitř attention (např. RoPE), ne jen přičtením k embeddingu.
PŘECHOD: Teď máme řadu vektorů. Jak model pozná, které spolu souvisí?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1:45
ŘÍCT:
Model čte zleva doprava. Zpracovává ‚měla' — ‚hlad' ještě nevidí. Kdo měla? Kočka i myš jsou ženského rodu, gramatika nepomůže. Vy tušíte, že spíš kočka. Attention je mechanismus, kterým model pro každý token spočítá, na které předchozí tokeny se ‚podívat' a jak moc — a z nich si poskládá novou reprezentaci.
POINTA: Attention = každý token si vybírá, co z kontextu je pro něj relevantní.
TECHNICKÁ POZNÁMKA: ZJEDNODUŠENÍ PRO VYSVĚTLENÍ — Váhy na slidu jsou vymyšlené pro ilustraci. V decoder-only modelu je attention kauzální: token vidí sebe a předchozí tokeny, budoucí jsou maskované (na slidu přerušovaně, bez váhy). Na slidu jsou slova, reálně jsou to tokeny (např. Ko|čka). Reálně běží mnoho attention hlav paralelně v mnoha vrstvách a jednotlivé hlavy sledují různé vztahy; jedna hlava se nedá číst jako ‚model si myslí X'. Attention není totéž co uvažování. Mechanika pro zvídavé: query/key/value — každý token vyšle dotaz (query), porovná ho s klíči (keys) ostatních tokenů a vezme vážený průměr jejich hodnot (values). Na slide nedávat.
ZDROJ: Vaswani et al. 2017, Attention Is All You Need; Transformer Explainer (sekce Attention)
PŘECHOD: Attention je jedna součástka. Teď ukážeme, jak se skládají.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ŘÍCT:
Transformer blok = attention (tokeny si vyměňují informace) + MLP (každý token se zpracuje zvlášť). A tenhle blok se opakuje — desítky vrstev nad sebou. Na konci vypadne pro každou pozici sada čísel: logits.
POINTA: Uvnitř není ručně napsaná tabulka odpovědí. Je tam architektura a parametry naučené z dat.
TECHNICKÁ POZNÁMKA: ZJEDNODUŠENÍ PRO VYSVĚTLENÍ — Vynechány normalizace, residual connections, detaily výstupní vrstvy. Počet vrstev a parametrů se liší model od modelu; u velkých modelů jde o desítky až přes sto vrstev a miliardy až stovky miliard parametrů (u uzavřených modelů často nezveřejněno). Za běhu vznikají aktivace (mezivýsledky). Některé tréninkové pasáže může model memorovat (viz slide JPEG).
PŘECHOD: Co přesně z toho na konci vypadne?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ŘÍCT:
Tohle je nejdůležitější slide. Model nevrací ‚správnou odpověď'. Vrací skóre (logits) pro každý token ve slovníku a softmax je převede na pravděpodobnosti, které dávají dohromady 100 %. Celý slovník — desítky až stovky tisíc tokenů.
POINTA: Výstup LLM je distribuce pravděpodobností dalšího tokenu, ne odpověď.
VTIP / CALLBACK: Odpověď ‚42' tam někde taky je. S hodně malou pravděpodobností.
TECHNICKÁ POZNÁMKA: ZJEDNODUŠENÍ PRO VYSVĚTLENÍ — Čísla jsou ilustrativní a kandidáti jsou celá slova. Reálně (viz tokenizer) by model nejdřív volil první token, např. ‚·st', a ‚střeše' by vzniklo až během několika kroků. 31 % neznamená 31% jistotu, že je odpověď pravdivá — je to podíl pravděpodobnosti pro tento token. Chatovací modely navíc po post-trainingu nemají distribuce jako čistý jazykový model. Přesnější varianta pro technické publikum: EN ‚The cat sits on the' → ·roof/·mat/·floor/·sofa (všechno jednotlivé tokeny o200k_base).
ZDROJ: Transformer Explainer — sekce výstupních pravděpodobností
PŘECHOD: A z rozdělení musíme vybrat jeden token. Jak?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1:45 (+ až 1:00 živá ukázka z rezervy)
ŘÍCT:
Z rozdělení se vybere token — sampling. Je to kostka, ale extrémně zatížená, a před každým hodem se přezváží podle kontextu. Temperature mění tvar rozdělení: nízká ho zostří (vyhrává favorit), vysoká ho zploští (víc šance pro outsidery). Pořadí kandidátů se nemění, mění se jen poměry.
POINTA: Stochastický neznamená chaotický. Rozdělení je velmi strukturované; náhoda jen vybírá v jeho rámci.
TECHNICKÁ POZNÁMKA: Temperature není ‚míra kreativity', je to parametr, který dělí logits před softmaxem: softmax(logits/T); hodnoty na slidu jsou skutečně spočtené pro 4 syntetické kandidáty (bez top-k/top-p). Ani nízká, ani vysoká T nezaručuje pravdivost. T = 0 je konvence pro greedy decoding (vždy nejpravděpodobnější token), ne dělení nulou. Greedy je deterministická volba pro stejné logits, ale celá inference nemusí být bitově reprodukovatelná: floating-point, pořadí operací a dávkování mohou posunout skóre a u blízkých kandidátů změnit i greedy volbu. Sampling tedy není jediný zdroj variability. Další strategie: top-k, top-p.
ZDROJ: Transformer Explainer (temperature slider); PyTorch docs — Reproducibility, Numerical accuracy
PŘECHOD: ŽIVÁ UKÁZKA (volitelně, max 1 min): poloclub.github.io/transformer-explainer — posunout temperature slider, ukázat jak se mění rozdělení. Pak: a tohle se opakuje.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ŘÍCT:
Vybraný token (jeho ID) se přilepí ke kontextu tokenů — text se znovu netokenizuje — a celé se to spustí znovu. Token po tokenu. Teď vidíte celou rozebranou krabičku — vlevo je to, co bylo uvnitř. Vpravo vidíte, jak vzniká ‚střeše' ze tří tokenů.
POINTA: Generování = smyčka: kontext → pravděpodobnosti → token → nový kontext. Nic víc.
TECHNICKÁ POZNÁMKA: Smyčka běží do ukončovacího tokenu nebo limitu délky. Mezivýsledky předchozích tokenů se obvykle cachují (KV cache), takže se nepřepočítává všechno od nuly. ‚Opakuj' neznamená ‚uč se': při běžném chatu se váhy modelu nemění. Kontext má omezenou délku (context window).
PŘECHOD: A teď ta otázka, která by vás měla trápit nejvíc.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ŘÍCT:
Pokud je základní operace jen hádání dalšího tokenu, odkud se bere překlad, kód, sumarizace? Odpověď: abyste u těchto vět dobře tipovali další token, musíte zachytit fakta, syntaxi kódu, vztahy mezi jazyky, strukturu argumentu. Trénink tlačí model, aby si tyhle pravidelnosti nějak zakódoval — jinak by predikoval špatně.
POINTA: Jednoduchá úloha × obrovská data × velký model (+ post-training) → schopnosti, které nikdo explicitně neprogramoval.
TECHNICKÁ POZNÁMKA: Opatrně: neříkat jako fakt, že model ‚má model světa' nebo ‚rozumí'. Jak přesně jsou tyhle struktury uvnitř reprezentované, je otevřená výzkumná otázka (interpretability). Slovo ‚emergence' nepoužívat jako vysvětlení. Úspěch v úlohách je empirický fakt, ne důkaz lidského myšlení. Schopnosti závisí na datech, architektuře, škále i post-trainingu. Pojem ‚emergentní schopnosti' je odborně sporný — část skokových efektů závisí na zvolené metrice (Schaeffer et al. 2023). Dnešní chat modely navíc prošly post-trainingem (instrukce, RLHF/RL), nejsou to čisté next-token prediktory.
ZDROJ: Brown et al. 2020 (Language Models are Few-Shot Learners); Schaeffer et al. 2023 (Are Emergent Abilities a Mirage?)
PŘECHOD: Jak se to model naučí?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ŘÍCT:
Vezmeme skutečný text, zakryjeme další token a necháme model hádat. Řekněme, že dá 40 % tokenu ‚·st' (střeše) a jen 3 % tokenu ‚·ro' (rohožce) — čísla jsou ilustrativní. V textu ale bylo ‚·ro'. Spočítáme chybu a všechny parametry maličko pootočíme tím směrem, aby příště dal ‚·ro' o kousek víc. A tohle zopakujeme na bilionech tokenů, mnoho pozic a příkladů najednou.
POINTA: Training = obří množství malých oprav, ne zapisování faktů do tabulky.
VTIP / CALLBACK: Pár miliard knoflíků. Ručně by to trvalo.
TECHNICKÁ POZNÁMKA: ZJEDNODUŠENÍ PRO VYSVĚTLENÍ — ‚Skutečný další token' není ‚správná odpověď' — trénovací text nemusí být fakticky pravdivý; ztráta jen penalizuje nízkou pravděpodobnost pozorovaného tokenu. Úprava parametrů = gradient descent přes backpropagation; nevysvětlujeme. Tohle je pre-training. Chat model pak prochází post-trainingem: supervised fine-tuning na ukázkách konverzací a ladění podle preferencí (RLHF), případně odměny za vyřešené úlohy (RL) — proto odpovídá jako asistent, ne jako doplňovač textu.
ZDROJ: Ouyang et al. 2022 (InstructGPT) pro post-training
PŘECHOD: Co tedy v těch parametrech vlastně 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ŘÍCT:
JPEG zahazuje část detailů a obrázek pak přibližně zrekonstruuje. Na LLM se dá dívat podobně: z obrovského množství textu zůstalo v parametrech něco jako ztrátově zhuštěné pravidelnosti — ne kopie dokumentů. Když generuje, vytváří nové pokračování z naučených pravidelností; neobnovuje konkrétní originální dokument.
POINTA: Model není databáze originálů. Je to ztrátová, zhuštěná reprezentace pravidelností.
VTIP / CALLBACK: Analogie je od Teda Chianga: ChatGPT is a blurry JPEG of the web.
TECHNICKÁ POZNÁMKA: ZJEDNODUŠENÍ PRO VYSVĚTLENÍ — LLM není doslova kompresní algoritmus a halucinace nejsou JPEG artefakty. Nuance: modely si přesto umí zapamatovat a doslova reprodukovat části trénovacích dat (memorization), hlavně často opakované texty — ‚není databáze' neznamená ‚nic si nepamatuje'. Formální vztah predikce a komprese existuje (Delétang et al. 2023), ale to je jiná rovina než tahle intuice.
ZDROJ: Ted Chiang, ChatGPT Is a Blurry JPEG of the Web, The New Yorker 2023 — newyorker.com/tech/annals-of-technology/chatgpt-is-a-blurry-jpeg-of-the-web (autorská analogie); Delétang et al. 2023, Language Modeling Is Compression — arxiv.org/abs/2309.10668; Carlini et al. 2020, Extracting Training Data from LLMs
PŘECHOD: A tím se dostáváme k tomu, co nám na LLM nejvíc vadí.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2:00
ŘÍCT:
Podívejte se na smyčku. Model v každém kroku vyrobí nějaké rozdělení a my z něj vždycky něco vybereme. Nikde v té smyčce není krok ‚ověř, jestli je to pravda'. Model generuje věrohodné pokračování — a věrohodné a pravdivé se většinou překrývá, ale ne vždycky. Pravděpodobnost textu není pravdivost.
POINTA: Halucinace vyplývá z toho, co generativní model dělá; není to cizí bug navíc.
TECHNICKÁ POZNÁMKA: ZJEDNODUŠENÍ PRO VYSVĚTLENÍ — Halucinace nemají jediný mechanismus (chybějící nebo vzácná data, konflikty v datech, chyby při dekódování, tlak tréninku a evaluací odměňovat tipování víc než ‚nevím'). ‚Nevím' je možný výstup a moderní modely se dají trénovat, aby nejistotu přiznávaly častěji, používaly tools a citovaly zdroje — jen na to není garance ze samotného generování tokenů. RAG ani tools nejsou univerzální oprava. Kalai et al. popisují tlak na hádání místo abstence jako jeden mechanismus, ne úplnou teorii všech chyb.
ZDROJ: Kalai et al. 2025, Why Language Models Hallucinate (OpenAI)
PŘECHOD: Druhá věc, která lidi překvapuje.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(spolu s dalším slidem 1:30)
ŘÍCT:
Nechat chvíli viset. Pak: vzpomeňte si na rozebranou krabičku — tokenizer, embeddings, attention, logits, sampling. Kde byla násobička? (Hned dodat:) Hardware uvnitř samozřejmě násobí. Jen nám to nezaručuje správné násobení čísel z promptu.
POINTA: V architektuře není deterministická aritmetická jednotka pro tenhle úkol.
TECHNICKÁ POZNÁMKA: ZJEDNODUŠENÍ PRO VYSVĚTLENÍ — ‚Není tam násobička' je rétorická zkratka, ne doslovný popis: uvnitř je spousta násobení matic, jen ne garantovaný algoritmus pro násobení čísel z promptu. Modely aritmetiku částečně umí jako naučené vzory a moderní reasoning modely jsou v matematice velmi dobré; víceciferné násobení bez nástroje ale zůstává náchylné k chybám. Čísla se navíc tokenizují po kouscích. Hardware samozřejmě násobí — jde o to, že v LM není garantovaný převod úlohy na přesný aritmetický výsledek. Neříkat, že modely matematiku ‚neumí'.
PŘECHOD: Tak co s tím?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ŘÍCT:
Řešení není nutit model, aby se naučil násobit líp. Řešení je dát mu kalkulačku. Model pozná, že jde o výpočet, zavolá nástroj, a výsledek je přesný.
POINTA: Deterministický problém → deterministický nástroj.
VTIP / CALLBACK: Kalkulačka za 50 Kč porazí model za miliardy. V tomhle jednom.
TECHNICKÁ POZNÁMKA: Kalkulačka spočítá přesně jen to, co dostane: systém musí ověřit, že model předal správné argumenty, a výsledek validovat. Výsledek 1 392 967 ověřen integer aritmetikou.
PŘECHOD: A tohle je obecný princip. Pojďme mu dávat nástroje.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ŘÍCT:
Začneme holým modelem. Kontext má model vždycky — první rozšíření je aplikační kontext: co mu do promptu vloží aplikace (instrukce, historie, data o uživateli). Druhé: retrieval. Nejdřív vyhledáme relevantní dokumenty (search, vektorová DB, cokoliv) a vložíme je do kontextu. Model pak odpovídá nad nimi.
POINTA: RAG nenahrává znalosti do modelu. Dává mu je do kontextu při každém dotazu.
TECHNICKÁ POZNÁMKA: Parametry se při RAG nemění. Kvalita odpovědi stojí na kvalitě vyhledávání; model může i přes dodaný kontext halucinovat nebo ho špatně použít.
ZDROJ: Lewis et al. 2020, Retrieval-Augmented Generation
PŘECHOD: A když nestačí informace, potřebujeme akce.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ŘÍCT:
Tools: model nedělá výpočet ani dotaz sám. Vygeneruje strukturovaný požadavek (‚zavolej calculator s 2837×491'), náš kód ho vykoná a výsledek vrátí do kontextu. State/memory: co si systém pamatuje mezi kroky a konverzacemi — ukládá to software kolem, ne model.
POINTA: Tools a state dávají systému schopnosti, které samotný model nemá.
TECHNICKÁ POZNÁMKA: Model sám o sobě nic nespouští; volání nástrojů provádí okolní kód (a ten rozhoduje o oprávněních).
PŘECHOD: Když to dáme dohromady ve smyčce, dostaneme to, čemu se dnes říká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ŘÍCT:
Samotné přidání stavu z toho agenta nedělá. Agent = smyčka: model zvolí akci, systém spustí tool, výsledek jde zpátky do kontextu, model rozhodne, jestli pokračovat, nebo skončit. A všimněte si: LLM je jedna krabička z šesti. Zbytek je normální software.
POINTA: Agent není synonymum pro LLM. LLM je komponenta.
ZDROJ: Yao et al. 2022, ReAct
PŘECHOD: A tady začíná klasický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ŘÍCT:
Vlevo věci, kde umíme pravidlo napsat přesně a chceme stejný výsledek pokaždé. Vpravo věci, kde pravidlo napsat neumíme — jazyk, nejasné vstupy, význam.
POINTA: Nejde o to, co je modernější. Jde o to, jaký typ problému řešíme.
TECHNICKÁ POZNÁMKA: Jde o vhodné role, ne striktně oddělené typy softwaru. I klasifikátor může běžet deterministicky; determinismus ≠ správnost; model pracující s pravděpodobnostmi ≠ vždy losující program.
PŘECHOD: Ukážu na dvou příkladech.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ŘÍCT:
Datum narození — dosáhl 18 let? To jsou tři řádky kódu. Poslat to do LLM znamená: pomalejší, dražší, a občas špatně. Výstup navíc může kolísat; ani opakovatelný výstup ale nezaručuje správnost.
POINTA: Když umíš napsat pravidlo, napiš pravidlo.
VTIP / CALLBACK: Halucinující ověření věku. Přesně to, co chce slyšet compliance.
TECHNICKÁ POZNÁMKA: Kód potřebuje datum posouzení a definovaná kalendářní pravidla (29. 2. apod.). Ilustrace výpočtu, ne právní rozhodování.
PŘECHOD: A kde naopak LLM dává smysl?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ŘÍCT:
‚No paráda' — klíčové slovo říká pochvala, člověk okamžitě ví, že je to sarkastická stížnost. U rozmanitých zpráv rychle přibývají výjimky. Tady se vyplatí model vyzkoušet a změřit, jak dobře klasifikuje.
POINTA: LLM tam, kde pravidlo napsat neumíme.
TECHNICKÁ POZNÁMKA: LLM není jediný možný klasifikátor (menší specializovaný model může stačit). Výstup omezit na validovaný enum včetně možnosti ‚nejisté' s eskalací na člověka; výsledek je odhad, ne fakt.
PŘECHOD: Dejme to dohromady.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ŘÍCT:
LLM uprostřed tam, kde je potřeba pracovat s nejistotou: pochopit, co uživatel chce, rozhodnout, co zavolat, vygenerovat text. Kolem něj deterministický software: nástroje, data, pravidla. Model jen navrhuje volání. Software před akcí ověří oprávnění a argumenty a teprve pak tool spustí. A na výstupu deterministická validace — guardrails, které ověří, že výsledek má správný tvar a splňuje pravidla, než s ním něco uděláme. (V reálu je to smyčka: výsledek toolu jde zpátky do LLM.)
POINTA: Take the best of both worlds. Pravděpodobnost tam, kde je potřeba; jistota všude, kde jde.
TECHNICKÁ POZNÁMKA: Guardrails = schema validace, allow-listy akcí, oprávnění, limity, human-in-the-loop u nevratných akcí. Schema validace ověří tvar, ne pravdivost obsahu.
PŘECHOD: Takže… zničí nás Terminátoři?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ŘÍCT:
Slíbil jsem poctivou odpověď. Dnes jsme rozebrali výpočetní mechanismus. Samotným rozborem jsme ale nevyřešili otázku vědomí ani bezpečnosti. Ale to, že rozumíme mechanismu, neznamená, že systémy postavené nad LLM jsou automaticky bezpečné. Chyby, zneužití, špatně nastavená oprávnění agentů — to jsou reálná rizika. Prakticky můžeme hned řídit oprávnění, ověřování a lidský dohled.
POINTA: Nepanikařit neznamená nestarat se.
TECHNICKÁ POZNÁMKA: Nezlehčovat ani nepřehánět. Neříkat, že rizika jsou ‚hlavně v nasazení' — talk to nedokládá. Neimplikovat vyřešené dlouhodobé riziko ani jistotu o vědomí. Nedělat predikce o AGI. Pokud padne dotaz na dlouhodobá rizika: je to legitimní výzkumná a regulační oblast, dnešní přednáška ji neřeší.
PŘECHOD: Takže na závěr.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ŘÍCT:
LLM není magie. Je to velmi zvláštní a velmi silný software. Nenahrazujte jistotu pravděpodobností, pokud pravděpodobnost neřeší problém, který jistota neumí. Budoucnost není AI místo softwaru — je to deterministický software s probabilistickými schopnostmi. DON'T PANIC. Díky.
POINTA: Callback na začátek. Konec.
PŘECHOD: Resources +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0:00 (visí během Q&amp;A)
ŘÍCT:
Kdo si chce na krabičku sáhnout sám: Transformer Explainer běží v prohlížeči, všechno co jsme dnes rozebrali tam jde proklikat.
POINTA: Zdroje pro hlubší ponoření.
ZDROJ: Kompletní seznam se zdroji ke každému tvrzení: sources.md (S1–S12).
PŘECHOD: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A0B0D"/>
        </a:solidFill>
      </p:bgPr>
    </p:bg>
    <p:spTree>
      <p:nvGrpSpPr>
        <p:cNvPr id="1" name=""/>
        <p:cNvGrpSpPr/>
        <p:nvPr/>
      </p:nvGrpSpPr>
      <p:grpSpPr>
        <a:xfrm>
          <a:off x="0" y="0"/>
          <a:ext cx="0" cy="0"/>
          <a:chOff x="0" y="0"/>
          <a:chExt cx="0" cy="0"/>
        </a:xfrm>
      </p:grpSpPr>
      <p:sp>
        <p:nvSpPr>
          <p:cNvPr id="2" name="Shape 0"/>
          <p:cNvSpPr/>
          <p:nvPr/>
        </p:nvSpPr>
        <p:spPr>
          <a:xfrm>
            <a:off x="320040" y="320040"/>
            <a:ext cx="256032" cy="0"/>
          </a:xfrm>
          <a:prstGeom prst="line">
            <a:avLst/>
          </a:prstGeom>
          <a:noFill/>
          <a:ln w="12700">
            <a:solidFill>
              <a:srgbClr val="2E333B"/>
            </a:solidFill>
            <a:prstDash val="solid"/>
          </a:ln>
        </p:spPr>
      </p:sp>
      <p:sp>
        <p:nvSpPr>
          <p:cNvPr id="3" name="Shape 1"/>
          <p:cNvSpPr/>
          <p:nvPr/>
        </p:nvSpPr>
        <p:spPr>
          <a:xfrm>
            <a:off x="320040" y="320040"/>
            <a:ext cx="0" cy="256032"/>
          </a:xfrm>
          <a:prstGeom prst="line">
            <a:avLst/>
          </a:prstGeom>
          <a:noFill/>
          <a:ln w="12700">
            <a:solidFill>
              <a:srgbClr val="2E333B"/>
            </a:solidFill>
            <a:prstDash val="solid"/>
          </a:ln>
        </p:spPr>
      </p:sp>
      <p:sp>
        <p:nvSpPr>
          <p:cNvPr id="4" name="Shape 2"/>
          <p:cNvSpPr/>
          <p:nvPr/>
        </p:nvSpPr>
        <p:spPr>
          <a:xfrm>
            <a:off x="11615623" y="320040"/>
            <a:ext cx="256032" cy="0"/>
          </a:xfrm>
          <a:prstGeom prst="line">
            <a:avLst/>
          </a:prstGeom>
          <a:noFill/>
          <a:ln w="12700">
            <a:solidFill>
              <a:srgbClr val="2E333B"/>
            </a:solidFill>
            <a:prstDash val="solid"/>
          </a:ln>
        </p:spPr>
      </p:sp>
      <p:sp>
        <p:nvSpPr>
          <p:cNvPr id="5" name="Shape 3"/>
          <p:cNvSpPr/>
          <p:nvPr/>
        </p:nvSpPr>
        <p:spPr>
          <a:xfrm>
            <a:off x="11871655" y="320040"/>
            <a:ext cx="0" cy="256032"/>
          </a:xfrm>
          <a:prstGeom prst="line">
            <a:avLst/>
          </a:prstGeom>
          <a:noFill/>
          <a:ln w="12700">
            <a:solidFill>
              <a:srgbClr val="2E333B"/>
            </a:solidFill>
            <a:prstDash val="solid"/>
          </a:ln>
        </p:spPr>
      </p:sp>
      <p:sp>
        <p:nvSpPr>
          <p:cNvPr id="6" name="Shape 4"/>
          <p:cNvSpPr/>
          <p:nvPr/>
        </p:nvSpPr>
        <p:spPr>
          <a:xfrm>
            <a:off x="320040" y="6537960"/>
            <a:ext cx="256032" cy="0"/>
          </a:xfrm>
          <a:prstGeom prst="line">
            <a:avLst/>
          </a:prstGeom>
          <a:noFill/>
          <a:ln w="12700">
            <a:solidFill>
              <a:srgbClr val="2E333B"/>
            </a:solidFill>
            <a:prstDash val="solid"/>
          </a:ln>
        </p:spPr>
      </p:sp>
      <p:sp>
        <p:nvSpPr>
          <p:cNvPr id="7" name="Shape 5"/>
          <p:cNvSpPr/>
          <p:nvPr/>
        </p:nvSpPr>
        <p:spPr>
          <a:xfrm>
            <a:off x="320040" y="6281928"/>
            <a:ext cx="0" cy="256032"/>
          </a:xfrm>
          <a:prstGeom prst="line">
            <a:avLst/>
          </a:prstGeom>
          <a:noFill/>
          <a:ln w="12700">
            <a:solidFill>
              <a:srgbClr val="2E333B"/>
            </a:solidFill>
            <a:prstDash val="solid"/>
          </a:ln>
        </p:spPr>
      </p:sp>
      <p:sp>
        <p:nvSpPr>
          <p:cNvPr id="8" name="Shape 6"/>
          <p:cNvSpPr/>
          <p:nvPr/>
        </p:nvSpPr>
        <p:spPr>
          <a:xfrm>
            <a:off x="11615623" y="6537960"/>
            <a:ext cx="256032" cy="0"/>
          </a:xfrm>
          <a:prstGeom prst="line">
            <a:avLst/>
          </a:prstGeom>
          <a:noFill/>
          <a:ln w="12700">
            <a:solidFill>
              <a:srgbClr val="2E333B"/>
            </a:solidFill>
            <a:prstDash val="solid"/>
          </a:ln>
        </p:spPr>
      </p:sp>
      <p:sp>
        <p:nvSpPr>
          <p:cNvPr id="9" name="Shape 7"/>
          <p:cNvSpPr/>
          <p:nvPr/>
        </p:nvSpPr>
        <p:spPr>
          <a:xfrm>
            <a:off x="11871655" y="6281928"/>
            <a:ext cx="0" cy="256032"/>
          </a:xfrm>
          <a:prstGeom prst="line">
            <a:avLst/>
          </a:prstGeom>
          <a:noFill/>
          <a:ln w="12700">
            <a:solidFill>
              <a:srgbClr val="2E333B"/>
            </a:solidFill>
            <a:prstDash val="solid"/>
          </a:ln>
        </p:spPr>
      </p:sp>
      <p:sp>
        <p:nvSpPr>
          <p:cNvPr id="10" name="Text 8"/>
          <p:cNvSpPr/>
          <p:nvPr/>
        </p:nvSpPr>
        <p:spPr>
          <a:xfrm>
            <a:off x="685800" y="6291072"/>
            <a:ext cx="4572000" cy="274320"/>
          </a:xfrm>
          <a:prstGeom prst="rect">
            <a:avLst/>
          </a:prstGeom>
          <a:noFill/>
          <a:ln/>
        </p:spPr>
        <p:txBody>
          <a:bodyPr wrap="square" lIns="0" tIns="0" rIns="0" bIns="0" rtlCol="0" anchor="ctr"/>
          <a:lstStyle/>
          <a:p>
            <a:pPr indent="0" marL="0">
              <a:buNone/>
            </a:pPr>
            <a:r>
              <a:rPr lang="en-US" sz="900" dirty="0">
                <a:solidFill>
                  <a:srgbClr val="2E333B"/>
                </a:solidFill>
                <a:latin typeface="Courier New" pitchFamily="34" charset="0"/>
                <a:ea typeface="Courier New" pitchFamily="34" charset="-122"/>
                <a:cs typeface="Courier New" pitchFamily="34" charset="-120"/>
              </a:rPr>
              <a:t>STOPAŘŮV PRŮVODCE PO LLMs</a:t>
            </a:r>
            <a:endParaRPr lang="en-US" sz="900" dirty="0"/>
          </a:p>
        </p:txBody>
      </p:sp>
      <p:sp>
        <p:nvSpPr>
          <p:cNvPr id="11" name="Text 9"/>
          <p:cNvSpPr/>
          <p:nvPr>
            <p:ph idx="109" type="title" hasCustomPrompt="1"/>
          </p:nvPr>
        </p:nvSpPr>
        <p:spPr>
          <a:xfrm>
            <a:off x="685800" y="868680"/>
            <a:ext cx="10789920" cy="822960"/>
          </a:xfrm>
          <a:prstGeom prst="rect">
            <a:avLst/>
          </a:prstGeom>
          <a:noFill/>
          <a:ln/>
        </p:spPr>
        <p:txBody>
          <a:bodyPr wrap="square" rtlCol="0"/>
          <a:lstStyle>
            <a:lvl1pPr algn="l" indent="0" marL="0">
              <a:buNone/>
              <a:defRPr lang="en-US" sz="3600" b="1" dirty="0">
                <a:solidFill>
                  <a:srgbClr val="ECE9E2"/>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A0B0D"/>
        </a:solidFill>
      </p:bgPr>
    </p:bg>
    <p:spTree>
      <p:nvGrpSpPr>
        <p:cNvPr id="1" name=""/>
        <p:cNvGrpSpPr/>
        <p:nvPr/>
      </p:nvGrpSpPr>
      <p:grpSpPr>
        <a:xfrm>
          <a:off x="0" y="0"/>
          <a:ext cx="0" cy="0"/>
          <a:chOff x="0" y="0"/>
          <a:chExt cx="0" cy="0"/>
        </a:xfrm>
      </p:grpSpPr>
      <p:sp>
        <p:nvSpPr>
          <p:cNvPr id="2" name="Shape 0"/>
          <p:cNvSpPr/>
          <p:nvPr/>
        </p:nvSpPr>
        <p:spPr>
          <a:xfrm>
            <a:off x="320040" y="320040"/>
            <a:ext cx="256032" cy="0"/>
          </a:xfrm>
          <a:prstGeom prst="line">
            <a:avLst/>
          </a:prstGeom>
          <a:noFill/>
          <a:ln w="12700">
            <a:solidFill>
              <a:srgbClr val="2E333B"/>
            </a:solidFill>
            <a:prstDash val="solid"/>
          </a:ln>
        </p:spPr>
      </p:sp>
      <p:sp>
        <p:nvSpPr>
          <p:cNvPr id="3" name="Shape 1"/>
          <p:cNvSpPr/>
          <p:nvPr/>
        </p:nvSpPr>
        <p:spPr>
          <a:xfrm>
            <a:off x="320040" y="320040"/>
            <a:ext cx="0" cy="256032"/>
          </a:xfrm>
          <a:prstGeom prst="line">
            <a:avLst/>
          </a:prstGeom>
          <a:noFill/>
          <a:ln w="12700">
            <a:solidFill>
              <a:srgbClr val="2E333B"/>
            </a:solidFill>
            <a:prstDash val="solid"/>
          </a:ln>
        </p:spPr>
      </p:sp>
      <p:sp>
        <p:nvSpPr>
          <p:cNvPr id="4" name="Shape 2"/>
          <p:cNvSpPr/>
          <p:nvPr/>
        </p:nvSpPr>
        <p:spPr>
          <a:xfrm>
            <a:off x="11615623" y="320040"/>
            <a:ext cx="256032" cy="0"/>
          </a:xfrm>
          <a:prstGeom prst="line">
            <a:avLst/>
          </a:prstGeom>
          <a:noFill/>
          <a:ln w="12700">
            <a:solidFill>
              <a:srgbClr val="2E333B"/>
            </a:solidFill>
            <a:prstDash val="solid"/>
          </a:ln>
        </p:spPr>
      </p:sp>
      <p:sp>
        <p:nvSpPr>
          <p:cNvPr id="5" name="Shape 3"/>
          <p:cNvSpPr/>
          <p:nvPr/>
        </p:nvSpPr>
        <p:spPr>
          <a:xfrm>
            <a:off x="11871655" y="320040"/>
            <a:ext cx="0" cy="256032"/>
          </a:xfrm>
          <a:prstGeom prst="line">
            <a:avLst/>
          </a:prstGeom>
          <a:noFill/>
          <a:ln w="12700">
            <a:solidFill>
              <a:srgbClr val="2E333B"/>
            </a:solidFill>
            <a:prstDash val="solid"/>
          </a:ln>
        </p:spPr>
      </p:sp>
      <p:sp>
        <p:nvSpPr>
          <p:cNvPr id="6" name="Shape 4"/>
          <p:cNvSpPr/>
          <p:nvPr/>
        </p:nvSpPr>
        <p:spPr>
          <a:xfrm>
            <a:off x="320040" y="6537960"/>
            <a:ext cx="256032" cy="0"/>
          </a:xfrm>
          <a:prstGeom prst="line">
            <a:avLst/>
          </a:prstGeom>
          <a:noFill/>
          <a:ln w="12700">
            <a:solidFill>
              <a:srgbClr val="2E333B"/>
            </a:solidFill>
            <a:prstDash val="solid"/>
          </a:ln>
        </p:spPr>
      </p:sp>
      <p:sp>
        <p:nvSpPr>
          <p:cNvPr id="7" name="Shape 5"/>
          <p:cNvSpPr/>
          <p:nvPr/>
        </p:nvSpPr>
        <p:spPr>
          <a:xfrm>
            <a:off x="320040" y="6281928"/>
            <a:ext cx="0" cy="256032"/>
          </a:xfrm>
          <a:prstGeom prst="line">
            <a:avLst/>
          </a:prstGeom>
          <a:noFill/>
          <a:ln w="12700">
            <a:solidFill>
              <a:srgbClr val="2E333B"/>
            </a:solidFill>
            <a:prstDash val="solid"/>
          </a:ln>
        </p:spPr>
      </p:sp>
      <p:sp>
        <p:nvSpPr>
          <p:cNvPr id="8" name="Shape 6"/>
          <p:cNvSpPr/>
          <p:nvPr/>
        </p:nvSpPr>
        <p:spPr>
          <a:xfrm>
            <a:off x="11615623" y="6537960"/>
            <a:ext cx="256032" cy="0"/>
          </a:xfrm>
          <a:prstGeom prst="line">
            <a:avLst/>
          </a:prstGeom>
          <a:noFill/>
          <a:ln w="12700">
            <a:solidFill>
              <a:srgbClr val="2E333B"/>
            </a:solidFill>
            <a:prstDash val="solid"/>
          </a:ln>
        </p:spPr>
      </p:sp>
      <p:sp>
        <p:nvSpPr>
          <p:cNvPr id="9" name="Shape 7"/>
          <p:cNvSpPr/>
          <p:nvPr/>
        </p:nvSpPr>
        <p:spPr>
          <a:xfrm>
            <a:off x="11871655" y="6281928"/>
            <a:ext cx="0" cy="256032"/>
          </a:xfrm>
          <a:prstGeom prst="line">
            <a:avLst/>
          </a:prstGeom>
          <a:noFill/>
          <a:ln w="12700">
            <a:solidFill>
              <a:srgbClr val="2E333B"/>
            </a:solidFill>
            <a:prstDash val="solid"/>
          </a:ln>
        </p:spPr>
      </p:sp>
      <p:sp>
        <p:nvSpPr>
          <p:cNvPr id="10" name="Text 8"/>
          <p:cNvSpPr/>
          <p:nvPr/>
        </p:nvSpPr>
        <p:spPr>
          <a:xfrm>
            <a:off x="685800" y="6291072"/>
            <a:ext cx="4572000" cy="274320"/>
          </a:xfrm>
          <a:prstGeom prst="rect">
            <a:avLst/>
          </a:prstGeom>
          <a:noFill/>
          <a:ln/>
        </p:spPr>
        <p:txBody>
          <a:bodyPr wrap="square" lIns="0" tIns="0" rIns="0" bIns="0" rtlCol="0" anchor="ctr"/>
          <a:lstStyle/>
          <a:p>
            <a:pPr indent="0" marL="0">
              <a:buNone/>
            </a:pPr>
            <a:r>
              <a:rPr lang="en-US" sz="900" dirty="0">
                <a:solidFill>
                  <a:srgbClr val="2E333B"/>
                </a:solidFill>
                <a:latin typeface="Courier New" pitchFamily="34" charset="0"/>
                <a:ea typeface="Courier New" pitchFamily="34" charset="-122"/>
                <a:cs typeface="Courier New" pitchFamily="34" charset="-120"/>
              </a:rPr>
              <a:t>STOPAŘŮV PRŮVODCE PO LLMs</a:t>
            </a:r>
            <a:endParaRPr lang="en-US" sz="9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hyperlink" Target="https://poloclub.github.io/transformer-explainer/" TargetMode="External"/><Relationship Id="rId3" Type="http://schemas.openxmlformats.org/officeDocument/2006/relationships/hyperlink" Target="https://arxiv.org/abs/1706.03762" TargetMode="External"/><Relationship Id="rId4" Type="http://schemas.openxmlformats.org/officeDocument/2006/relationships/hyperlink" Target="https://arxiv.org/abs/2203.02155" TargetMode="External"/><Relationship Id="rId5" Type="http://schemas.openxmlformats.org/officeDocument/2006/relationships/hyperlink" Target="https://arxiv.org/abs/2005.11401" TargetMode="External"/><Relationship Id="rId1" Type="http://schemas.openxmlformats.org/officeDocument/2006/relationships/image" Target="../media/image-28-1.png"/><Relationship Id="rId6" Type="http://schemas.openxmlformats.org/officeDocument/2006/relationships/slideLayout" Target="../slideLayouts/slideLayout2.xml"/><Relationship Id="rId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457200"/>
            <a:ext cx="9144000" cy="365760"/>
          </a:xfrm>
          <a:prstGeom prst="rect">
            <a:avLst/>
          </a:prstGeom>
          <a:noFill/>
          <a:ln/>
        </p:spPr>
        <p:txBody>
          <a:bodyPr wrap="square" lIns="0" tIns="0" rIns="0" bIns="0" rtlCol="0" anchor="t"/>
          <a:lstStyle/>
          <a:p>
            <a:pPr indent="0" marL="0">
              <a:buNone/>
            </a:pPr>
            <a:r>
              <a:rPr lang="en-US" sz="1600" spc="300" kern="0" dirty="0">
                <a:solidFill>
                  <a:srgbClr val="FF9F1C"/>
                </a:solidFill>
                <a:latin typeface="Courier New" pitchFamily="34" charset="0"/>
                <a:ea typeface="Courier New" pitchFamily="34" charset="-122"/>
                <a:cs typeface="Courier New" pitchFamily="34" charset="-120"/>
              </a:rPr>
              <a:t>STOPAŘŮV PRŮVODCE PO LLMs</a:t>
            </a:r>
            <a:endParaRPr lang="en-US" sz="1600" dirty="0"/>
          </a:p>
        </p:txBody>
      </p:sp>
      <p:sp>
        <p:nvSpPr>
          <p:cNvPr id="3" name="Text 1"/>
          <p:cNvSpPr txBox="1"/>
          <p:nvPr/>
        </p:nvSpPr>
        <p:spPr>
          <a:xfrm>
            <a:off x="548640" y="2011680"/>
            <a:ext cx="11155680" cy="2011680"/>
          </a:xfrm>
          <a:prstGeom prst="rect">
            <a:avLst/>
          </a:prstGeom>
          <a:noFill/>
          <a:ln/>
        </p:spPr>
        <p:txBody>
          <a:bodyPr wrap="square" lIns="0" tIns="0" rIns="0" bIns="0" rtlCol="0" anchor="ctr"/>
          <a:lstStyle/>
          <a:p>
            <a:pPr indent="0" marL="0">
              <a:buNone/>
            </a:pPr>
            <a:r>
              <a:rPr lang="en-US" sz="12000" b="1" dirty="0">
                <a:solidFill>
                  <a:srgbClr val="ECE9E2"/>
                </a:solidFill>
                <a:latin typeface="Arial" pitchFamily="34" charset="0"/>
                <a:ea typeface="Arial" pitchFamily="34" charset="-122"/>
                <a:cs typeface="Arial" pitchFamily="34" charset="-120"/>
              </a:rPr>
              <a:t>DON'T PANIC</a:t>
            </a:r>
            <a:endParaRPr lang="en-US" sz="120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800" dirty="0">
                <a:solidFill>
                  <a:srgbClr val="8A8F98"/>
                </a:solidFill>
                <a:latin typeface="Arial" pitchFamily="34" charset="0"/>
                <a:ea typeface="Arial" pitchFamily="34" charset="-122"/>
                <a:cs typeface="Arial" pitchFamily="34" charset="-120"/>
              </a:rPr>
              <a:t>aneb zničí nás Terminátoři?</a:t>
            </a:r>
            <a:endParaRPr lang="en-US" sz="2800" dirty="0"/>
          </a:p>
        </p:txBody>
      </p:sp>
      <p:sp>
        <p:nvSpPr>
          <p:cNvPr id="5" name="Text 3"/>
          <p:cNvSpPr txBox="1"/>
          <p:nvPr/>
        </p:nvSpPr>
        <p:spPr>
          <a:xfrm>
            <a:off x="685800" y="5120640"/>
            <a:ext cx="5486400" cy="365760"/>
          </a:xfrm>
          <a:prstGeom prst="rect">
            <a:avLst/>
          </a:prstGeom>
          <a:noFill/>
          <a:ln/>
        </p:spPr>
        <p:txBody>
          <a:bodyPr wrap="square" lIns="0" tIns="0" rIns="0" bIns="0" rtlCol="0" anchor="t"/>
          <a:lstStyle/>
          <a:p>
            <a:pPr indent="0" marL="0">
              <a:buNone/>
            </a:pPr>
            <a:r>
              <a:rPr lang="en-US" sz="1400" dirty="0">
                <a:solidFill>
                  <a:srgbClr val="8A8F98"/>
                </a:solidFill>
                <a:latin typeface="Courier New" pitchFamily="34" charset="0"/>
                <a:ea typeface="Courier New" pitchFamily="34" charset="-122"/>
                <a:cs typeface="Courier New" pitchFamily="34" charset="-120"/>
              </a:rPr>
              <a:t>AI Monday · 5. 10. 2026</a:t>
            </a:r>
            <a:endParaRPr lang="en-US" sz="14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00 · OTÁZKY</a:t>
            </a:r>
            <a:endParaRPr lang="en-US" sz="1200" dirty="0"/>
          </a:p>
        </p:txBody>
      </p:sp>
      <p:sp>
        <p:nvSpPr>
          <p:cNvPr id="3" name="Text 1"/>
          <p:cNvSpPr txBox="1"/>
          <p:nvPr/>
        </p:nvSpPr>
        <p:spPr>
          <a:xfrm>
            <a:off x="685800" y="1188720"/>
            <a:ext cx="7315200" cy="640080"/>
          </a:xfrm>
          <a:prstGeom prst="rect">
            <a:avLst/>
          </a:prstGeom>
          <a:noFill/>
          <a:ln/>
        </p:spPr>
        <p:txBody>
          <a:bodyPr wrap="square" lIns="0" tIns="0" rIns="0" bIns="0" rtlCol="0" anchor="t"/>
          <a:lstStyle/>
          <a:p>
            <a:pPr indent="0" marL="0">
              <a:buNone/>
            </a:pPr>
            <a:r>
              <a:rPr lang="en-US" sz="4000" b="1" dirty="0">
                <a:solidFill>
                  <a:srgbClr val="ECE9E2"/>
                </a:solidFill>
                <a:latin typeface="Arial" pitchFamily="34" charset="0"/>
                <a:ea typeface="Arial" pitchFamily="34" charset="-122"/>
                <a:cs typeface="Arial" pitchFamily="34" charset="-120"/>
              </a:rPr>
              <a:t>Zničí nás AI?</a:t>
            </a:r>
            <a:endParaRPr lang="en-US" sz="4000" dirty="0"/>
          </a:p>
        </p:txBody>
      </p:sp>
      <p:sp>
        <p:nvSpPr>
          <p:cNvPr id="4" name="Text 2"/>
          <p:cNvSpPr txBox="1"/>
          <p:nvPr/>
        </p:nvSpPr>
        <p:spPr>
          <a:xfrm>
            <a:off x="685800" y="1965960"/>
            <a:ext cx="7315200" cy="640080"/>
          </a:xfrm>
          <a:prstGeom prst="rect">
            <a:avLst/>
          </a:prstGeom>
          <a:noFill/>
          <a:ln/>
        </p:spPr>
        <p:txBody>
          <a:bodyPr wrap="square" lIns="0" tIns="0" rIns="0" bIns="0" rtlCol="0" anchor="t"/>
          <a:lstStyle/>
          <a:p>
            <a:pPr indent="0" marL="0">
              <a:buNone/>
            </a:pPr>
            <a:r>
              <a:rPr lang="en-US" sz="4000" b="1" dirty="0">
                <a:solidFill>
                  <a:srgbClr val="8A8F98"/>
                </a:solidFill>
                <a:latin typeface="Arial" pitchFamily="34" charset="0"/>
                <a:ea typeface="Arial" pitchFamily="34" charset="-122"/>
                <a:cs typeface="Arial" pitchFamily="34" charset="-120"/>
              </a:rPr>
              <a:t>Vezme nám práci?</a:t>
            </a:r>
            <a:endParaRPr lang="en-US" sz="4000" dirty="0"/>
          </a:p>
        </p:txBody>
      </p:sp>
      <p:sp>
        <p:nvSpPr>
          <p:cNvPr id="5" name="Text 3"/>
          <p:cNvSpPr txBox="1"/>
          <p:nvPr/>
        </p:nvSpPr>
        <p:spPr>
          <a:xfrm>
            <a:off x="685800" y="2743200"/>
            <a:ext cx="7315200" cy="640080"/>
          </a:xfrm>
          <a:prstGeom prst="rect">
            <a:avLst/>
          </a:prstGeom>
          <a:noFill/>
          <a:ln/>
        </p:spPr>
        <p:txBody>
          <a:bodyPr wrap="square" lIns="0" tIns="0" rIns="0" bIns="0" rtlCol="0" anchor="t"/>
          <a:lstStyle/>
          <a:p>
            <a:pPr indent="0" marL="0">
              <a:buNone/>
            </a:pPr>
            <a:r>
              <a:rPr lang="en-US" sz="4000" b="1" dirty="0">
                <a:solidFill>
                  <a:srgbClr val="8A8F98"/>
                </a:solidFill>
                <a:latin typeface="Arial" pitchFamily="34" charset="0"/>
                <a:ea typeface="Arial" pitchFamily="34" charset="-122"/>
                <a:cs typeface="Arial" pitchFamily="34" charset="-120"/>
              </a:rPr>
              <a:t>Myslí?</a:t>
            </a:r>
            <a:endParaRPr lang="en-US" sz="4000" dirty="0"/>
          </a:p>
        </p:txBody>
      </p:sp>
      <p:sp>
        <p:nvSpPr>
          <p:cNvPr id="6" name="Text 4"/>
          <p:cNvSpPr txBox="1"/>
          <p:nvPr/>
        </p:nvSpPr>
        <p:spPr>
          <a:xfrm>
            <a:off x="685800" y="3520440"/>
            <a:ext cx="7315200" cy="640080"/>
          </a:xfrm>
          <a:prstGeom prst="rect">
            <a:avLst/>
          </a:prstGeom>
          <a:noFill/>
          <a:ln/>
        </p:spPr>
        <p:txBody>
          <a:bodyPr wrap="square" lIns="0" tIns="0" rIns="0" bIns="0" rtlCol="0" anchor="t"/>
          <a:lstStyle/>
          <a:p>
            <a:pPr indent="0" marL="0">
              <a:buNone/>
            </a:pPr>
            <a:r>
              <a:rPr lang="en-US" sz="4000" b="1" dirty="0">
                <a:solidFill>
                  <a:srgbClr val="8A8F98"/>
                </a:solidFill>
                <a:latin typeface="Arial" pitchFamily="34" charset="0"/>
                <a:ea typeface="Arial" pitchFamily="34" charset="-122"/>
                <a:cs typeface="Arial" pitchFamily="34" charset="-120"/>
              </a:rPr>
              <a:t>Ví, co říká?</a:t>
            </a:r>
            <a:endParaRPr lang="en-US" sz="4000" dirty="0"/>
          </a:p>
        </p:txBody>
      </p:sp>
      <p:sp>
        <p:nvSpPr>
          <p:cNvPr id="7" name="Text 5"/>
          <p:cNvSpPr txBox="1"/>
          <p:nvPr/>
        </p:nvSpPr>
        <p:spPr>
          <a:xfrm>
            <a:off x="685800" y="4572000"/>
            <a:ext cx="10058400" cy="548640"/>
          </a:xfrm>
          <a:prstGeom prst="rect">
            <a:avLst/>
          </a:prstGeom>
          <a:noFill/>
          <a:ln/>
        </p:spPr>
        <p:txBody>
          <a:bodyPr wrap="square" lIns="0" tIns="0" rIns="0" bIns="0" rtlCol="0" anchor="t"/>
          <a:lstStyle/>
          <a:p>
            <a:pPr indent="0" marL="0">
              <a:buNone/>
            </a:pPr>
            <a:r>
              <a:rPr lang="en-US" sz="2600" dirty="0">
                <a:solidFill>
                  <a:srgbClr val="ECE9E2"/>
                </a:solidFill>
                <a:latin typeface="Arial" pitchFamily="34" charset="0"/>
                <a:ea typeface="Arial" pitchFamily="34" charset="-122"/>
                <a:cs typeface="Arial" pitchFamily="34" charset="-120"/>
              </a:rPr>
              <a:t>Nejvíc se bojíme toho, čemu nerozumíme.</a:t>
            </a:r>
            <a:endParaRPr lang="en-US" sz="2600" dirty="0"/>
          </a:p>
        </p:txBody>
      </p:sp>
      <p:sp>
        <p:nvSpPr>
          <p:cNvPr id="8" name="Text 6"/>
          <p:cNvSpPr txBox="1"/>
          <p:nvPr/>
        </p:nvSpPr>
        <p:spPr>
          <a:xfrm>
            <a:off x="685800" y="5120640"/>
            <a:ext cx="10058400" cy="548640"/>
          </a:xfrm>
          <a:prstGeom prst="rect">
            <a:avLst/>
          </a:prstGeom>
          <a:noFill/>
          <a:ln/>
        </p:spPr>
        <p:txBody>
          <a:bodyPr wrap="square" lIns="0" tIns="0" rIns="0" bIns="0" rtlCol="0" anchor="t"/>
          <a:lstStyle/>
          <a:p>
            <a:pPr indent="0" marL="0">
              <a:buNone/>
            </a:pPr>
            <a:r>
              <a:rPr lang="en-US" sz="2600" b="1" dirty="0">
                <a:solidFill>
                  <a:srgbClr val="FF9F1C"/>
                </a:solidFill>
                <a:latin typeface="Arial" pitchFamily="34" charset="0"/>
                <a:ea typeface="Arial" pitchFamily="34" charset="-122"/>
                <a:cs typeface="Arial" pitchFamily="34" charset="-120"/>
              </a:rPr>
              <a:t>Tak to pojďme rozebrat.</a:t>
            </a:r>
            <a:endParaRPr lang="en-US" sz="26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01 · ŠROUBOVÁK</a:t>
            </a:r>
            <a:endParaRPr lang="en-US" sz="1200" dirty="0"/>
          </a:p>
        </p:txBody>
      </p:sp>
      <p:sp>
        <p:nvSpPr>
          <p:cNvPr id="3" name="Shape 1"/>
          <p:cNvSpPr/>
          <p:nvPr/>
        </p:nvSpPr>
        <p:spPr>
          <a:xfrm>
            <a:off x="914400" y="3566160"/>
            <a:ext cx="2377440" cy="0"/>
          </a:xfrm>
          <a:prstGeom prst="line">
            <a:avLst/>
          </a:prstGeom>
          <a:noFill/>
          <a:ln w="19050">
            <a:solidFill>
              <a:srgbClr val="ECE9E2"/>
            </a:solidFill>
            <a:prstDash val="solid"/>
            <a:tailEnd type="triangle"/>
          </a:ln>
        </p:spPr>
      </p:sp>
      <p:sp>
        <p:nvSpPr>
          <p:cNvPr id="4" name="Text 2"/>
          <p:cNvSpPr txBox="1"/>
          <p:nvPr/>
        </p:nvSpPr>
        <p:spPr>
          <a:xfrm>
            <a:off x="914400" y="3063240"/>
            <a:ext cx="2011680" cy="365760"/>
          </a:xfrm>
          <a:prstGeom prst="rect">
            <a:avLst/>
          </a:prstGeom>
          <a:noFill/>
          <a:ln/>
        </p:spPr>
        <p:txBody>
          <a:bodyPr wrap="square" lIns="0" tIns="0" rIns="0" bIns="0" rtlCol="0" anchor="t"/>
          <a:lstStyle/>
          <a:p>
            <a:pPr indent="0" marL="0">
              <a:buNone/>
            </a:pPr>
            <a:r>
              <a:rPr lang="en-US" sz="1800" dirty="0">
                <a:solidFill>
                  <a:srgbClr val="8A8F98"/>
                </a:solidFill>
                <a:latin typeface="Courier New" pitchFamily="34" charset="0"/>
                <a:ea typeface="Courier New" pitchFamily="34" charset="-122"/>
                <a:cs typeface="Courier New" pitchFamily="34" charset="-120"/>
              </a:rPr>
              <a:t>prompt</a:t>
            </a:r>
            <a:endParaRPr lang="en-US" sz="1800" dirty="0"/>
          </a:p>
        </p:txBody>
      </p:sp>
      <p:sp>
        <p:nvSpPr>
          <p:cNvPr id="5" name="Shape 3"/>
          <p:cNvSpPr/>
          <p:nvPr/>
        </p:nvSpPr>
        <p:spPr>
          <a:xfrm>
            <a:off x="3383280" y="2651760"/>
            <a:ext cx="3840480" cy="1828800"/>
          </a:xfrm>
          <a:prstGeom prst="rect">
            <a:avLst/>
          </a:prstGeom>
          <a:solidFill>
            <a:srgbClr val="000000"/>
          </a:solidFill>
          <a:ln w="25400">
            <a:solidFill>
              <a:srgbClr val="ECE9E2"/>
            </a:solidFill>
            <a:prstDash val="solid"/>
          </a:ln>
        </p:spPr>
      </p:sp>
      <p:sp>
        <p:nvSpPr>
          <p:cNvPr id="6" name="Shape 4"/>
          <p:cNvSpPr/>
          <p:nvPr/>
        </p:nvSpPr>
        <p:spPr>
          <a:xfrm rot="-540000">
            <a:off x="3474720" y="2057400"/>
            <a:ext cx="3840480" cy="256032"/>
          </a:xfrm>
          <a:prstGeom prst="rect">
            <a:avLst/>
          </a:prstGeom>
          <a:solidFill>
            <a:srgbClr val="000000"/>
          </a:solidFill>
          <a:ln w="25400">
            <a:solidFill>
              <a:srgbClr val="ECE9E2"/>
            </a:solidFill>
            <a:prstDash val="solid"/>
          </a:ln>
        </p:spPr>
      </p:sp>
      <p:sp>
        <p:nvSpPr>
          <p:cNvPr id="7" name="Text 5"/>
          <p:cNvSpPr txBox="1"/>
          <p:nvPr/>
        </p:nvSpPr>
        <p:spPr>
          <a:xfrm>
            <a:off x="3383280" y="3154680"/>
            <a:ext cx="3840480" cy="822960"/>
          </a:xfrm>
          <a:prstGeom prst="rect">
            <a:avLst/>
          </a:prstGeom>
          <a:noFill/>
          <a:ln/>
        </p:spPr>
        <p:txBody>
          <a:bodyPr wrap="square" lIns="0" tIns="0" rIns="0" bIns="0" rtlCol="0" anchor="ctr"/>
          <a:lstStyle/>
          <a:p>
            <a:pPr algn="ctr" indent="0" marL="0">
              <a:buNone/>
            </a:pPr>
            <a:r>
              <a:rPr lang="en-US" sz="4000" b="1" dirty="0">
                <a:solidFill>
                  <a:srgbClr val="ECE9E2"/>
                </a:solidFill>
                <a:latin typeface="Courier New" pitchFamily="34" charset="0"/>
                <a:ea typeface="Courier New" pitchFamily="34" charset="-122"/>
                <a:cs typeface="Courier New" pitchFamily="34" charset="-120"/>
              </a:rPr>
              <a:t>LLM</a:t>
            </a:r>
            <a:endParaRPr lang="en-US" sz="4000" dirty="0"/>
          </a:p>
        </p:txBody>
      </p:sp>
      <p:sp>
        <p:nvSpPr>
          <p:cNvPr id="8" name="Shape 6"/>
          <p:cNvSpPr/>
          <p:nvPr/>
        </p:nvSpPr>
        <p:spPr>
          <a:xfrm>
            <a:off x="7315200" y="3566160"/>
            <a:ext cx="2377440" cy="0"/>
          </a:xfrm>
          <a:prstGeom prst="line">
            <a:avLst/>
          </a:prstGeom>
          <a:noFill/>
          <a:ln w="19050">
            <a:solidFill>
              <a:srgbClr val="ECE9E2"/>
            </a:solidFill>
            <a:prstDash val="solid"/>
            <a:tailEnd type="triangle"/>
          </a:ln>
        </p:spPr>
      </p:sp>
      <p:sp>
        <p:nvSpPr>
          <p:cNvPr id="9" name="Text 7"/>
          <p:cNvSpPr txBox="1"/>
          <p:nvPr/>
        </p:nvSpPr>
        <p:spPr>
          <a:xfrm>
            <a:off x="7680960" y="3063240"/>
            <a:ext cx="2011680" cy="365760"/>
          </a:xfrm>
          <a:prstGeom prst="rect">
            <a:avLst/>
          </a:prstGeom>
          <a:noFill/>
          <a:ln/>
        </p:spPr>
        <p:txBody>
          <a:bodyPr wrap="square" lIns="0" tIns="0" rIns="0" bIns="0" rtlCol="0" anchor="t"/>
          <a:lstStyle/>
          <a:p>
            <a:pPr indent="0" marL="0">
              <a:buNone/>
            </a:pPr>
            <a:r>
              <a:rPr lang="en-US" sz="1800" dirty="0">
                <a:solidFill>
                  <a:srgbClr val="8A8F98"/>
                </a:solidFill>
                <a:latin typeface="Courier New" pitchFamily="34" charset="0"/>
                <a:ea typeface="Courier New" pitchFamily="34" charset="-122"/>
                <a:cs typeface="Courier New" pitchFamily="34" charset="-120"/>
              </a:rPr>
              <a:t>answer</a:t>
            </a:r>
            <a:endParaRPr lang="en-US" sz="1800" dirty="0"/>
          </a:p>
        </p:txBody>
      </p:sp>
      <p:sp>
        <p:nvSpPr>
          <p:cNvPr id="10" name="Shape 8"/>
          <p:cNvSpPr/>
          <p:nvPr/>
        </p:nvSpPr>
        <p:spPr>
          <a:xfrm flipH="1">
            <a:off x="7589520" y="1234440"/>
            <a:ext cx="1463040" cy="914400"/>
          </a:xfrm>
          <a:prstGeom prst="line">
            <a:avLst/>
          </a:prstGeom>
          <a:noFill/>
          <a:ln w="50800">
            <a:solidFill>
              <a:srgbClr val="ECE9E2"/>
            </a:solidFill>
            <a:prstDash val="solid"/>
          </a:ln>
        </p:spPr>
      </p:sp>
      <p:sp>
        <p:nvSpPr>
          <p:cNvPr id="11" name="Shape 9"/>
          <p:cNvSpPr/>
          <p:nvPr/>
        </p:nvSpPr>
        <p:spPr>
          <a:xfrm rot="-1920000">
            <a:off x="8915400" y="777240"/>
            <a:ext cx="1371600" cy="384048"/>
          </a:xfrm>
          <a:prstGeom prst="roundRect">
            <a:avLst>
              <a:gd name="adj" fmla="val 28571"/>
            </a:avLst>
          </a:prstGeom>
          <a:solidFill>
            <a:srgbClr val="FF9F1C"/>
          </a:solidFill>
          <a:ln/>
        </p:spPr>
      </p:sp>
      <p:sp>
        <p:nvSpPr>
          <p:cNvPr id="12" name="Text 10"/>
          <p:cNvSpPr txBox="1"/>
          <p:nvPr/>
        </p:nvSpPr>
        <p:spPr>
          <a:xfrm>
            <a:off x="685800" y="5212080"/>
            <a:ext cx="10058400" cy="457200"/>
          </a:xfrm>
          <a:prstGeom prst="rect">
            <a:avLst/>
          </a:prstGeom>
          <a:noFill/>
          <a:ln/>
        </p:spPr>
        <p:txBody>
          <a:bodyPr wrap="square" lIns="0" tIns="0" rIns="0" bIns="0" rtlCol="0" anchor="t"/>
          <a:lstStyle/>
          <a:p>
            <a:pPr indent="0" marL="0">
              <a:buNone/>
            </a:pPr>
            <a:r>
              <a:rPr lang="en-US" sz="2200" i="1" dirty="0">
                <a:solidFill>
                  <a:srgbClr val="8A8F98"/>
                </a:solidFill>
                <a:latin typeface="Arial" pitchFamily="34" charset="0"/>
                <a:ea typeface="Arial" pitchFamily="34" charset="-122"/>
                <a:cs typeface="Arial" pitchFamily="34" charset="-120"/>
              </a:rPr>
              <a:t>Většina věcí po mně už nikdy nefungovala.</a:t>
            </a:r>
            <a:endParaRPr lang="en-US" sz="2200" dirty="0"/>
          </a:p>
        </p:txBody>
      </p:sp>
      <p:sp>
        <p:nvSpPr>
          <p:cNvPr id="13" name="Text 11"/>
          <p:cNvSpPr txBox="1"/>
          <p:nvPr/>
        </p:nvSpPr>
        <p:spPr>
          <a:xfrm>
            <a:off x="685800" y="5623560"/>
            <a:ext cx="10058400" cy="457200"/>
          </a:xfrm>
          <a:prstGeom prst="rect">
            <a:avLst/>
          </a:prstGeom>
          <a:noFill/>
          <a:ln/>
        </p:spPr>
        <p:txBody>
          <a:bodyPr wrap="square" lIns="0" tIns="0" rIns="0" bIns="0" rtlCol="0" anchor="t"/>
          <a:lstStyle/>
          <a:p>
            <a:pPr indent="0" marL="0">
              <a:buNone/>
            </a:pPr>
            <a:r>
              <a:rPr lang="en-US" sz="2200" dirty="0">
                <a:solidFill>
                  <a:srgbClr val="ECE9E2"/>
                </a:solidFill>
                <a:latin typeface="Arial" pitchFamily="34" charset="0"/>
                <a:ea typeface="Arial" pitchFamily="34" charset="-122"/>
                <a:cs typeface="Arial" pitchFamily="34" charset="-120"/>
              </a:rPr>
              <a:t>Ale vždycky jsem se něco naučil.</a:t>
            </a:r>
            <a:endParaRPr lang="en-US" sz="22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02 · HRA</a:t>
            </a:r>
            <a:endParaRPr lang="en-US" sz="1200" dirty="0"/>
          </a:p>
        </p:txBody>
      </p:sp>
      <p:sp>
        <p:nvSpPr>
          <p:cNvPr id="3" name="Text 1"/>
          <p:cNvSpPr txBox="1"/>
          <p:nvPr/>
        </p:nvSpPr>
        <p:spPr>
          <a:xfrm>
            <a:off x="685800" y="2194560"/>
            <a:ext cx="10972800" cy="1828800"/>
          </a:xfrm>
          <a:prstGeom prst="rect">
            <a:avLst/>
          </a:prstGeom>
          <a:noFill/>
          <a:ln/>
        </p:spPr>
        <p:txBody>
          <a:bodyPr wrap="square" lIns="0" tIns="0" rIns="0" bIns="0" rtlCol="0" anchor="ctr"/>
          <a:lstStyle/>
          <a:p>
            <a:pPr indent="0" marL="0">
              <a:buNone/>
            </a:pPr>
            <a:r>
              <a:rPr lang="en-US" sz="8800" b="1" dirty="0">
                <a:solidFill>
                  <a:srgbClr val="ECE9E2"/>
                </a:solidFill>
                <a:latin typeface="Arial" pitchFamily="34" charset="0"/>
                <a:ea typeface="Arial" pitchFamily="34" charset="-122"/>
                <a:cs typeface="Arial" pitchFamily="34" charset="-120"/>
              </a:rPr>
              <a:t>Kočka sedí na …</a:t>
            </a:r>
            <a:endParaRPr lang="en-US" sz="88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02 · HRA</a:t>
            </a:r>
            <a:endParaRPr lang="en-US" sz="1200" dirty="0"/>
          </a:p>
        </p:txBody>
      </p:sp>
      <p:sp>
        <p:nvSpPr>
          <p:cNvPr id="3" name="Text 1"/>
          <p:cNvSpPr txBox="1"/>
          <p:nvPr/>
        </p:nvSpPr>
        <p:spPr>
          <a:xfrm>
            <a:off x="685800" y="1097280"/>
            <a:ext cx="10972800" cy="1097280"/>
          </a:xfrm>
          <a:prstGeom prst="rect">
            <a:avLst/>
          </a:prstGeom>
          <a:noFill/>
          <a:ln/>
        </p:spPr>
        <p:txBody>
          <a:bodyPr wrap="square" lIns="0" tIns="0" rIns="0" bIns="0" rtlCol="0" anchor="t"/>
          <a:lstStyle/>
          <a:p>
            <a:pPr indent="0" marL="0">
              <a:buNone/>
            </a:pPr>
            <a:r>
              <a:rPr lang="en-US" sz="5400" b="1" dirty="0">
                <a:solidFill>
                  <a:srgbClr val="8A8F98"/>
                </a:solidFill>
                <a:latin typeface="Arial" pitchFamily="34" charset="0"/>
                <a:ea typeface="Arial" pitchFamily="34" charset="-122"/>
                <a:cs typeface="Arial" pitchFamily="34" charset="-120"/>
              </a:rPr>
              <a:t>Kočka sedí na …</a:t>
            </a:r>
            <a:endParaRPr lang="en-US" sz="5400" dirty="0"/>
          </a:p>
        </p:txBody>
      </p:sp>
      <p:sp>
        <p:nvSpPr>
          <p:cNvPr id="4" name="Text 2"/>
          <p:cNvSpPr txBox="1"/>
          <p:nvPr/>
        </p:nvSpPr>
        <p:spPr>
          <a:xfrm>
            <a:off x="685800" y="2651760"/>
            <a:ext cx="2011680" cy="731520"/>
          </a:xfrm>
          <a:prstGeom prst="rect">
            <a:avLst/>
          </a:prstGeom>
          <a:noFill/>
          <a:ln/>
        </p:spPr>
        <p:txBody>
          <a:bodyPr wrap="square" lIns="0" tIns="0" rIns="0" bIns="0" rtlCol="0" anchor="t"/>
          <a:lstStyle/>
          <a:p>
            <a:pPr indent="0" marL="0">
              <a:buNone/>
            </a:pPr>
            <a:r>
              <a:rPr lang="en-US" sz="3600" b="1" dirty="0">
                <a:solidFill>
                  <a:srgbClr val="FF9F1C"/>
                </a:solidFill>
                <a:latin typeface="Arial" pitchFamily="34" charset="0"/>
                <a:ea typeface="Arial" pitchFamily="34" charset="-122"/>
                <a:cs typeface="Arial" pitchFamily="34" charset="-120"/>
              </a:rPr>
              <a:t>střeše</a:t>
            </a:r>
            <a:endParaRPr lang="en-US" sz="3600" dirty="0"/>
          </a:p>
        </p:txBody>
      </p:sp>
      <p:sp>
        <p:nvSpPr>
          <p:cNvPr id="5" name="Text 3"/>
          <p:cNvSpPr txBox="1"/>
          <p:nvPr/>
        </p:nvSpPr>
        <p:spPr>
          <a:xfrm>
            <a:off x="2788920" y="2651760"/>
            <a:ext cx="2011680" cy="731520"/>
          </a:xfrm>
          <a:prstGeom prst="rect">
            <a:avLst/>
          </a:prstGeom>
          <a:noFill/>
          <a:ln/>
        </p:spPr>
        <p:txBody>
          <a:bodyPr wrap="square" lIns="0" tIns="0" rIns="0" bIns="0" rtlCol="0" anchor="t"/>
          <a:lstStyle/>
          <a:p>
            <a:pPr indent="0" marL="0">
              <a:buNone/>
            </a:pPr>
            <a:r>
              <a:rPr lang="en-US" sz="3600" dirty="0">
                <a:solidFill>
                  <a:srgbClr val="ECE9E2"/>
                </a:solidFill>
                <a:latin typeface="Arial" pitchFamily="34" charset="0"/>
                <a:ea typeface="Arial" pitchFamily="34" charset="-122"/>
                <a:cs typeface="Arial" pitchFamily="34" charset="-120"/>
              </a:rPr>
              <a:t>gauči</a:t>
            </a:r>
            <a:endParaRPr lang="en-US" sz="3600" dirty="0"/>
          </a:p>
        </p:txBody>
      </p:sp>
      <p:sp>
        <p:nvSpPr>
          <p:cNvPr id="6" name="Text 4"/>
          <p:cNvSpPr txBox="1"/>
          <p:nvPr/>
        </p:nvSpPr>
        <p:spPr>
          <a:xfrm>
            <a:off x="4892040" y="2651760"/>
            <a:ext cx="2011680" cy="731520"/>
          </a:xfrm>
          <a:prstGeom prst="rect">
            <a:avLst/>
          </a:prstGeom>
          <a:noFill/>
          <a:ln/>
        </p:spPr>
        <p:txBody>
          <a:bodyPr wrap="square" lIns="0" tIns="0" rIns="0" bIns="0" rtlCol="0" anchor="t"/>
          <a:lstStyle/>
          <a:p>
            <a:pPr indent="0" marL="0">
              <a:buNone/>
            </a:pPr>
            <a:r>
              <a:rPr lang="en-US" sz="3600" dirty="0">
                <a:solidFill>
                  <a:srgbClr val="ECE9E2"/>
                </a:solidFill>
                <a:latin typeface="Arial" pitchFamily="34" charset="0"/>
                <a:ea typeface="Arial" pitchFamily="34" charset="-122"/>
                <a:cs typeface="Arial" pitchFamily="34" charset="-120"/>
              </a:rPr>
              <a:t>zemi</a:t>
            </a:r>
            <a:endParaRPr lang="en-US" sz="3600" dirty="0"/>
          </a:p>
        </p:txBody>
      </p:sp>
      <p:sp>
        <p:nvSpPr>
          <p:cNvPr id="7" name="Text 5"/>
          <p:cNvSpPr txBox="1"/>
          <p:nvPr/>
        </p:nvSpPr>
        <p:spPr>
          <a:xfrm>
            <a:off x="6995160" y="2651760"/>
            <a:ext cx="2011680" cy="731520"/>
          </a:xfrm>
          <a:prstGeom prst="rect">
            <a:avLst/>
          </a:prstGeom>
          <a:noFill/>
          <a:ln/>
        </p:spPr>
        <p:txBody>
          <a:bodyPr wrap="square" lIns="0" tIns="0" rIns="0" bIns="0" rtlCol="0" anchor="t"/>
          <a:lstStyle/>
          <a:p>
            <a:pPr indent="0" marL="0">
              <a:buNone/>
            </a:pPr>
            <a:r>
              <a:rPr lang="en-US" sz="3600" dirty="0">
                <a:solidFill>
                  <a:srgbClr val="ECE9E2"/>
                </a:solidFill>
                <a:latin typeface="Arial" pitchFamily="34" charset="0"/>
                <a:ea typeface="Arial" pitchFamily="34" charset="-122"/>
                <a:cs typeface="Arial" pitchFamily="34" charset="-120"/>
              </a:rPr>
              <a:t>stole</a:t>
            </a:r>
            <a:endParaRPr lang="en-US" sz="3600" dirty="0"/>
          </a:p>
        </p:txBody>
      </p:sp>
      <p:sp>
        <p:nvSpPr>
          <p:cNvPr id="8" name="Text 6"/>
          <p:cNvSpPr txBox="1"/>
          <p:nvPr/>
        </p:nvSpPr>
        <p:spPr>
          <a:xfrm>
            <a:off x="9098280" y="2651760"/>
            <a:ext cx="2011680" cy="731520"/>
          </a:xfrm>
          <a:prstGeom prst="rect">
            <a:avLst/>
          </a:prstGeom>
          <a:noFill/>
          <a:ln/>
        </p:spPr>
        <p:txBody>
          <a:bodyPr wrap="square" lIns="0" tIns="0" rIns="0" bIns="0" rtlCol="0" anchor="t"/>
          <a:lstStyle/>
          <a:p>
            <a:pPr indent="0" marL="0">
              <a:buNone/>
            </a:pPr>
            <a:r>
              <a:rPr lang="en-US" sz="3600" dirty="0">
                <a:solidFill>
                  <a:srgbClr val="ECE9E2"/>
                </a:solidFill>
                <a:latin typeface="Arial" pitchFamily="34" charset="0"/>
                <a:ea typeface="Arial" pitchFamily="34" charset="-122"/>
                <a:cs typeface="Arial" pitchFamily="34" charset="-120"/>
              </a:rPr>
              <a:t>…</a:t>
            </a:r>
            <a:endParaRPr lang="en-US" sz="3600" dirty="0"/>
          </a:p>
        </p:txBody>
      </p:sp>
      <p:sp>
        <p:nvSpPr>
          <p:cNvPr id="9" name="Text 7"/>
          <p:cNvSpPr txBox="1"/>
          <p:nvPr/>
        </p:nvSpPr>
        <p:spPr>
          <a:xfrm>
            <a:off x="685800" y="4572000"/>
            <a:ext cx="10972800" cy="731520"/>
          </a:xfrm>
          <a:prstGeom prst="rect">
            <a:avLst/>
          </a:prstGeom>
          <a:noFill/>
          <a:ln/>
        </p:spPr>
        <p:txBody>
          <a:bodyPr wrap="square" lIns="0" tIns="0" rIns="0" bIns="0" rtlCol="0" anchor="t"/>
          <a:lstStyle/>
          <a:p>
            <a:pPr indent="0" marL="0">
              <a:buNone/>
            </a:pPr>
            <a:r>
              <a:rPr lang="en-US" sz="3000" b="1" dirty="0">
                <a:solidFill>
                  <a:srgbClr val="ECE9E2"/>
                </a:solidFill>
                <a:latin typeface="Arial" pitchFamily="34" charset="0"/>
                <a:ea typeface="Arial" pitchFamily="34" charset="-122"/>
                <a:cs typeface="Arial" pitchFamily="34" charset="-120"/>
              </a:rPr>
              <a:t>Gratuluju. Právě jste si zahráli na language model.</a:t>
            </a:r>
            <a:endParaRPr lang="en-US" sz="30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03 · TOKENIZER</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LLM nevidí text. Dostává tokeny.</a:t>
            </a:r>
            <a:endParaRPr lang="en-US" sz="3600" dirty="0"/>
          </a:p>
        </p:txBody>
      </p:sp>
      <p:sp>
        <p:nvSpPr>
          <p:cNvPr id="4" name="Text 2"/>
          <p:cNvSpPr/>
          <p:nvPr/>
        </p:nvSpPr>
        <p:spPr>
          <a:xfrm>
            <a:off x="685800" y="2240280"/>
            <a:ext cx="59740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Ko</a:t>
            </a:r>
            <a:endParaRPr lang="en-US" sz="2600" dirty="0"/>
          </a:p>
        </p:txBody>
      </p:sp>
      <p:sp>
        <p:nvSpPr>
          <p:cNvPr id="5" name="Text 3"/>
          <p:cNvSpPr txBox="1"/>
          <p:nvPr/>
        </p:nvSpPr>
        <p:spPr>
          <a:xfrm>
            <a:off x="685800" y="2936240"/>
            <a:ext cx="59740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33185</a:t>
            </a:r>
            <a:endParaRPr lang="en-US" sz="1100" dirty="0"/>
          </a:p>
        </p:txBody>
      </p:sp>
      <p:sp>
        <p:nvSpPr>
          <p:cNvPr id="6" name="Text 4"/>
          <p:cNvSpPr/>
          <p:nvPr/>
        </p:nvSpPr>
        <p:spPr>
          <a:xfrm>
            <a:off x="1392936" y="2240280"/>
            <a:ext cx="79552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čka</a:t>
            </a:r>
            <a:endParaRPr lang="en-US" sz="2600" dirty="0"/>
          </a:p>
        </p:txBody>
      </p:sp>
      <p:sp>
        <p:nvSpPr>
          <p:cNvPr id="7" name="Text 5"/>
          <p:cNvSpPr txBox="1"/>
          <p:nvPr/>
        </p:nvSpPr>
        <p:spPr>
          <a:xfrm>
            <a:off x="1392936" y="2936240"/>
            <a:ext cx="79552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51851</a:t>
            </a:r>
            <a:endParaRPr lang="en-US" sz="1100" dirty="0"/>
          </a:p>
        </p:txBody>
      </p:sp>
      <p:sp>
        <p:nvSpPr>
          <p:cNvPr id="8" name="Text 6"/>
          <p:cNvSpPr/>
          <p:nvPr/>
        </p:nvSpPr>
        <p:spPr>
          <a:xfrm>
            <a:off x="2298192" y="2240280"/>
            <a:ext cx="99364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·sed</a:t>
            </a:r>
            <a:endParaRPr lang="en-US" sz="2600" dirty="0"/>
          </a:p>
        </p:txBody>
      </p:sp>
      <p:sp>
        <p:nvSpPr>
          <p:cNvPr id="9" name="Text 7"/>
          <p:cNvSpPr txBox="1"/>
          <p:nvPr/>
        </p:nvSpPr>
        <p:spPr>
          <a:xfrm>
            <a:off x="2298192" y="2936240"/>
            <a:ext cx="99364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10412</a:t>
            </a:r>
            <a:endParaRPr lang="en-US" sz="1100" dirty="0"/>
          </a:p>
        </p:txBody>
      </p:sp>
      <p:sp>
        <p:nvSpPr>
          <p:cNvPr id="10" name="Text 8"/>
          <p:cNvSpPr/>
          <p:nvPr/>
        </p:nvSpPr>
        <p:spPr>
          <a:xfrm>
            <a:off x="3401568" y="2240280"/>
            <a:ext cx="39928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í</a:t>
            </a:r>
            <a:endParaRPr lang="en-US" sz="2600" dirty="0"/>
          </a:p>
        </p:txBody>
      </p:sp>
      <p:sp>
        <p:nvSpPr>
          <p:cNvPr id="11" name="Text 9"/>
          <p:cNvSpPr txBox="1"/>
          <p:nvPr/>
        </p:nvSpPr>
        <p:spPr>
          <a:xfrm>
            <a:off x="3401568" y="2936240"/>
            <a:ext cx="39928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556</a:t>
            </a:r>
            <a:endParaRPr lang="en-US" sz="1100" dirty="0"/>
          </a:p>
        </p:txBody>
      </p:sp>
      <p:sp>
        <p:nvSpPr>
          <p:cNvPr id="12" name="Text 10"/>
          <p:cNvSpPr/>
          <p:nvPr/>
        </p:nvSpPr>
        <p:spPr>
          <a:xfrm>
            <a:off x="3910584" y="2240280"/>
            <a:ext cx="79552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·na</a:t>
            </a:r>
            <a:endParaRPr lang="en-US" sz="2600" dirty="0"/>
          </a:p>
        </p:txBody>
      </p:sp>
      <p:sp>
        <p:nvSpPr>
          <p:cNvPr id="13" name="Text 11"/>
          <p:cNvSpPr txBox="1"/>
          <p:nvPr/>
        </p:nvSpPr>
        <p:spPr>
          <a:xfrm>
            <a:off x="3910584" y="2936240"/>
            <a:ext cx="79552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898</a:t>
            </a:r>
            <a:endParaRPr lang="en-US" sz="1100" dirty="0"/>
          </a:p>
        </p:txBody>
      </p:sp>
      <p:sp>
        <p:nvSpPr>
          <p:cNvPr id="14" name="Text 12"/>
          <p:cNvSpPr/>
          <p:nvPr/>
        </p:nvSpPr>
        <p:spPr>
          <a:xfrm>
            <a:off x="4815840" y="2240280"/>
            <a:ext cx="79552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·st</a:t>
            </a:r>
            <a:endParaRPr lang="en-US" sz="2600" dirty="0"/>
          </a:p>
        </p:txBody>
      </p:sp>
      <p:sp>
        <p:nvSpPr>
          <p:cNvPr id="15" name="Text 13"/>
          <p:cNvSpPr txBox="1"/>
          <p:nvPr/>
        </p:nvSpPr>
        <p:spPr>
          <a:xfrm>
            <a:off x="4815840" y="2936240"/>
            <a:ext cx="79552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420</a:t>
            </a:r>
            <a:endParaRPr lang="en-US" sz="1100" dirty="0"/>
          </a:p>
        </p:txBody>
      </p:sp>
      <p:sp>
        <p:nvSpPr>
          <p:cNvPr id="16" name="Text 14"/>
          <p:cNvSpPr/>
          <p:nvPr/>
        </p:nvSpPr>
        <p:spPr>
          <a:xfrm>
            <a:off x="5721096" y="2240280"/>
            <a:ext cx="59740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ře</a:t>
            </a:r>
            <a:endParaRPr lang="en-US" sz="2600" dirty="0"/>
          </a:p>
        </p:txBody>
      </p:sp>
      <p:sp>
        <p:nvSpPr>
          <p:cNvPr id="17" name="Text 15"/>
          <p:cNvSpPr txBox="1"/>
          <p:nvPr/>
        </p:nvSpPr>
        <p:spPr>
          <a:xfrm>
            <a:off x="5721096" y="2936240"/>
            <a:ext cx="59740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38132</a:t>
            </a:r>
            <a:endParaRPr lang="en-US" sz="1100" dirty="0"/>
          </a:p>
        </p:txBody>
      </p:sp>
      <p:sp>
        <p:nvSpPr>
          <p:cNvPr id="18" name="Text 16"/>
          <p:cNvSpPr/>
          <p:nvPr/>
        </p:nvSpPr>
        <p:spPr>
          <a:xfrm>
            <a:off x="6428232" y="2240280"/>
            <a:ext cx="59740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še</a:t>
            </a:r>
            <a:endParaRPr lang="en-US" sz="2600" dirty="0"/>
          </a:p>
        </p:txBody>
      </p:sp>
      <p:sp>
        <p:nvSpPr>
          <p:cNvPr id="19" name="Text 17"/>
          <p:cNvSpPr txBox="1"/>
          <p:nvPr/>
        </p:nvSpPr>
        <p:spPr>
          <a:xfrm>
            <a:off x="6428232" y="2936240"/>
            <a:ext cx="59740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13136</a:t>
            </a:r>
            <a:endParaRPr lang="en-US" sz="1100" dirty="0"/>
          </a:p>
        </p:txBody>
      </p:sp>
      <p:sp>
        <p:nvSpPr>
          <p:cNvPr id="20" name="Text 18"/>
          <p:cNvSpPr/>
          <p:nvPr/>
        </p:nvSpPr>
        <p:spPr>
          <a:xfrm>
            <a:off x="7135368" y="2240280"/>
            <a:ext cx="39928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a:t>
            </a:r>
            <a:endParaRPr lang="en-US" sz="2600" dirty="0"/>
          </a:p>
        </p:txBody>
      </p:sp>
      <p:sp>
        <p:nvSpPr>
          <p:cNvPr id="21" name="Text 19"/>
          <p:cNvSpPr txBox="1"/>
          <p:nvPr/>
        </p:nvSpPr>
        <p:spPr>
          <a:xfrm>
            <a:off x="7135368" y="2936240"/>
            <a:ext cx="39928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13</a:t>
            </a:r>
            <a:endParaRPr lang="en-US" sz="1100" dirty="0"/>
          </a:p>
        </p:txBody>
      </p:sp>
      <p:sp>
        <p:nvSpPr>
          <p:cNvPr id="22" name="Text 20"/>
          <p:cNvSpPr txBox="1"/>
          <p:nvPr/>
        </p:nvSpPr>
        <p:spPr>
          <a:xfrm>
            <a:off x="9692640" y="2331720"/>
            <a:ext cx="1828800" cy="365760"/>
          </a:xfrm>
          <a:prstGeom prst="rect">
            <a:avLst/>
          </a:prstGeom>
          <a:noFill/>
          <a:ln/>
        </p:spPr>
        <p:txBody>
          <a:bodyPr wrap="square" lIns="0" tIns="0" rIns="0" bIns="0" rtlCol="0" anchor="t"/>
          <a:lstStyle/>
          <a:p>
            <a:pPr indent="0" marL="0">
              <a:buNone/>
            </a:pPr>
            <a:r>
              <a:rPr lang="en-US" sz="1600" dirty="0">
                <a:solidFill>
                  <a:srgbClr val="FF9F1C"/>
                </a:solidFill>
                <a:latin typeface="Courier New" pitchFamily="34" charset="0"/>
                <a:ea typeface="Courier New" pitchFamily="34" charset="-122"/>
                <a:cs typeface="Courier New" pitchFamily="34" charset="-120"/>
              </a:rPr>
              <a:t>9 tokenů</a:t>
            </a:r>
            <a:endParaRPr lang="en-US" sz="1600" dirty="0"/>
          </a:p>
        </p:txBody>
      </p:sp>
      <p:sp>
        <p:nvSpPr>
          <p:cNvPr id="23" name="Text 21"/>
          <p:cNvSpPr/>
          <p:nvPr/>
        </p:nvSpPr>
        <p:spPr>
          <a:xfrm>
            <a:off x="685800" y="3703320"/>
            <a:ext cx="79552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The</a:t>
            </a:r>
            <a:endParaRPr lang="en-US" sz="2600" dirty="0"/>
          </a:p>
        </p:txBody>
      </p:sp>
      <p:sp>
        <p:nvSpPr>
          <p:cNvPr id="24" name="Text 22"/>
          <p:cNvSpPr txBox="1"/>
          <p:nvPr/>
        </p:nvSpPr>
        <p:spPr>
          <a:xfrm>
            <a:off x="685800" y="4399280"/>
            <a:ext cx="79552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976</a:t>
            </a:r>
            <a:endParaRPr lang="en-US" sz="1100" dirty="0"/>
          </a:p>
        </p:txBody>
      </p:sp>
      <p:sp>
        <p:nvSpPr>
          <p:cNvPr id="25" name="Text 23"/>
          <p:cNvSpPr/>
          <p:nvPr/>
        </p:nvSpPr>
        <p:spPr>
          <a:xfrm>
            <a:off x="1591056" y="3703320"/>
            <a:ext cx="99364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·cat</a:t>
            </a:r>
            <a:endParaRPr lang="en-US" sz="2600" dirty="0"/>
          </a:p>
        </p:txBody>
      </p:sp>
      <p:sp>
        <p:nvSpPr>
          <p:cNvPr id="26" name="Text 24"/>
          <p:cNvSpPr txBox="1"/>
          <p:nvPr/>
        </p:nvSpPr>
        <p:spPr>
          <a:xfrm>
            <a:off x="1591056" y="4399280"/>
            <a:ext cx="99364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9059</a:t>
            </a:r>
            <a:endParaRPr lang="en-US" sz="1100" dirty="0"/>
          </a:p>
        </p:txBody>
      </p:sp>
      <p:sp>
        <p:nvSpPr>
          <p:cNvPr id="27" name="Text 25"/>
          <p:cNvSpPr/>
          <p:nvPr/>
        </p:nvSpPr>
        <p:spPr>
          <a:xfrm>
            <a:off x="2694432" y="3703320"/>
            <a:ext cx="119176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·sits</a:t>
            </a:r>
            <a:endParaRPr lang="en-US" sz="2600" dirty="0"/>
          </a:p>
        </p:txBody>
      </p:sp>
      <p:sp>
        <p:nvSpPr>
          <p:cNvPr id="28" name="Text 26"/>
          <p:cNvSpPr txBox="1"/>
          <p:nvPr/>
        </p:nvSpPr>
        <p:spPr>
          <a:xfrm>
            <a:off x="2694432" y="4399280"/>
            <a:ext cx="119176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38174</a:t>
            </a:r>
            <a:endParaRPr lang="en-US" sz="1100" dirty="0"/>
          </a:p>
        </p:txBody>
      </p:sp>
      <p:sp>
        <p:nvSpPr>
          <p:cNvPr id="29" name="Text 27"/>
          <p:cNvSpPr/>
          <p:nvPr/>
        </p:nvSpPr>
        <p:spPr>
          <a:xfrm>
            <a:off x="3995928" y="3703320"/>
            <a:ext cx="79552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·on</a:t>
            </a:r>
            <a:endParaRPr lang="en-US" sz="2600" dirty="0"/>
          </a:p>
        </p:txBody>
      </p:sp>
      <p:sp>
        <p:nvSpPr>
          <p:cNvPr id="30" name="Text 28"/>
          <p:cNvSpPr txBox="1"/>
          <p:nvPr/>
        </p:nvSpPr>
        <p:spPr>
          <a:xfrm>
            <a:off x="3995928" y="4399280"/>
            <a:ext cx="79552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402</a:t>
            </a:r>
            <a:endParaRPr lang="en-US" sz="1100" dirty="0"/>
          </a:p>
        </p:txBody>
      </p:sp>
      <p:sp>
        <p:nvSpPr>
          <p:cNvPr id="31" name="Text 29"/>
          <p:cNvSpPr/>
          <p:nvPr/>
        </p:nvSpPr>
        <p:spPr>
          <a:xfrm>
            <a:off x="4901184" y="3703320"/>
            <a:ext cx="99364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·the</a:t>
            </a:r>
            <a:endParaRPr lang="en-US" sz="2600" dirty="0"/>
          </a:p>
        </p:txBody>
      </p:sp>
      <p:sp>
        <p:nvSpPr>
          <p:cNvPr id="32" name="Text 30"/>
          <p:cNvSpPr txBox="1"/>
          <p:nvPr/>
        </p:nvSpPr>
        <p:spPr>
          <a:xfrm>
            <a:off x="4901184" y="4399280"/>
            <a:ext cx="99364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290</a:t>
            </a:r>
            <a:endParaRPr lang="en-US" sz="1100" dirty="0"/>
          </a:p>
        </p:txBody>
      </p:sp>
      <p:sp>
        <p:nvSpPr>
          <p:cNvPr id="33" name="Text 31"/>
          <p:cNvSpPr/>
          <p:nvPr/>
        </p:nvSpPr>
        <p:spPr>
          <a:xfrm>
            <a:off x="6004560" y="3703320"/>
            <a:ext cx="119176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·roof</a:t>
            </a:r>
            <a:endParaRPr lang="en-US" sz="2600" dirty="0"/>
          </a:p>
        </p:txBody>
      </p:sp>
      <p:sp>
        <p:nvSpPr>
          <p:cNvPr id="34" name="Text 32"/>
          <p:cNvSpPr txBox="1"/>
          <p:nvPr/>
        </p:nvSpPr>
        <p:spPr>
          <a:xfrm>
            <a:off x="6004560" y="4399280"/>
            <a:ext cx="119176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16367</a:t>
            </a:r>
            <a:endParaRPr lang="en-US" sz="1100" dirty="0"/>
          </a:p>
        </p:txBody>
      </p:sp>
      <p:sp>
        <p:nvSpPr>
          <p:cNvPr id="35" name="Text 33"/>
          <p:cNvSpPr/>
          <p:nvPr/>
        </p:nvSpPr>
        <p:spPr>
          <a:xfrm>
            <a:off x="7306056" y="3703320"/>
            <a:ext cx="399288" cy="622808"/>
          </a:xfrm>
          <a:prstGeom prst="rect">
            <a:avLst/>
          </a:prstGeom>
          <a:solidFill>
            <a:srgbClr val="0A0B0D"/>
          </a:solidFill>
          <a:ln w="12700">
            <a:solidFill>
              <a:srgbClr val="8A8F98"/>
            </a:solidFill>
            <a:prstDash val="solid"/>
          </a:ln>
        </p:spPr>
        <p:txBody>
          <a:bodyPr wrap="square" lIns="0" tIns="0" rIns="0" bIns="0" rtlCol="0" anchor="ctr"/>
          <a:lstStyle/>
          <a:p>
            <a:pPr algn="ctr" indent="0" marL="0">
              <a:buNone/>
            </a:pPr>
            <a:r>
              <a:rPr lang="en-US" sz="2600" dirty="0">
                <a:solidFill>
                  <a:srgbClr val="ECE9E2"/>
                </a:solidFill>
                <a:latin typeface="Courier New" pitchFamily="34" charset="0"/>
                <a:ea typeface="Courier New" pitchFamily="34" charset="-122"/>
                <a:cs typeface="Courier New" pitchFamily="34" charset="-120"/>
              </a:rPr>
              <a:t>.</a:t>
            </a:r>
            <a:endParaRPr lang="en-US" sz="2600" dirty="0"/>
          </a:p>
        </p:txBody>
      </p:sp>
      <p:sp>
        <p:nvSpPr>
          <p:cNvPr id="36" name="Text 34"/>
          <p:cNvSpPr txBox="1"/>
          <p:nvPr/>
        </p:nvSpPr>
        <p:spPr>
          <a:xfrm>
            <a:off x="7306056" y="4399280"/>
            <a:ext cx="399288" cy="274320"/>
          </a:xfrm>
          <a:prstGeom prst="rect">
            <a:avLst/>
          </a:prstGeom>
          <a:noFill/>
          <a:ln/>
        </p:spPr>
        <p:txBody>
          <a:bodyPr wrap="square" lIns="0" tIns="0" rIns="0" bIns="0" rtlCol="0" anchor="t"/>
          <a:lstStyle/>
          <a:p>
            <a:pPr algn="ctr" indent="0" marL="0">
              <a:buNone/>
            </a:pPr>
            <a:r>
              <a:rPr lang="en-US" sz="1100" dirty="0">
                <a:solidFill>
                  <a:srgbClr val="8A8F98"/>
                </a:solidFill>
                <a:latin typeface="Courier New" pitchFamily="34" charset="0"/>
                <a:ea typeface="Courier New" pitchFamily="34" charset="-122"/>
                <a:cs typeface="Courier New" pitchFamily="34" charset="-120"/>
              </a:rPr>
              <a:t>13</a:t>
            </a:r>
            <a:endParaRPr lang="en-US" sz="1100" dirty="0"/>
          </a:p>
        </p:txBody>
      </p:sp>
      <p:sp>
        <p:nvSpPr>
          <p:cNvPr id="37" name="Text 35"/>
          <p:cNvSpPr txBox="1"/>
          <p:nvPr/>
        </p:nvSpPr>
        <p:spPr>
          <a:xfrm>
            <a:off x="9692640" y="3794760"/>
            <a:ext cx="1828800" cy="365760"/>
          </a:xfrm>
          <a:prstGeom prst="rect">
            <a:avLst/>
          </a:prstGeom>
          <a:noFill/>
          <a:ln/>
        </p:spPr>
        <p:txBody>
          <a:bodyPr wrap="square" lIns="0" tIns="0" rIns="0" bIns="0" rtlCol="0" anchor="t"/>
          <a:lstStyle/>
          <a:p>
            <a:pPr indent="0" marL="0">
              <a:buNone/>
            </a:pPr>
            <a:r>
              <a:rPr lang="en-US" sz="1600" dirty="0">
                <a:solidFill>
                  <a:srgbClr val="FF9F1C"/>
                </a:solidFill>
                <a:latin typeface="Courier New" pitchFamily="34" charset="0"/>
                <a:ea typeface="Courier New" pitchFamily="34" charset="-122"/>
                <a:cs typeface="Courier New" pitchFamily="34" charset="-120"/>
              </a:rPr>
              <a:t>7 tokenů</a:t>
            </a:r>
            <a:endParaRPr lang="en-US" sz="1600" dirty="0"/>
          </a:p>
        </p:txBody>
      </p:sp>
      <p:sp>
        <p:nvSpPr>
          <p:cNvPr id="38" name="Text 36"/>
          <p:cNvSpPr txBox="1"/>
          <p:nvPr/>
        </p:nvSpPr>
        <p:spPr>
          <a:xfrm>
            <a:off x="685800" y="5257800"/>
            <a:ext cx="10789920" cy="365760"/>
          </a:xfrm>
          <a:prstGeom prst="rect">
            <a:avLst/>
          </a:prstGeom>
          <a:noFill/>
          <a:ln/>
        </p:spPr>
        <p:txBody>
          <a:bodyPr wrap="square" lIns="0" tIns="0" rIns="0" bIns="0" rtlCol="0" anchor="t"/>
          <a:lstStyle/>
          <a:p>
            <a:pPr indent="0" marL="0">
              <a:buNone/>
            </a:pPr>
            <a:r>
              <a:rPr lang="en-US" sz="1500" dirty="0">
                <a:solidFill>
                  <a:srgbClr val="8A8F98"/>
                </a:solidFill>
                <a:latin typeface="Courier New" pitchFamily="34" charset="0"/>
                <a:ea typeface="Courier New" pitchFamily="34" charset="-122"/>
                <a:cs typeface="Courier New" pitchFamily="34" charset="-120"/>
              </a:rPr>
              <a:t>· = mezera   ·   tokenizer o200k_base   ·   počet tokenů záleží na tokenizeru a textu</a:t>
            </a:r>
            <a:endParaRPr lang="en-US" sz="15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04 · EMBEDDINGS</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Tokeny se změní na čísla</a:t>
            </a:r>
            <a:endParaRPr lang="en-US" sz="3600" dirty="0"/>
          </a:p>
        </p:txBody>
      </p:sp>
      <p:sp>
        <p:nvSpPr>
          <p:cNvPr id="4" name="Text 2"/>
          <p:cNvSpPr/>
          <p:nvPr/>
        </p:nvSpPr>
        <p:spPr>
          <a:xfrm>
            <a:off x="685800" y="2057400"/>
            <a:ext cx="1188720" cy="54864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2000" dirty="0">
                <a:solidFill>
                  <a:srgbClr val="ECE9E2"/>
                </a:solidFill>
                <a:latin typeface="Courier New" pitchFamily="34" charset="0"/>
                <a:ea typeface="Courier New" pitchFamily="34" charset="-122"/>
                <a:cs typeface="Courier New" pitchFamily="34" charset="-120"/>
              </a:rPr>
              <a:t>·sed</a:t>
            </a:r>
            <a:endParaRPr lang="en-US" sz="2000" dirty="0"/>
          </a:p>
        </p:txBody>
      </p:sp>
      <p:sp>
        <p:nvSpPr>
          <p:cNvPr id="5" name="Shape 3"/>
          <p:cNvSpPr/>
          <p:nvPr/>
        </p:nvSpPr>
        <p:spPr>
          <a:xfrm>
            <a:off x="1965960" y="2331720"/>
            <a:ext cx="548640" cy="0"/>
          </a:xfrm>
          <a:prstGeom prst="line">
            <a:avLst/>
          </a:prstGeom>
          <a:noFill/>
          <a:ln w="19050">
            <a:solidFill>
              <a:srgbClr val="8A8F98"/>
            </a:solidFill>
            <a:prstDash val="solid"/>
            <a:tailEnd type="triangle"/>
          </a:ln>
        </p:spPr>
      </p:sp>
      <p:sp>
        <p:nvSpPr>
          <p:cNvPr id="6" name="Text 4"/>
          <p:cNvSpPr txBox="1"/>
          <p:nvPr/>
        </p:nvSpPr>
        <p:spPr>
          <a:xfrm>
            <a:off x="2606040" y="2057400"/>
            <a:ext cx="1005840" cy="548640"/>
          </a:xfrm>
          <a:prstGeom prst="rect">
            <a:avLst/>
          </a:prstGeom>
          <a:noFill/>
          <a:ln/>
        </p:spPr>
        <p:txBody>
          <a:bodyPr wrap="square" lIns="0" tIns="0" rIns="0" bIns="0" rtlCol="0" anchor="ctr"/>
          <a:lstStyle/>
          <a:p>
            <a:pPr indent="0" marL="0">
              <a:buNone/>
            </a:pPr>
            <a:r>
              <a:rPr lang="en-US" sz="1800" dirty="0">
                <a:solidFill>
                  <a:srgbClr val="8A8F98"/>
                </a:solidFill>
                <a:latin typeface="Courier New" pitchFamily="34" charset="0"/>
                <a:ea typeface="Courier New" pitchFamily="34" charset="-122"/>
                <a:cs typeface="Courier New" pitchFamily="34" charset="-120"/>
              </a:rPr>
              <a:t>10412</a:t>
            </a:r>
            <a:endParaRPr lang="en-US" sz="1800" dirty="0"/>
          </a:p>
        </p:txBody>
      </p:sp>
      <p:sp>
        <p:nvSpPr>
          <p:cNvPr id="7" name="Shape 5"/>
          <p:cNvSpPr/>
          <p:nvPr/>
        </p:nvSpPr>
        <p:spPr>
          <a:xfrm>
            <a:off x="3611880" y="2331720"/>
            <a:ext cx="548640" cy="0"/>
          </a:xfrm>
          <a:prstGeom prst="line">
            <a:avLst/>
          </a:prstGeom>
          <a:noFill/>
          <a:ln w="19050">
            <a:solidFill>
              <a:srgbClr val="8A8F98"/>
            </a:solidFill>
            <a:prstDash val="solid"/>
            <a:tailEnd type="triangle"/>
          </a:ln>
        </p:spPr>
      </p:sp>
      <p:sp>
        <p:nvSpPr>
          <p:cNvPr id="8" name="Text 6"/>
          <p:cNvSpPr txBox="1"/>
          <p:nvPr/>
        </p:nvSpPr>
        <p:spPr>
          <a:xfrm>
            <a:off x="4251960" y="2057400"/>
            <a:ext cx="3840480" cy="548640"/>
          </a:xfrm>
          <a:prstGeom prst="rect">
            <a:avLst/>
          </a:prstGeom>
          <a:noFill/>
          <a:ln/>
        </p:spPr>
        <p:txBody>
          <a:bodyPr wrap="square" lIns="0" tIns="0" rIns="0" bIns="0" rtlCol="0" anchor="ctr"/>
          <a:lstStyle/>
          <a:p>
            <a:pPr indent="0" marL="0">
              <a:buNone/>
            </a:pPr>
            <a:r>
              <a:rPr lang="en-US" sz="1800" dirty="0">
                <a:solidFill>
                  <a:srgbClr val="FF9F1C"/>
                </a:solidFill>
                <a:latin typeface="Courier New" pitchFamily="34" charset="0"/>
                <a:ea typeface="Courier New" pitchFamily="34" charset="-122"/>
                <a:cs typeface="Courier New" pitchFamily="34" charset="-120"/>
              </a:rPr>
              <a:t>[ 0.12, −0.83, 0.40, … ]</a:t>
            </a:r>
            <a:endParaRPr lang="en-US" sz="1800" dirty="0"/>
          </a:p>
        </p:txBody>
      </p:sp>
      <p:sp>
        <p:nvSpPr>
          <p:cNvPr id="9" name="Text 7"/>
          <p:cNvSpPr/>
          <p:nvPr/>
        </p:nvSpPr>
        <p:spPr>
          <a:xfrm>
            <a:off x="685800" y="2834640"/>
            <a:ext cx="1188720" cy="54864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2000" dirty="0">
                <a:solidFill>
                  <a:srgbClr val="ECE9E2"/>
                </a:solidFill>
                <a:latin typeface="Courier New" pitchFamily="34" charset="0"/>
                <a:ea typeface="Courier New" pitchFamily="34" charset="-122"/>
                <a:cs typeface="Courier New" pitchFamily="34" charset="-120"/>
              </a:rPr>
              <a:t>·na</a:t>
            </a:r>
            <a:endParaRPr lang="en-US" sz="2000" dirty="0"/>
          </a:p>
        </p:txBody>
      </p:sp>
      <p:sp>
        <p:nvSpPr>
          <p:cNvPr id="10" name="Shape 8"/>
          <p:cNvSpPr/>
          <p:nvPr/>
        </p:nvSpPr>
        <p:spPr>
          <a:xfrm>
            <a:off x="1965960" y="3108960"/>
            <a:ext cx="548640" cy="0"/>
          </a:xfrm>
          <a:prstGeom prst="line">
            <a:avLst/>
          </a:prstGeom>
          <a:noFill/>
          <a:ln w="19050">
            <a:solidFill>
              <a:srgbClr val="8A8F98"/>
            </a:solidFill>
            <a:prstDash val="solid"/>
            <a:tailEnd type="triangle"/>
          </a:ln>
        </p:spPr>
      </p:sp>
      <p:sp>
        <p:nvSpPr>
          <p:cNvPr id="11" name="Text 9"/>
          <p:cNvSpPr txBox="1"/>
          <p:nvPr/>
        </p:nvSpPr>
        <p:spPr>
          <a:xfrm>
            <a:off x="2606040" y="2834640"/>
            <a:ext cx="1005840" cy="548640"/>
          </a:xfrm>
          <a:prstGeom prst="rect">
            <a:avLst/>
          </a:prstGeom>
          <a:noFill/>
          <a:ln/>
        </p:spPr>
        <p:txBody>
          <a:bodyPr wrap="square" lIns="0" tIns="0" rIns="0" bIns="0" rtlCol="0" anchor="ctr"/>
          <a:lstStyle/>
          <a:p>
            <a:pPr indent="0" marL="0">
              <a:buNone/>
            </a:pPr>
            <a:r>
              <a:rPr lang="en-US" sz="1800" dirty="0">
                <a:solidFill>
                  <a:srgbClr val="8A8F98"/>
                </a:solidFill>
                <a:latin typeface="Courier New" pitchFamily="34" charset="0"/>
                <a:ea typeface="Courier New" pitchFamily="34" charset="-122"/>
                <a:cs typeface="Courier New" pitchFamily="34" charset="-120"/>
              </a:rPr>
              <a:t>898</a:t>
            </a:r>
            <a:endParaRPr lang="en-US" sz="1800" dirty="0"/>
          </a:p>
        </p:txBody>
      </p:sp>
      <p:sp>
        <p:nvSpPr>
          <p:cNvPr id="12" name="Shape 10"/>
          <p:cNvSpPr/>
          <p:nvPr/>
        </p:nvSpPr>
        <p:spPr>
          <a:xfrm>
            <a:off x="3611880" y="3108960"/>
            <a:ext cx="548640" cy="0"/>
          </a:xfrm>
          <a:prstGeom prst="line">
            <a:avLst/>
          </a:prstGeom>
          <a:noFill/>
          <a:ln w="19050">
            <a:solidFill>
              <a:srgbClr val="8A8F98"/>
            </a:solidFill>
            <a:prstDash val="solid"/>
            <a:tailEnd type="triangle"/>
          </a:ln>
        </p:spPr>
      </p:sp>
      <p:sp>
        <p:nvSpPr>
          <p:cNvPr id="13" name="Text 11"/>
          <p:cNvSpPr txBox="1"/>
          <p:nvPr/>
        </p:nvSpPr>
        <p:spPr>
          <a:xfrm>
            <a:off x="4251960" y="2834640"/>
            <a:ext cx="3840480" cy="548640"/>
          </a:xfrm>
          <a:prstGeom prst="rect">
            <a:avLst/>
          </a:prstGeom>
          <a:noFill/>
          <a:ln/>
        </p:spPr>
        <p:txBody>
          <a:bodyPr wrap="square" lIns="0" tIns="0" rIns="0" bIns="0" rtlCol="0" anchor="ctr"/>
          <a:lstStyle/>
          <a:p>
            <a:pPr indent="0" marL="0">
              <a:buNone/>
            </a:pPr>
            <a:r>
              <a:rPr lang="en-US" sz="1800" dirty="0">
                <a:solidFill>
                  <a:srgbClr val="FF9F1C"/>
                </a:solidFill>
                <a:latin typeface="Courier New" pitchFamily="34" charset="0"/>
                <a:ea typeface="Courier New" pitchFamily="34" charset="-122"/>
                <a:cs typeface="Courier New" pitchFamily="34" charset="-120"/>
              </a:rPr>
              <a:t>[−0.51, 0.07, 0.93, … ]</a:t>
            </a:r>
            <a:endParaRPr lang="en-US" sz="1800" dirty="0"/>
          </a:p>
        </p:txBody>
      </p:sp>
      <p:sp>
        <p:nvSpPr>
          <p:cNvPr id="14" name="Text 12"/>
          <p:cNvSpPr/>
          <p:nvPr/>
        </p:nvSpPr>
        <p:spPr>
          <a:xfrm>
            <a:off x="685800" y="3611880"/>
            <a:ext cx="1188720" cy="54864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2000" dirty="0">
                <a:solidFill>
                  <a:srgbClr val="ECE9E2"/>
                </a:solidFill>
                <a:latin typeface="Courier New" pitchFamily="34" charset="0"/>
                <a:ea typeface="Courier New" pitchFamily="34" charset="-122"/>
                <a:cs typeface="Courier New" pitchFamily="34" charset="-120"/>
              </a:rPr>
              <a:t>·st</a:t>
            </a:r>
            <a:endParaRPr lang="en-US" sz="2000" dirty="0"/>
          </a:p>
        </p:txBody>
      </p:sp>
      <p:sp>
        <p:nvSpPr>
          <p:cNvPr id="15" name="Shape 13"/>
          <p:cNvSpPr/>
          <p:nvPr/>
        </p:nvSpPr>
        <p:spPr>
          <a:xfrm>
            <a:off x="1965960" y="3886200"/>
            <a:ext cx="548640" cy="0"/>
          </a:xfrm>
          <a:prstGeom prst="line">
            <a:avLst/>
          </a:prstGeom>
          <a:noFill/>
          <a:ln w="19050">
            <a:solidFill>
              <a:srgbClr val="8A8F98"/>
            </a:solidFill>
            <a:prstDash val="solid"/>
            <a:tailEnd type="triangle"/>
          </a:ln>
        </p:spPr>
      </p:sp>
      <p:sp>
        <p:nvSpPr>
          <p:cNvPr id="16" name="Text 14"/>
          <p:cNvSpPr txBox="1"/>
          <p:nvPr/>
        </p:nvSpPr>
        <p:spPr>
          <a:xfrm>
            <a:off x="2606040" y="3611880"/>
            <a:ext cx="1005840" cy="548640"/>
          </a:xfrm>
          <a:prstGeom prst="rect">
            <a:avLst/>
          </a:prstGeom>
          <a:noFill/>
          <a:ln/>
        </p:spPr>
        <p:txBody>
          <a:bodyPr wrap="square" lIns="0" tIns="0" rIns="0" bIns="0" rtlCol="0" anchor="ctr"/>
          <a:lstStyle/>
          <a:p>
            <a:pPr indent="0" marL="0">
              <a:buNone/>
            </a:pPr>
            <a:r>
              <a:rPr lang="en-US" sz="1800" dirty="0">
                <a:solidFill>
                  <a:srgbClr val="8A8F98"/>
                </a:solidFill>
                <a:latin typeface="Courier New" pitchFamily="34" charset="0"/>
                <a:ea typeface="Courier New" pitchFamily="34" charset="-122"/>
                <a:cs typeface="Courier New" pitchFamily="34" charset="-120"/>
              </a:rPr>
              <a:t>420</a:t>
            </a:r>
            <a:endParaRPr lang="en-US" sz="1800" dirty="0"/>
          </a:p>
        </p:txBody>
      </p:sp>
      <p:sp>
        <p:nvSpPr>
          <p:cNvPr id="17" name="Shape 15"/>
          <p:cNvSpPr/>
          <p:nvPr/>
        </p:nvSpPr>
        <p:spPr>
          <a:xfrm>
            <a:off x="3611880" y="3886200"/>
            <a:ext cx="548640" cy="0"/>
          </a:xfrm>
          <a:prstGeom prst="line">
            <a:avLst/>
          </a:prstGeom>
          <a:noFill/>
          <a:ln w="19050">
            <a:solidFill>
              <a:srgbClr val="8A8F98"/>
            </a:solidFill>
            <a:prstDash val="solid"/>
            <a:tailEnd type="triangle"/>
          </a:ln>
        </p:spPr>
      </p:sp>
      <p:sp>
        <p:nvSpPr>
          <p:cNvPr id="18" name="Text 16"/>
          <p:cNvSpPr txBox="1"/>
          <p:nvPr/>
        </p:nvSpPr>
        <p:spPr>
          <a:xfrm>
            <a:off x="4251960" y="3611880"/>
            <a:ext cx="3840480" cy="548640"/>
          </a:xfrm>
          <a:prstGeom prst="rect">
            <a:avLst/>
          </a:prstGeom>
          <a:noFill/>
          <a:ln/>
        </p:spPr>
        <p:txBody>
          <a:bodyPr wrap="square" lIns="0" tIns="0" rIns="0" bIns="0" rtlCol="0" anchor="ctr"/>
          <a:lstStyle/>
          <a:p>
            <a:pPr indent="0" marL="0">
              <a:buNone/>
            </a:pPr>
            <a:r>
              <a:rPr lang="en-US" sz="1800" dirty="0">
                <a:solidFill>
                  <a:srgbClr val="FF9F1C"/>
                </a:solidFill>
                <a:latin typeface="Courier New" pitchFamily="34" charset="0"/>
                <a:ea typeface="Courier New" pitchFamily="34" charset="-122"/>
                <a:cs typeface="Courier New" pitchFamily="34" charset="-120"/>
              </a:rPr>
              <a:t>[ 0.66, 0.21, −0.18, … ]</a:t>
            </a:r>
            <a:endParaRPr lang="en-US" sz="1800" dirty="0"/>
          </a:p>
        </p:txBody>
      </p:sp>
      <p:sp>
        <p:nvSpPr>
          <p:cNvPr id="19" name="Text 17"/>
          <p:cNvSpPr txBox="1"/>
          <p:nvPr/>
        </p:nvSpPr>
        <p:spPr>
          <a:xfrm>
            <a:off x="4251960" y="4434840"/>
            <a:ext cx="3657600" cy="365760"/>
          </a:xfrm>
          <a:prstGeom prst="rect">
            <a:avLst/>
          </a:prstGeom>
          <a:noFill/>
          <a:ln/>
        </p:spPr>
        <p:txBody>
          <a:bodyPr wrap="square" lIns="0" tIns="0" rIns="0" bIns="0" rtlCol="0" anchor="t"/>
          <a:lstStyle/>
          <a:p>
            <a:pPr indent="0" marL="0">
              <a:buNone/>
            </a:pPr>
            <a:r>
              <a:rPr lang="en-US" sz="1600" dirty="0">
                <a:solidFill>
                  <a:srgbClr val="ECE9E2"/>
                </a:solidFill>
                <a:latin typeface="Courier New" pitchFamily="34" charset="0"/>
                <a:ea typeface="Courier New" pitchFamily="34" charset="-122"/>
                <a:cs typeface="Courier New" pitchFamily="34" charset="-120"/>
              </a:rPr>
              <a:t>+ pozice v textu</a:t>
            </a:r>
            <a:endParaRPr lang="en-US" sz="1600" dirty="0"/>
          </a:p>
        </p:txBody>
      </p:sp>
      <p:sp>
        <p:nvSpPr>
          <p:cNvPr id="20" name="Text 18"/>
          <p:cNvSpPr txBox="1"/>
          <p:nvPr/>
        </p:nvSpPr>
        <p:spPr>
          <a:xfrm>
            <a:off x="4251960" y="4846320"/>
            <a:ext cx="4206240" cy="548640"/>
          </a:xfrm>
          <a:prstGeom prst="rect">
            <a:avLst/>
          </a:prstGeom>
          <a:noFill/>
          <a:ln/>
        </p:spPr>
        <p:txBody>
          <a:bodyPr wrap="square" lIns="0" tIns="0" rIns="0" bIns="0" rtlCol="0" anchor="t"/>
          <a:lstStyle/>
          <a:p>
            <a:pPr indent="0" marL="0">
              <a:buNone/>
            </a:pPr>
            <a:r>
              <a:rPr lang="en-US" sz="1500" dirty="0">
                <a:solidFill>
                  <a:srgbClr val="8A8F98"/>
                </a:solidFill>
                <a:latin typeface="Courier New" pitchFamily="34" charset="0"/>
                <a:ea typeface="Courier New" pitchFamily="34" charset="-122"/>
                <a:cs typeface="Courier New" pitchFamily="34" charset="-120"/>
              </a:rPr>
              <a:t>schematické hodnoty · reálně stovky až tisíce čísel</a:t>
            </a:r>
            <a:endParaRPr lang="en-US" sz="1500" dirty="0"/>
          </a:p>
        </p:txBody>
      </p:sp>
      <p:sp>
        <p:nvSpPr>
          <p:cNvPr id="21" name="Shape 19"/>
          <p:cNvSpPr/>
          <p:nvPr/>
        </p:nvSpPr>
        <p:spPr>
          <a:xfrm>
            <a:off x="8595360" y="2057400"/>
            <a:ext cx="2926080" cy="2926080"/>
          </a:xfrm>
          <a:prstGeom prst="rect">
            <a:avLst/>
          </a:prstGeom>
          <a:solidFill>
            <a:srgbClr val="0A0B0D"/>
          </a:solidFill>
          <a:ln w="12700">
            <a:solidFill>
              <a:srgbClr val="2E333B"/>
            </a:solidFill>
            <a:prstDash val="dash"/>
          </a:ln>
        </p:spPr>
      </p:sp>
      <p:sp>
        <p:nvSpPr>
          <p:cNvPr id="22" name="Shape 20"/>
          <p:cNvSpPr/>
          <p:nvPr/>
        </p:nvSpPr>
        <p:spPr>
          <a:xfrm>
            <a:off x="8915400" y="2468880"/>
            <a:ext cx="118872" cy="118872"/>
          </a:xfrm>
          <a:prstGeom prst="ellipse">
            <a:avLst/>
          </a:prstGeom>
          <a:solidFill>
            <a:srgbClr val="FF9F1C"/>
          </a:solidFill>
          <a:ln/>
        </p:spPr>
      </p:sp>
      <p:sp>
        <p:nvSpPr>
          <p:cNvPr id="23" name="Text 21"/>
          <p:cNvSpPr txBox="1"/>
          <p:nvPr/>
        </p:nvSpPr>
        <p:spPr>
          <a:xfrm>
            <a:off x="9079992" y="2377440"/>
            <a:ext cx="1188720" cy="274320"/>
          </a:xfrm>
          <a:prstGeom prst="rect">
            <a:avLst/>
          </a:prstGeom>
          <a:noFill/>
          <a:ln/>
        </p:spPr>
        <p:txBody>
          <a:bodyPr wrap="square" lIns="0" tIns="0" rIns="0" bIns="0" rtlCol="0" anchor="t"/>
          <a:lstStyle/>
          <a:p>
            <a:pPr indent="0" marL="0">
              <a:buNone/>
            </a:pPr>
            <a:r>
              <a:rPr lang="en-US" sz="1200" dirty="0">
                <a:solidFill>
                  <a:srgbClr val="ECE9E2"/>
                </a:solidFill>
                <a:latin typeface="Courier New" pitchFamily="34" charset="0"/>
                <a:ea typeface="Courier New" pitchFamily="34" charset="-122"/>
                <a:cs typeface="Courier New" pitchFamily="34" charset="-120"/>
              </a:rPr>
              <a:t>kočka</a:t>
            </a:r>
            <a:endParaRPr lang="en-US" sz="1200" dirty="0"/>
          </a:p>
        </p:txBody>
      </p:sp>
      <p:sp>
        <p:nvSpPr>
          <p:cNvPr id="24" name="Shape 22"/>
          <p:cNvSpPr/>
          <p:nvPr/>
        </p:nvSpPr>
        <p:spPr>
          <a:xfrm>
            <a:off x="9464040" y="2834640"/>
            <a:ext cx="118872" cy="118872"/>
          </a:xfrm>
          <a:prstGeom prst="ellipse">
            <a:avLst/>
          </a:prstGeom>
          <a:solidFill>
            <a:srgbClr val="FF9F1C"/>
          </a:solidFill>
          <a:ln/>
        </p:spPr>
      </p:sp>
      <p:sp>
        <p:nvSpPr>
          <p:cNvPr id="25" name="Text 23"/>
          <p:cNvSpPr txBox="1"/>
          <p:nvPr/>
        </p:nvSpPr>
        <p:spPr>
          <a:xfrm>
            <a:off x="9628632" y="2743200"/>
            <a:ext cx="1188720" cy="274320"/>
          </a:xfrm>
          <a:prstGeom prst="rect">
            <a:avLst/>
          </a:prstGeom>
          <a:noFill/>
          <a:ln/>
        </p:spPr>
        <p:txBody>
          <a:bodyPr wrap="square" lIns="0" tIns="0" rIns="0" bIns="0" rtlCol="0" anchor="t"/>
          <a:lstStyle/>
          <a:p>
            <a:pPr indent="0" marL="0">
              <a:buNone/>
            </a:pPr>
            <a:r>
              <a:rPr lang="en-US" sz="1200" dirty="0">
                <a:solidFill>
                  <a:srgbClr val="ECE9E2"/>
                </a:solidFill>
                <a:latin typeface="Courier New" pitchFamily="34" charset="0"/>
                <a:ea typeface="Courier New" pitchFamily="34" charset="-122"/>
                <a:cs typeface="Courier New" pitchFamily="34" charset="-120"/>
              </a:rPr>
              <a:t>pes</a:t>
            </a:r>
            <a:endParaRPr lang="en-US" sz="1200" dirty="0"/>
          </a:p>
        </p:txBody>
      </p:sp>
      <p:sp>
        <p:nvSpPr>
          <p:cNvPr id="26" name="Shape 24"/>
          <p:cNvSpPr/>
          <p:nvPr/>
        </p:nvSpPr>
        <p:spPr>
          <a:xfrm>
            <a:off x="9098280" y="3063240"/>
            <a:ext cx="118872" cy="118872"/>
          </a:xfrm>
          <a:prstGeom prst="ellipse">
            <a:avLst/>
          </a:prstGeom>
          <a:solidFill>
            <a:srgbClr val="FF9F1C"/>
          </a:solidFill>
          <a:ln/>
        </p:spPr>
      </p:sp>
      <p:sp>
        <p:nvSpPr>
          <p:cNvPr id="27" name="Text 25"/>
          <p:cNvSpPr txBox="1"/>
          <p:nvPr/>
        </p:nvSpPr>
        <p:spPr>
          <a:xfrm>
            <a:off x="9262872" y="2971800"/>
            <a:ext cx="1188720" cy="274320"/>
          </a:xfrm>
          <a:prstGeom prst="rect">
            <a:avLst/>
          </a:prstGeom>
          <a:noFill/>
          <a:ln/>
        </p:spPr>
        <p:txBody>
          <a:bodyPr wrap="square" lIns="0" tIns="0" rIns="0" bIns="0" rtlCol="0" anchor="t"/>
          <a:lstStyle/>
          <a:p>
            <a:pPr indent="0" marL="0">
              <a:buNone/>
            </a:pPr>
            <a:r>
              <a:rPr lang="en-US" sz="1200" dirty="0">
                <a:solidFill>
                  <a:srgbClr val="ECE9E2"/>
                </a:solidFill>
                <a:latin typeface="Courier New" pitchFamily="34" charset="0"/>
                <a:ea typeface="Courier New" pitchFamily="34" charset="-122"/>
                <a:cs typeface="Courier New" pitchFamily="34" charset="-120"/>
              </a:rPr>
              <a:t>kotě</a:t>
            </a:r>
            <a:endParaRPr lang="en-US" sz="1200" dirty="0"/>
          </a:p>
        </p:txBody>
      </p:sp>
      <p:sp>
        <p:nvSpPr>
          <p:cNvPr id="28" name="Shape 26"/>
          <p:cNvSpPr/>
          <p:nvPr/>
        </p:nvSpPr>
        <p:spPr>
          <a:xfrm>
            <a:off x="10241280" y="4023360"/>
            <a:ext cx="118872" cy="118872"/>
          </a:xfrm>
          <a:prstGeom prst="ellipse">
            <a:avLst/>
          </a:prstGeom>
          <a:solidFill>
            <a:srgbClr val="FF9F1C"/>
          </a:solidFill>
          <a:ln/>
        </p:spPr>
      </p:sp>
      <p:sp>
        <p:nvSpPr>
          <p:cNvPr id="29" name="Text 27"/>
          <p:cNvSpPr txBox="1"/>
          <p:nvPr/>
        </p:nvSpPr>
        <p:spPr>
          <a:xfrm>
            <a:off x="10405872" y="3931920"/>
            <a:ext cx="1188720" cy="274320"/>
          </a:xfrm>
          <a:prstGeom prst="rect">
            <a:avLst/>
          </a:prstGeom>
          <a:noFill/>
          <a:ln/>
        </p:spPr>
        <p:txBody>
          <a:bodyPr wrap="square" lIns="0" tIns="0" rIns="0" bIns="0" rtlCol="0" anchor="t"/>
          <a:lstStyle/>
          <a:p>
            <a:pPr indent="0" marL="0">
              <a:buNone/>
            </a:pPr>
            <a:r>
              <a:rPr lang="en-US" sz="1200" dirty="0">
                <a:solidFill>
                  <a:srgbClr val="ECE9E2"/>
                </a:solidFill>
                <a:latin typeface="Courier New" pitchFamily="34" charset="0"/>
                <a:ea typeface="Courier New" pitchFamily="34" charset="-122"/>
                <a:cs typeface="Courier New" pitchFamily="34" charset="-120"/>
              </a:rPr>
              <a:t>střecha</a:t>
            </a:r>
            <a:endParaRPr lang="en-US" sz="1200" dirty="0"/>
          </a:p>
        </p:txBody>
      </p:sp>
      <p:sp>
        <p:nvSpPr>
          <p:cNvPr id="30" name="Shape 28"/>
          <p:cNvSpPr/>
          <p:nvPr/>
        </p:nvSpPr>
        <p:spPr>
          <a:xfrm>
            <a:off x="10515600" y="4434840"/>
            <a:ext cx="118872" cy="118872"/>
          </a:xfrm>
          <a:prstGeom prst="ellipse">
            <a:avLst/>
          </a:prstGeom>
          <a:solidFill>
            <a:srgbClr val="FF9F1C"/>
          </a:solidFill>
          <a:ln/>
        </p:spPr>
      </p:sp>
      <p:sp>
        <p:nvSpPr>
          <p:cNvPr id="31" name="Text 29"/>
          <p:cNvSpPr txBox="1"/>
          <p:nvPr/>
        </p:nvSpPr>
        <p:spPr>
          <a:xfrm>
            <a:off x="10680192" y="4343400"/>
            <a:ext cx="1188720" cy="274320"/>
          </a:xfrm>
          <a:prstGeom prst="rect">
            <a:avLst/>
          </a:prstGeom>
          <a:noFill/>
          <a:ln/>
        </p:spPr>
        <p:txBody>
          <a:bodyPr wrap="square" lIns="0" tIns="0" rIns="0" bIns="0" rtlCol="0" anchor="t"/>
          <a:lstStyle/>
          <a:p>
            <a:pPr indent="0" marL="0">
              <a:buNone/>
            </a:pPr>
            <a:r>
              <a:rPr lang="en-US" sz="1200" dirty="0">
                <a:solidFill>
                  <a:srgbClr val="ECE9E2"/>
                </a:solidFill>
                <a:latin typeface="Courier New" pitchFamily="34" charset="0"/>
                <a:ea typeface="Courier New" pitchFamily="34" charset="-122"/>
                <a:cs typeface="Courier New" pitchFamily="34" charset="-120"/>
              </a:rPr>
              <a:t>okap</a:t>
            </a:r>
            <a:endParaRPr lang="en-US" sz="1200" dirty="0"/>
          </a:p>
        </p:txBody>
      </p:sp>
      <p:sp>
        <p:nvSpPr>
          <p:cNvPr id="32" name="Text 30"/>
          <p:cNvSpPr txBox="1"/>
          <p:nvPr/>
        </p:nvSpPr>
        <p:spPr>
          <a:xfrm>
            <a:off x="8595360" y="5074920"/>
            <a:ext cx="3108960" cy="274320"/>
          </a:xfrm>
          <a:prstGeom prst="rect">
            <a:avLst/>
          </a:prstGeom>
          <a:noFill/>
          <a:ln/>
        </p:spPr>
        <p:txBody>
          <a:bodyPr wrap="square" lIns="0" tIns="0" rIns="0" bIns="0" rtlCol="0" anchor="t"/>
          <a:lstStyle/>
          <a:p>
            <a:pPr indent="0" marL="0">
              <a:buNone/>
            </a:pPr>
            <a:r>
              <a:rPr lang="en-US" sz="1500" dirty="0">
                <a:solidFill>
                  <a:srgbClr val="8A8F98"/>
                </a:solidFill>
                <a:latin typeface="Courier New" pitchFamily="34" charset="0"/>
                <a:ea typeface="Courier New" pitchFamily="34" charset="-122"/>
                <a:cs typeface="Courier New" pitchFamily="34" charset="-120"/>
              </a:rPr>
              <a:t>schéma, ne měření</a:t>
            </a:r>
            <a:endParaRPr lang="en-US" sz="15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05 · ATTENTION</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Na co se mám dívat?</a:t>
            </a:r>
            <a:endParaRPr lang="en-US" sz="3600" dirty="0"/>
          </a:p>
        </p:txBody>
      </p:sp>
      <p:sp>
        <p:nvSpPr>
          <p:cNvPr id="4" name="Text 2"/>
          <p:cNvSpPr/>
          <p:nvPr/>
        </p:nvSpPr>
        <p:spPr>
          <a:xfrm>
            <a:off x="685800" y="2468880"/>
            <a:ext cx="1267968" cy="648208"/>
          </a:xfrm>
          <a:prstGeom prst="rect">
            <a:avLst/>
          </a:prstGeom>
          <a:solidFill>
            <a:srgbClr val="FF9F1C"/>
          </a:solidFill>
          <a:ln w="12700">
            <a:solidFill>
              <a:srgbClr val="FF9F1C"/>
            </a:solidFill>
            <a:prstDash val="solid"/>
          </a:ln>
        </p:spPr>
        <p:txBody>
          <a:bodyPr wrap="square" lIns="0" tIns="0" rIns="0" bIns="0" rtlCol="0" anchor="ctr"/>
          <a:lstStyle/>
          <a:p>
            <a:pPr algn="ctr" indent="0" marL="0">
              <a:buNone/>
            </a:pPr>
            <a:r>
              <a:rPr lang="en-US" sz="2800" dirty="0">
                <a:solidFill>
                  <a:srgbClr val="0A0B0D"/>
                </a:solidFill>
                <a:latin typeface="Courier New" pitchFamily="34" charset="0"/>
                <a:ea typeface="Courier New" pitchFamily="34" charset="-122"/>
                <a:cs typeface="Courier New" pitchFamily="34" charset="-120"/>
              </a:rPr>
              <a:t>Kočka</a:t>
            </a:r>
            <a:endParaRPr lang="en-US" sz="2800" dirty="0"/>
          </a:p>
        </p:txBody>
      </p:sp>
      <p:sp>
        <p:nvSpPr>
          <p:cNvPr id="5" name="Text 3"/>
          <p:cNvSpPr/>
          <p:nvPr/>
        </p:nvSpPr>
        <p:spPr>
          <a:xfrm>
            <a:off x="2081784" y="2468880"/>
            <a:ext cx="1694688" cy="648208"/>
          </a:xfrm>
          <a:prstGeom prst="rect">
            <a:avLst/>
          </a:prstGeom>
          <a:solidFill>
            <a:srgbClr val="FF9F1C">
              <a:alpha val="45000"/>
            </a:srgbClr>
          </a:solidFill>
          <a:ln w="12700">
            <a:solidFill>
              <a:srgbClr val="FF9F1C"/>
            </a:solidFill>
            <a:prstDash val="solid"/>
          </a:ln>
        </p:spPr>
        <p:txBody>
          <a:bodyPr wrap="square" lIns="0" tIns="0" rIns="0" bIns="0" rtlCol="0" anchor="ctr"/>
          <a:lstStyle/>
          <a:p>
            <a:pPr algn="ctr" indent="0" marL="0">
              <a:buNone/>
            </a:pPr>
            <a:r>
              <a:rPr lang="en-US" sz="2800" dirty="0">
                <a:solidFill>
                  <a:srgbClr val="ECE9E2"/>
                </a:solidFill>
                <a:latin typeface="Courier New" pitchFamily="34" charset="0"/>
                <a:ea typeface="Courier New" pitchFamily="34" charset="-122"/>
                <a:cs typeface="Courier New" pitchFamily="34" charset="-120"/>
              </a:rPr>
              <a:t>·honila</a:t>
            </a:r>
            <a:endParaRPr lang="en-US" sz="2800" dirty="0"/>
          </a:p>
        </p:txBody>
      </p:sp>
      <p:sp>
        <p:nvSpPr>
          <p:cNvPr id="6" name="Text 4"/>
          <p:cNvSpPr/>
          <p:nvPr/>
        </p:nvSpPr>
        <p:spPr>
          <a:xfrm>
            <a:off x="3904488" y="2468880"/>
            <a:ext cx="1054608" cy="648208"/>
          </a:xfrm>
          <a:prstGeom prst="rect">
            <a:avLst/>
          </a:prstGeom>
          <a:solidFill>
            <a:srgbClr val="FF9F1C">
              <a:alpha val="55000"/>
            </a:srgbClr>
          </a:solidFill>
          <a:ln w="12700">
            <a:solidFill>
              <a:srgbClr val="FF9F1C"/>
            </a:solidFill>
            <a:prstDash val="solid"/>
          </a:ln>
        </p:spPr>
        <p:txBody>
          <a:bodyPr wrap="square" lIns="0" tIns="0" rIns="0" bIns="0" rtlCol="0" anchor="ctr"/>
          <a:lstStyle/>
          <a:p>
            <a:pPr algn="ctr" indent="0" marL="0">
              <a:buNone/>
            </a:pPr>
            <a:r>
              <a:rPr lang="en-US" sz="2800" dirty="0">
                <a:solidFill>
                  <a:srgbClr val="ECE9E2"/>
                </a:solidFill>
                <a:latin typeface="Courier New" pitchFamily="34" charset="0"/>
                <a:ea typeface="Courier New" pitchFamily="34" charset="-122"/>
                <a:cs typeface="Courier New" pitchFamily="34" charset="-120"/>
              </a:rPr>
              <a:t>·myš</a:t>
            </a:r>
            <a:endParaRPr lang="en-US" sz="2800" dirty="0"/>
          </a:p>
        </p:txBody>
      </p:sp>
      <p:sp>
        <p:nvSpPr>
          <p:cNvPr id="7" name="Text 5"/>
          <p:cNvSpPr/>
          <p:nvPr/>
        </p:nvSpPr>
        <p:spPr>
          <a:xfrm>
            <a:off x="5087112" y="2468880"/>
            <a:ext cx="414528" cy="648208"/>
          </a:xfrm>
          <a:prstGeom prst="rect">
            <a:avLst/>
          </a:prstGeom>
          <a:solidFill>
            <a:srgbClr val="FF9F1C">
              <a:alpha val="10000"/>
            </a:srgbClr>
          </a:solidFill>
          <a:ln w="12700">
            <a:solidFill>
              <a:srgbClr val="FF9F1C"/>
            </a:solidFill>
            <a:prstDash val="solid"/>
          </a:ln>
        </p:spPr>
        <p:txBody>
          <a:bodyPr wrap="square" lIns="0" tIns="0" rIns="0" bIns="0" rtlCol="0" anchor="ctr"/>
          <a:lstStyle/>
          <a:p>
            <a:pPr algn="ctr" indent="0" marL="0">
              <a:buNone/>
            </a:pPr>
            <a:r>
              <a:rPr lang="en-US" sz="2800" dirty="0">
                <a:solidFill>
                  <a:srgbClr val="ECE9E2"/>
                </a:solidFill>
                <a:latin typeface="Courier New" pitchFamily="34" charset="0"/>
                <a:ea typeface="Courier New" pitchFamily="34" charset="-122"/>
                <a:cs typeface="Courier New" pitchFamily="34" charset="-120"/>
              </a:rPr>
              <a:t>,</a:t>
            </a:r>
            <a:endParaRPr lang="en-US" sz="2800" dirty="0"/>
          </a:p>
        </p:txBody>
      </p:sp>
      <p:sp>
        <p:nvSpPr>
          <p:cNvPr id="8" name="Text 6"/>
          <p:cNvSpPr/>
          <p:nvPr/>
        </p:nvSpPr>
        <p:spPr>
          <a:xfrm>
            <a:off x="5629656" y="2468880"/>
            <a:ext cx="1908048" cy="648208"/>
          </a:xfrm>
          <a:prstGeom prst="rect">
            <a:avLst/>
          </a:prstGeom>
          <a:solidFill>
            <a:srgbClr val="FF9F1C">
              <a:alpha val="25000"/>
            </a:srgbClr>
          </a:solidFill>
          <a:ln w="12700">
            <a:solidFill>
              <a:srgbClr val="FF9F1C"/>
            </a:solidFill>
            <a:prstDash val="solid"/>
          </a:ln>
        </p:spPr>
        <p:txBody>
          <a:bodyPr wrap="square" lIns="0" tIns="0" rIns="0" bIns="0" rtlCol="0" anchor="ctr"/>
          <a:lstStyle/>
          <a:p>
            <a:pPr algn="ctr" indent="0" marL="0">
              <a:buNone/>
            </a:pPr>
            <a:r>
              <a:rPr lang="en-US" sz="2800" dirty="0">
                <a:solidFill>
                  <a:srgbClr val="ECE9E2"/>
                </a:solidFill>
                <a:latin typeface="Courier New" pitchFamily="34" charset="0"/>
                <a:ea typeface="Courier New" pitchFamily="34" charset="-122"/>
                <a:cs typeface="Courier New" pitchFamily="34" charset="-120"/>
              </a:rPr>
              <a:t>·protože</a:t>
            </a:r>
            <a:endParaRPr lang="en-US" sz="2800" dirty="0"/>
          </a:p>
        </p:txBody>
      </p:sp>
      <p:sp>
        <p:nvSpPr>
          <p:cNvPr id="9" name="Text 7"/>
          <p:cNvSpPr/>
          <p:nvPr/>
        </p:nvSpPr>
        <p:spPr>
          <a:xfrm>
            <a:off x="7665720" y="2468880"/>
            <a:ext cx="1267968" cy="648208"/>
          </a:xfrm>
          <a:prstGeom prst="rect">
            <a:avLst/>
          </a:prstGeom>
          <a:solidFill>
            <a:srgbClr val="FF9F1C">
              <a:alpha val="40000"/>
            </a:srgbClr>
          </a:solidFill>
          <a:ln w="12700">
            <a:solidFill>
              <a:srgbClr val="FF9F1C"/>
            </a:solidFill>
            <a:prstDash val="solid"/>
          </a:ln>
        </p:spPr>
        <p:txBody>
          <a:bodyPr wrap="square" lIns="0" tIns="0" rIns="0" bIns="0" rtlCol="0" anchor="ctr"/>
          <a:lstStyle/>
          <a:p>
            <a:pPr algn="ctr" indent="0" marL="0">
              <a:buNone/>
            </a:pPr>
            <a:r>
              <a:rPr lang="en-US" sz="2800" dirty="0">
                <a:solidFill>
                  <a:srgbClr val="ECE9E2"/>
                </a:solidFill>
                <a:latin typeface="Courier New" pitchFamily="34" charset="0"/>
                <a:ea typeface="Courier New" pitchFamily="34" charset="-122"/>
                <a:cs typeface="Courier New" pitchFamily="34" charset="-120"/>
              </a:rPr>
              <a:t>·měla</a:t>
            </a:r>
            <a:endParaRPr lang="en-US" sz="2800" dirty="0"/>
          </a:p>
        </p:txBody>
      </p:sp>
      <p:sp>
        <p:nvSpPr>
          <p:cNvPr id="10" name="Text 8"/>
          <p:cNvSpPr/>
          <p:nvPr/>
        </p:nvSpPr>
        <p:spPr>
          <a:xfrm>
            <a:off x="9061704" y="2468880"/>
            <a:ext cx="1267968" cy="648208"/>
          </a:xfrm>
          <a:prstGeom prst="rect">
            <a:avLst/>
          </a:prstGeom>
          <a:solidFill>
            <a:srgbClr val="0A0B0D"/>
          </a:solidFill>
          <a:ln w="12700">
            <a:solidFill>
              <a:srgbClr val="2E333B"/>
            </a:solidFill>
            <a:prstDash val="dash"/>
          </a:ln>
        </p:spPr>
        <p:txBody>
          <a:bodyPr wrap="square" lIns="0" tIns="0" rIns="0" bIns="0" rtlCol="0" anchor="ctr"/>
          <a:lstStyle/>
          <a:p>
            <a:pPr algn="ctr" indent="0" marL="0">
              <a:buNone/>
            </a:pPr>
            <a:r>
              <a:rPr lang="en-US" sz="2800" dirty="0">
                <a:solidFill>
                  <a:srgbClr val="2E333B"/>
                </a:solidFill>
                <a:latin typeface="Courier New" pitchFamily="34" charset="0"/>
                <a:ea typeface="Courier New" pitchFamily="34" charset="-122"/>
                <a:cs typeface="Courier New" pitchFamily="34" charset="-120"/>
              </a:rPr>
              <a:t>·hlad</a:t>
            </a:r>
            <a:endParaRPr lang="en-US" sz="2800" dirty="0"/>
          </a:p>
        </p:txBody>
      </p:sp>
      <p:sp>
        <p:nvSpPr>
          <p:cNvPr id="11" name="Text 9"/>
          <p:cNvSpPr/>
          <p:nvPr/>
        </p:nvSpPr>
        <p:spPr>
          <a:xfrm>
            <a:off x="10457688" y="2468880"/>
            <a:ext cx="414528" cy="648208"/>
          </a:xfrm>
          <a:prstGeom prst="rect">
            <a:avLst/>
          </a:prstGeom>
          <a:solidFill>
            <a:srgbClr val="0A0B0D"/>
          </a:solidFill>
          <a:ln w="12700">
            <a:solidFill>
              <a:srgbClr val="2E333B"/>
            </a:solidFill>
            <a:prstDash val="dash"/>
          </a:ln>
        </p:spPr>
        <p:txBody>
          <a:bodyPr wrap="square" lIns="0" tIns="0" rIns="0" bIns="0" rtlCol="0" anchor="ctr"/>
          <a:lstStyle/>
          <a:p>
            <a:pPr algn="ctr" indent="0" marL="0">
              <a:buNone/>
            </a:pPr>
            <a:r>
              <a:rPr lang="en-US" sz="2800" dirty="0">
                <a:solidFill>
                  <a:srgbClr val="2E333B"/>
                </a:solidFill>
                <a:latin typeface="Courier New" pitchFamily="34" charset="0"/>
                <a:ea typeface="Courier New" pitchFamily="34" charset="-122"/>
                <a:cs typeface="Courier New" pitchFamily="34" charset="-120"/>
              </a:rPr>
              <a:t>.</a:t>
            </a:r>
            <a:endParaRPr lang="en-US" sz="2800" dirty="0"/>
          </a:p>
        </p:txBody>
      </p:sp>
      <p:sp>
        <p:nvSpPr>
          <p:cNvPr id="12" name="Shape 10"/>
          <p:cNvSpPr/>
          <p:nvPr/>
        </p:nvSpPr>
        <p:spPr>
          <a:xfrm>
            <a:off x="7610856" y="2414016"/>
            <a:ext cx="1377696" cy="749808"/>
          </a:xfrm>
          <a:prstGeom prst="rect">
            <a:avLst/>
          </a:prstGeom>
          <a:ln w="31750">
            <a:solidFill>
              <a:srgbClr val="ECE9E2"/>
            </a:solidFill>
            <a:prstDash val="solid"/>
          </a:ln>
        </p:spPr>
      </p:sp>
      <p:sp>
        <p:nvSpPr>
          <p:cNvPr id="13" name="Text 11"/>
          <p:cNvSpPr txBox="1"/>
          <p:nvPr/>
        </p:nvSpPr>
        <p:spPr>
          <a:xfrm>
            <a:off x="7610856" y="3291840"/>
            <a:ext cx="3291840" cy="320040"/>
          </a:xfrm>
          <a:prstGeom prst="rect">
            <a:avLst/>
          </a:prstGeom>
          <a:noFill/>
          <a:ln/>
        </p:spPr>
        <p:txBody>
          <a:bodyPr wrap="square" lIns="0" tIns="0" rIns="0" bIns="0" rtlCol="0" anchor="t"/>
          <a:lstStyle/>
          <a:p>
            <a:pPr indent="0" marL="0">
              <a:buNone/>
            </a:pPr>
            <a:r>
              <a:rPr lang="en-US" sz="1400" dirty="0">
                <a:solidFill>
                  <a:srgbClr val="ECE9E2"/>
                </a:solidFill>
                <a:latin typeface="Courier New" pitchFamily="34" charset="0"/>
                <a:ea typeface="Courier New" pitchFamily="34" charset="-122"/>
                <a:cs typeface="Courier New" pitchFamily="34" charset="-120"/>
              </a:rPr>
              <a:t>▲ teď zpracovávám tohle</a:t>
            </a:r>
            <a:endParaRPr lang="en-US" sz="1400" dirty="0"/>
          </a:p>
        </p:txBody>
      </p:sp>
      <p:sp>
        <p:nvSpPr>
          <p:cNvPr id="14" name="Text 12"/>
          <p:cNvSpPr txBox="1"/>
          <p:nvPr/>
        </p:nvSpPr>
        <p:spPr>
          <a:xfrm>
            <a:off x="9064752" y="2057400"/>
            <a:ext cx="2743200" cy="320040"/>
          </a:xfrm>
          <a:prstGeom prst="rect">
            <a:avLst/>
          </a:prstGeom>
          <a:noFill/>
          <a:ln/>
        </p:spPr>
        <p:txBody>
          <a:bodyPr wrap="square" lIns="0" tIns="0" rIns="0" bIns="0" rtlCol="0" anchor="t"/>
          <a:lstStyle/>
          <a:p>
            <a:pPr indent="0" marL="0">
              <a:buNone/>
            </a:pPr>
            <a:r>
              <a:rPr lang="en-US" sz="1400" dirty="0">
                <a:solidFill>
                  <a:srgbClr val="8A8F98"/>
                </a:solidFill>
                <a:latin typeface="Courier New" pitchFamily="34" charset="0"/>
                <a:ea typeface="Courier New" pitchFamily="34" charset="-122"/>
                <a:cs typeface="Courier New" pitchFamily="34" charset="-120"/>
              </a:rPr>
              <a:t>budoucnost: nevidí</a:t>
            </a:r>
            <a:endParaRPr lang="en-US" sz="1400" dirty="0"/>
          </a:p>
        </p:txBody>
      </p:sp>
      <p:sp>
        <p:nvSpPr>
          <p:cNvPr id="15" name="Text 13"/>
          <p:cNvSpPr txBox="1"/>
          <p:nvPr/>
        </p:nvSpPr>
        <p:spPr>
          <a:xfrm>
            <a:off x="685800" y="4206240"/>
            <a:ext cx="10515600" cy="822960"/>
          </a:xfrm>
          <a:prstGeom prst="rect">
            <a:avLst/>
          </a:prstGeom>
          <a:noFill/>
          <a:ln/>
        </p:spPr>
        <p:txBody>
          <a:bodyPr wrap="square" lIns="0" tIns="0" rIns="0" bIns="0" rtlCol="0" anchor="t"/>
          <a:lstStyle/>
          <a:p>
            <a:pPr indent="0" marL="0">
              <a:buNone/>
            </a:pPr>
            <a:r>
              <a:rPr lang="en-US" sz="2600" dirty="0">
                <a:solidFill>
                  <a:srgbClr val="ECE9E2"/>
                </a:solidFill>
                <a:latin typeface="Arial" pitchFamily="34" charset="0"/>
                <a:ea typeface="Arial" pitchFamily="34" charset="-122"/>
                <a:cs typeface="Arial" pitchFamily="34" charset="-120"/>
              </a:rPr>
              <a:t>Když zpracovávám tento token, které části kontextu jsou pro něj důležité?</a:t>
            </a:r>
            <a:endParaRPr lang="en-US" sz="2600" dirty="0"/>
          </a:p>
        </p:txBody>
      </p:sp>
      <p:sp>
        <p:nvSpPr>
          <p:cNvPr id="16" name="Text 14"/>
          <p:cNvSpPr txBox="1"/>
          <p:nvPr/>
        </p:nvSpPr>
        <p:spPr>
          <a:xfrm>
            <a:off x="685800" y="5257800"/>
            <a:ext cx="10789920" cy="320040"/>
          </a:xfrm>
          <a:prstGeom prst="rect">
            <a:avLst/>
          </a:prstGeom>
          <a:noFill/>
          <a:ln/>
        </p:spPr>
        <p:txBody>
          <a:bodyPr wrap="square" lIns="0" tIns="0" rIns="0" bIns="0" rtlCol="0" anchor="t"/>
          <a:lstStyle/>
          <a:p>
            <a:pPr indent="0" marL="0">
              <a:buNone/>
            </a:pPr>
            <a:r>
              <a:rPr lang="en-US" sz="1500" dirty="0">
                <a:solidFill>
                  <a:srgbClr val="8A8F98"/>
                </a:solidFill>
                <a:latin typeface="Courier New" pitchFamily="34" charset="0"/>
                <a:ea typeface="Courier New" pitchFamily="34" charset="-122"/>
                <a:cs typeface="Courier New" pitchFamily="34" charset="-120"/>
              </a:rPr>
              <a:t>sytost = váha attention · schéma, ne změřené váhy · zjednodušeno: slova místo tokenů</a:t>
            </a:r>
            <a:endParaRPr lang="en-US" sz="15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06 · TRANSFORMER</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Opakuj. Hodněkrát.</a:t>
            </a:r>
            <a:endParaRPr lang="en-US" sz="3600" dirty="0"/>
          </a:p>
        </p:txBody>
      </p:sp>
      <p:sp>
        <p:nvSpPr>
          <p:cNvPr id="4" name="Text 2"/>
          <p:cNvSpPr/>
          <p:nvPr/>
        </p:nvSpPr>
        <p:spPr>
          <a:xfrm>
            <a:off x="914400" y="1783080"/>
            <a:ext cx="4206240" cy="50292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500" dirty="0">
                <a:solidFill>
                  <a:srgbClr val="ECE9E2"/>
                </a:solidFill>
                <a:latin typeface="Courier New" pitchFamily="34" charset="0"/>
                <a:ea typeface="Courier New" pitchFamily="34" charset="-122"/>
                <a:cs typeface="Courier New" pitchFamily="34" charset="-120"/>
              </a:rPr>
              <a:t>tokeny + pozice → vektory</a:t>
            </a:r>
            <a:endParaRPr lang="en-US" sz="1500" dirty="0"/>
          </a:p>
        </p:txBody>
      </p:sp>
      <p:sp>
        <p:nvSpPr>
          <p:cNvPr id="5" name="Shape 3"/>
          <p:cNvSpPr/>
          <p:nvPr/>
        </p:nvSpPr>
        <p:spPr>
          <a:xfrm>
            <a:off x="914400" y="2514600"/>
            <a:ext cx="4206240" cy="621792"/>
          </a:xfrm>
          <a:prstGeom prst="rect">
            <a:avLst/>
          </a:prstGeom>
          <a:solidFill>
            <a:srgbClr val="0A0B0D"/>
          </a:solidFill>
          <a:ln w="15875">
            <a:solidFill>
              <a:srgbClr val="ECE9E2"/>
            </a:solidFill>
            <a:prstDash val="solid"/>
          </a:ln>
        </p:spPr>
      </p:sp>
      <p:sp>
        <p:nvSpPr>
          <p:cNvPr id="6" name="Text 4"/>
          <p:cNvSpPr/>
          <p:nvPr/>
        </p:nvSpPr>
        <p:spPr>
          <a:xfrm>
            <a:off x="1051560" y="2606040"/>
            <a:ext cx="1874520" cy="438912"/>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500" dirty="0">
                <a:solidFill>
                  <a:srgbClr val="FF9F1C"/>
                </a:solidFill>
                <a:latin typeface="Courier New" pitchFamily="34" charset="0"/>
                <a:ea typeface="Courier New" pitchFamily="34" charset="-122"/>
                <a:cs typeface="Courier New" pitchFamily="34" charset="-120"/>
              </a:rPr>
              <a:t>attention</a:t>
            </a:r>
            <a:endParaRPr lang="en-US" sz="1500" dirty="0"/>
          </a:p>
        </p:txBody>
      </p:sp>
      <p:sp>
        <p:nvSpPr>
          <p:cNvPr id="7" name="Text 5"/>
          <p:cNvSpPr/>
          <p:nvPr/>
        </p:nvSpPr>
        <p:spPr>
          <a:xfrm>
            <a:off x="3108960" y="2606040"/>
            <a:ext cx="1874520" cy="438912"/>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500" dirty="0">
                <a:solidFill>
                  <a:srgbClr val="ECE9E2"/>
                </a:solidFill>
                <a:latin typeface="Courier New" pitchFamily="34" charset="0"/>
                <a:ea typeface="Courier New" pitchFamily="34" charset="-122"/>
                <a:cs typeface="Courier New" pitchFamily="34" charset="-120"/>
              </a:rPr>
              <a:t>MLP</a:t>
            </a:r>
            <a:endParaRPr lang="en-US" sz="1500" dirty="0"/>
          </a:p>
        </p:txBody>
      </p:sp>
      <p:sp>
        <p:nvSpPr>
          <p:cNvPr id="8" name="Shape 6"/>
          <p:cNvSpPr/>
          <p:nvPr/>
        </p:nvSpPr>
        <p:spPr>
          <a:xfrm>
            <a:off x="2926080" y="2825496"/>
            <a:ext cx="182880" cy="0"/>
          </a:xfrm>
          <a:prstGeom prst="line">
            <a:avLst/>
          </a:prstGeom>
          <a:noFill/>
          <a:ln w="12700">
            <a:solidFill>
              <a:srgbClr val="8A8F98"/>
            </a:solidFill>
            <a:prstDash val="solid"/>
            <a:tailEnd type="triangle"/>
          </a:ln>
        </p:spPr>
      </p:sp>
      <p:sp>
        <p:nvSpPr>
          <p:cNvPr id="9" name="Shape 7"/>
          <p:cNvSpPr/>
          <p:nvPr/>
        </p:nvSpPr>
        <p:spPr>
          <a:xfrm>
            <a:off x="3017520" y="2286000"/>
            <a:ext cx="0" cy="228600"/>
          </a:xfrm>
          <a:prstGeom prst="line">
            <a:avLst/>
          </a:prstGeom>
          <a:noFill/>
          <a:ln w="12700">
            <a:solidFill>
              <a:srgbClr val="8A8F98"/>
            </a:solidFill>
            <a:prstDash val="solid"/>
            <a:tailEnd type="triangle"/>
          </a:ln>
        </p:spPr>
      </p:sp>
      <p:sp>
        <p:nvSpPr>
          <p:cNvPr id="10" name="Shape 8"/>
          <p:cNvSpPr/>
          <p:nvPr/>
        </p:nvSpPr>
        <p:spPr>
          <a:xfrm>
            <a:off x="914400" y="3291840"/>
            <a:ext cx="4206240" cy="621792"/>
          </a:xfrm>
          <a:prstGeom prst="rect">
            <a:avLst/>
          </a:prstGeom>
          <a:solidFill>
            <a:srgbClr val="0A0B0D"/>
          </a:solidFill>
          <a:ln w="15875">
            <a:solidFill>
              <a:srgbClr val="ECE9E2"/>
            </a:solidFill>
            <a:prstDash val="solid"/>
          </a:ln>
        </p:spPr>
      </p:sp>
      <p:sp>
        <p:nvSpPr>
          <p:cNvPr id="11" name="Text 9"/>
          <p:cNvSpPr/>
          <p:nvPr/>
        </p:nvSpPr>
        <p:spPr>
          <a:xfrm>
            <a:off x="1051560" y="3383280"/>
            <a:ext cx="1874520" cy="438912"/>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500" dirty="0">
                <a:solidFill>
                  <a:srgbClr val="FF9F1C"/>
                </a:solidFill>
                <a:latin typeface="Courier New" pitchFamily="34" charset="0"/>
                <a:ea typeface="Courier New" pitchFamily="34" charset="-122"/>
                <a:cs typeface="Courier New" pitchFamily="34" charset="-120"/>
              </a:rPr>
              <a:t>attention</a:t>
            </a:r>
            <a:endParaRPr lang="en-US" sz="1500" dirty="0"/>
          </a:p>
        </p:txBody>
      </p:sp>
      <p:sp>
        <p:nvSpPr>
          <p:cNvPr id="12" name="Text 10"/>
          <p:cNvSpPr/>
          <p:nvPr/>
        </p:nvSpPr>
        <p:spPr>
          <a:xfrm>
            <a:off x="3108960" y="3383280"/>
            <a:ext cx="1874520" cy="438912"/>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500" dirty="0">
                <a:solidFill>
                  <a:srgbClr val="ECE9E2"/>
                </a:solidFill>
                <a:latin typeface="Courier New" pitchFamily="34" charset="0"/>
                <a:ea typeface="Courier New" pitchFamily="34" charset="-122"/>
                <a:cs typeface="Courier New" pitchFamily="34" charset="-120"/>
              </a:rPr>
              <a:t>MLP</a:t>
            </a:r>
            <a:endParaRPr lang="en-US" sz="1500" dirty="0"/>
          </a:p>
        </p:txBody>
      </p:sp>
      <p:sp>
        <p:nvSpPr>
          <p:cNvPr id="13" name="Shape 11"/>
          <p:cNvSpPr/>
          <p:nvPr/>
        </p:nvSpPr>
        <p:spPr>
          <a:xfrm>
            <a:off x="2926080" y="3602736"/>
            <a:ext cx="182880" cy="0"/>
          </a:xfrm>
          <a:prstGeom prst="line">
            <a:avLst/>
          </a:prstGeom>
          <a:noFill/>
          <a:ln w="12700">
            <a:solidFill>
              <a:srgbClr val="8A8F98"/>
            </a:solidFill>
            <a:prstDash val="solid"/>
            <a:tailEnd type="triangle"/>
          </a:ln>
        </p:spPr>
      </p:sp>
      <p:sp>
        <p:nvSpPr>
          <p:cNvPr id="14" name="Shape 12"/>
          <p:cNvSpPr/>
          <p:nvPr/>
        </p:nvSpPr>
        <p:spPr>
          <a:xfrm>
            <a:off x="3017520" y="3136392"/>
            <a:ext cx="0" cy="155448"/>
          </a:xfrm>
          <a:prstGeom prst="line">
            <a:avLst/>
          </a:prstGeom>
          <a:noFill/>
          <a:ln w="12700">
            <a:solidFill>
              <a:srgbClr val="8A8F98"/>
            </a:solidFill>
            <a:prstDash val="solid"/>
            <a:tailEnd type="triangle"/>
          </a:ln>
        </p:spPr>
      </p:sp>
      <p:sp>
        <p:nvSpPr>
          <p:cNvPr id="15" name="Shape 13"/>
          <p:cNvSpPr/>
          <p:nvPr/>
        </p:nvSpPr>
        <p:spPr>
          <a:xfrm>
            <a:off x="914400" y="4069080"/>
            <a:ext cx="4206240" cy="621792"/>
          </a:xfrm>
          <a:prstGeom prst="rect">
            <a:avLst/>
          </a:prstGeom>
          <a:solidFill>
            <a:srgbClr val="0A0B0D"/>
          </a:solidFill>
          <a:ln w="15875">
            <a:solidFill>
              <a:srgbClr val="ECE9E2"/>
            </a:solidFill>
            <a:prstDash val="solid"/>
          </a:ln>
        </p:spPr>
      </p:sp>
      <p:sp>
        <p:nvSpPr>
          <p:cNvPr id="16" name="Text 14"/>
          <p:cNvSpPr/>
          <p:nvPr/>
        </p:nvSpPr>
        <p:spPr>
          <a:xfrm>
            <a:off x="1051560" y="4160520"/>
            <a:ext cx="1874520" cy="438912"/>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500" dirty="0">
                <a:solidFill>
                  <a:srgbClr val="FF9F1C"/>
                </a:solidFill>
                <a:latin typeface="Courier New" pitchFamily="34" charset="0"/>
                <a:ea typeface="Courier New" pitchFamily="34" charset="-122"/>
                <a:cs typeface="Courier New" pitchFamily="34" charset="-120"/>
              </a:rPr>
              <a:t>attention</a:t>
            </a:r>
            <a:endParaRPr lang="en-US" sz="1500" dirty="0"/>
          </a:p>
        </p:txBody>
      </p:sp>
      <p:sp>
        <p:nvSpPr>
          <p:cNvPr id="17" name="Text 15"/>
          <p:cNvSpPr/>
          <p:nvPr/>
        </p:nvSpPr>
        <p:spPr>
          <a:xfrm>
            <a:off x="3108960" y="4160520"/>
            <a:ext cx="1874520" cy="438912"/>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500" dirty="0">
                <a:solidFill>
                  <a:srgbClr val="ECE9E2"/>
                </a:solidFill>
                <a:latin typeface="Courier New" pitchFamily="34" charset="0"/>
                <a:ea typeface="Courier New" pitchFamily="34" charset="-122"/>
                <a:cs typeface="Courier New" pitchFamily="34" charset="-120"/>
              </a:rPr>
              <a:t>MLP</a:t>
            </a:r>
            <a:endParaRPr lang="en-US" sz="1500" dirty="0"/>
          </a:p>
        </p:txBody>
      </p:sp>
      <p:sp>
        <p:nvSpPr>
          <p:cNvPr id="18" name="Shape 16"/>
          <p:cNvSpPr/>
          <p:nvPr/>
        </p:nvSpPr>
        <p:spPr>
          <a:xfrm>
            <a:off x="2926080" y="4379976"/>
            <a:ext cx="182880" cy="0"/>
          </a:xfrm>
          <a:prstGeom prst="line">
            <a:avLst/>
          </a:prstGeom>
          <a:noFill/>
          <a:ln w="12700">
            <a:solidFill>
              <a:srgbClr val="8A8F98"/>
            </a:solidFill>
            <a:prstDash val="solid"/>
            <a:tailEnd type="triangle"/>
          </a:ln>
        </p:spPr>
      </p:sp>
      <p:sp>
        <p:nvSpPr>
          <p:cNvPr id="19" name="Shape 17"/>
          <p:cNvSpPr/>
          <p:nvPr/>
        </p:nvSpPr>
        <p:spPr>
          <a:xfrm>
            <a:off x="3017520" y="3913632"/>
            <a:ext cx="0" cy="155448"/>
          </a:xfrm>
          <a:prstGeom prst="line">
            <a:avLst/>
          </a:prstGeom>
          <a:noFill/>
          <a:ln w="12700">
            <a:solidFill>
              <a:srgbClr val="8A8F98"/>
            </a:solidFill>
            <a:prstDash val="solid"/>
            <a:tailEnd type="triangle"/>
          </a:ln>
        </p:spPr>
      </p:sp>
      <p:sp>
        <p:nvSpPr>
          <p:cNvPr id="20" name="Shape 18"/>
          <p:cNvSpPr/>
          <p:nvPr/>
        </p:nvSpPr>
        <p:spPr>
          <a:xfrm>
            <a:off x="3017520" y="4572000"/>
            <a:ext cx="0" cy="365760"/>
          </a:xfrm>
          <a:prstGeom prst="line">
            <a:avLst/>
          </a:prstGeom>
          <a:noFill/>
          <a:ln w="12700">
            <a:solidFill>
              <a:srgbClr val="8A8F98"/>
            </a:solidFill>
            <a:prstDash val="solid"/>
            <a:tailEnd type="triangle"/>
          </a:ln>
        </p:spPr>
      </p:sp>
      <p:sp>
        <p:nvSpPr>
          <p:cNvPr id="21" name="Text 19"/>
          <p:cNvSpPr txBox="1"/>
          <p:nvPr/>
        </p:nvSpPr>
        <p:spPr>
          <a:xfrm>
            <a:off x="5303520" y="3017520"/>
            <a:ext cx="2011680" cy="457200"/>
          </a:xfrm>
          <a:prstGeom prst="rect">
            <a:avLst/>
          </a:prstGeom>
          <a:noFill/>
          <a:ln/>
        </p:spPr>
        <p:txBody>
          <a:bodyPr wrap="square" lIns="0" tIns="0" rIns="0" bIns="0" rtlCol="0" anchor="t"/>
          <a:lstStyle/>
          <a:p>
            <a:pPr indent="0" marL="0">
              <a:buNone/>
            </a:pPr>
            <a:r>
              <a:rPr lang="en-US" sz="2000" b="1" dirty="0">
                <a:solidFill>
                  <a:srgbClr val="FF9F1C"/>
                </a:solidFill>
                <a:latin typeface="Courier New" pitchFamily="34" charset="0"/>
                <a:ea typeface="Courier New" pitchFamily="34" charset="-122"/>
                <a:cs typeface="Courier New" pitchFamily="34" charset="-120"/>
              </a:rPr>
              <a:t>× N vrstev</a:t>
            </a:r>
            <a:endParaRPr lang="en-US" sz="2000" dirty="0"/>
          </a:p>
        </p:txBody>
      </p:sp>
      <p:sp>
        <p:nvSpPr>
          <p:cNvPr id="22" name="Text 20"/>
          <p:cNvSpPr/>
          <p:nvPr/>
        </p:nvSpPr>
        <p:spPr>
          <a:xfrm>
            <a:off x="914400" y="4937760"/>
            <a:ext cx="4206240" cy="50292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500" dirty="0">
                <a:solidFill>
                  <a:srgbClr val="ECE9E2"/>
                </a:solidFill>
                <a:latin typeface="Courier New" pitchFamily="34" charset="0"/>
                <a:ea typeface="Courier New" pitchFamily="34" charset="-122"/>
                <a:cs typeface="Courier New" pitchFamily="34" charset="-120"/>
              </a:rPr>
              <a:t>logits</a:t>
            </a:r>
            <a:endParaRPr lang="en-US" sz="1500" dirty="0"/>
          </a:p>
        </p:txBody>
      </p:sp>
      <p:sp>
        <p:nvSpPr>
          <p:cNvPr id="23" name="Text 21"/>
          <p:cNvSpPr txBox="1"/>
          <p:nvPr/>
        </p:nvSpPr>
        <p:spPr>
          <a:xfrm>
            <a:off x="6949440" y="2011680"/>
            <a:ext cx="4572000" cy="1005840"/>
          </a:xfrm>
          <a:prstGeom prst="rect">
            <a:avLst/>
          </a:prstGeom>
          <a:noFill/>
          <a:ln/>
        </p:spPr>
        <p:txBody>
          <a:bodyPr wrap="square" lIns="0" tIns="0" rIns="0" bIns="0" rtlCol="0" anchor="t"/>
          <a:lstStyle/>
          <a:p>
            <a:pPr indent="0" marL="0">
              <a:buNone/>
            </a:pPr>
            <a:r>
              <a:rPr lang="en-US" sz="3000" b="1" dirty="0">
                <a:solidFill>
                  <a:srgbClr val="ECE9E2"/>
                </a:solidFill>
                <a:latin typeface="Arial" pitchFamily="34" charset="0"/>
                <a:ea typeface="Arial" pitchFamily="34" charset="-122"/>
                <a:cs typeface="Arial" pitchFamily="34" charset="-120"/>
              </a:rPr>
              <a:t>Žádná ručně napsaná tabulka odpovědí.</a:t>
            </a:r>
            <a:endParaRPr lang="en-US" sz="3000" dirty="0"/>
          </a:p>
        </p:txBody>
      </p:sp>
      <p:sp>
        <p:nvSpPr>
          <p:cNvPr id="24" name="Text 22"/>
          <p:cNvSpPr txBox="1"/>
          <p:nvPr/>
        </p:nvSpPr>
        <p:spPr>
          <a:xfrm>
            <a:off x="6949440" y="3931920"/>
            <a:ext cx="4572000" cy="822960"/>
          </a:xfrm>
          <a:prstGeom prst="rect">
            <a:avLst/>
          </a:prstGeom>
          <a:noFill/>
          <a:ln/>
        </p:spPr>
        <p:txBody>
          <a:bodyPr wrap="square" lIns="0" tIns="0" rIns="0" bIns="0" rtlCol="0" anchor="t"/>
          <a:lstStyle/>
          <a:p>
            <a:pPr indent="0" marL="0">
              <a:buNone/>
            </a:pPr>
            <a:r>
              <a:rPr lang="en-US" sz="2000" dirty="0">
                <a:solidFill>
                  <a:srgbClr val="8A8F98"/>
                </a:solidFill>
                <a:latin typeface="Arial" pitchFamily="34" charset="0"/>
                <a:ea typeface="Arial" pitchFamily="34" charset="-122"/>
                <a:cs typeface="Arial" pitchFamily="34" charset="-120"/>
              </a:rPr>
              <a:t>Architektura + miliardy naučených čísel — parametrů.</a:t>
            </a:r>
            <a:endParaRPr lang="en-US" sz="20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07 · VÝSTUP</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Nevypadne odpověď. Vypadne rozdělení.</a:t>
            </a:r>
            <a:endParaRPr lang="en-US" sz="3600" dirty="0"/>
          </a:p>
        </p:txBody>
      </p:sp>
      <p:sp>
        <p:nvSpPr>
          <p:cNvPr id="4" name="Text 2"/>
          <p:cNvSpPr txBox="1"/>
          <p:nvPr/>
        </p:nvSpPr>
        <p:spPr>
          <a:xfrm>
            <a:off x="685800" y="1828800"/>
            <a:ext cx="10789920" cy="457200"/>
          </a:xfrm>
          <a:prstGeom prst="rect">
            <a:avLst/>
          </a:prstGeom>
          <a:noFill/>
          <a:ln/>
        </p:spPr>
        <p:txBody>
          <a:bodyPr wrap="square" lIns="0" tIns="0" rIns="0" bIns="0" rtlCol="0" anchor="t"/>
          <a:lstStyle/>
          <a:p>
            <a:pPr indent="0" marL="0">
              <a:buNone/>
            </a:pPr>
            <a:r>
              <a:rPr lang="en-US" sz="1800" dirty="0">
                <a:solidFill>
                  <a:srgbClr val="8A8F98"/>
                </a:solidFill>
                <a:latin typeface="Courier New" pitchFamily="34" charset="0"/>
                <a:ea typeface="Courier New" pitchFamily="34" charset="-122"/>
                <a:cs typeface="Courier New" pitchFamily="34" charset="-120"/>
              </a:rPr>
              <a:t>Kočka sedí na …  →  logits (skóre)  →  </a:t>
            </a:r>
            <a:pPr indent="0" marL="0">
              <a:buNone/>
            </a:pPr>
            <a:r>
              <a:rPr lang="en-US" sz="1800" b="1" dirty="0">
                <a:solidFill>
                  <a:srgbClr val="FF9F1C"/>
                </a:solidFill>
                <a:latin typeface="Courier New" pitchFamily="34" charset="0"/>
                <a:ea typeface="Courier New" pitchFamily="34" charset="-122"/>
                <a:cs typeface="Courier New" pitchFamily="34" charset="-120"/>
              </a:rPr>
              <a:t>softmax</a:t>
            </a:r>
            <a:pPr indent="0" marL="0">
              <a:buNone/>
            </a:pPr>
            <a:r>
              <a:rPr lang="en-US" sz="1800" dirty="0">
                <a:solidFill>
                  <a:srgbClr val="8A8F98"/>
                </a:solidFill>
                <a:latin typeface="Courier New" pitchFamily="34" charset="0"/>
                <a:ea typeface="Courier New" pitchFamily="34" charset="-122"/>
                <a:cs typeface="Courier New" pitchFamily="34" charset="-120"/>
              </a:rPr>
              <a:t>  →  pravděpodobnosti</a:t>
            </a:r>
            <a:endParaRPr lang="en-US" sz="1800" dirty="0"/>
          </a:p>
        </p:txBody>
      </p:sp>
      <p:sp>
        <p:nvSpPr>
          <p:cNvPr id="5" name="Text 3"/>
          <p:cNvSpPr txBox="1"/>
          <p:nvPr/>
        </p:nvSpPr>
        <p:spPr>
          <a:xfrm>
            <a:off x="685800" y="2514600"/>
            <a:ext cx="1737360" cy="453542"/>
          </a:xfrm>
          <a:prstGeom prst="rect">
            <a:avLst/>
          </a:prstGeom>
          <a:noFill/>
          <a:ln/>
        </p:spPr>
        <p:txBody>
          <a:bodyPr wrap="square" lIns="0" tIns="0" rIns="0" bIns="0" rtlCol="0" anchor="ctr"/>
          <a:lstStyle/>
          <a:p>
            <a:pPr algn="r" indent="0" marL="0">
              <a:buNone/>
            </a:pPr>
            <a:r>
              <a:rPr lang="en-US" sz="2200" dirty="0">
                <a:solidFill>
                  <a:srgbClr val="ECE9E2"/>
                </a:solidFill>
                <a:latin typeface="Courier New" pitchFamily="34" charset="0"/>
                <a:ea typeface="Courier New" pitchFamily="34" charset="-122"/>
                <a:cs typeface="Courier New" pitchFamily="34" charset="-120"/>
              </a:rPr>
              <a:t>střeše</a:t>
            </a:r>
            <a:endParaRPr lang="en-US" sz="2200" dirty="0"/>
          </a:p>
        </p:txBody>
      </p:sp>
      <p:sp>
        <p:nvSpPr>
          <p:cNvPr id="6" name="Shape 4"/>
          <p:cNvSpPr/>
          <p:nvPr/>
        </p:nvSpPr>
        <p:spPr>
          <a:xfrm>
            <a:off x="2651760" y="2599639"/>
            <a:ext cx="5943600" cy="283464"/>
          </a:xfrm>
          <a:prstGeom prst="rect">
            <a:avLst/>
          </a:prstGeom>
          <a:solidFill>
            <a:srgbClr val="FF9F1C"/>
          </a:solidFill>
          <a:ln/>
        </p:spPr>
      </p:sp>
      <p:sp>
        <p:nvSpPr>
          <p:cNvPr id="7" name="Text 5"/>
          <p:cNvSpPr txBox="1"/>
          <p:nvPr/>
        </p:nvSpPr>
        <p:spPr>
          <a:xfrm>
            <a:off x="8732520" y="2514600"/>
            <a:ext cx="1097280" cy="453542"/>
          </a:xfrm>
          <a:prstGeom prst="rect">
            <a:avLst/>
          </a:prstGeom>
          <a:noFill/>
          <a:ln/>
        </p:spPr>
        <p:txBody>
          <a:bodyPr wrap="square" lIns="0" tIns="0" rIns="0" bIns="0" rtlCol="0" anchor="ctr"/>
          <a:lstStyle/>
          <a:p>
            <a:pPr indent="0" marL="0">
              <a:buNone/>
            </a:pPr>
            <a:r>
              <a:rPr lang="en-US" sz="1760" dirty="0">
                <a:solidFill>
                  <a:srgbClr val="8A8F98"/>
                </a:solidFill>
                <a:latin typeface="Courier New" pitchFamily="34" charset="0"/>
                <a:ea typeface="Courier New" pitchFamily="34" charset="-122"/>
                <a:cs typeface="Courier New" pitchFamily="34" charset="-120"/>
              </a:rPr>
              <a:t>31 %</a:t>
            </a:r>
            <a:endParaRPr lang="en-US" sz="1760" dirty="0"/>
          </a:p>
        </p:txBody>
      </p:sp>
      <p:sp>
        <p:nvSpPr>
          <p:cNvPr id="8" name="Text 6"/>
          <p:cNvSpPr txBox="1"/>
          <p:nvPr/>
        </p:nvSpPr>
        <p:spPr>
          <a:xfrm>
            <a:off x="685800" y="3081528"/>
            <a:ext cx="1737360" cy="453542"/>
          </a:xfrm>
          <a:prstGeom prst="rect">
            <a:avLst/>
          </a:prstGeom>
          <a:noFill/>
          <a:ln/>
        </p:spPr>
        <p:txBody>
          <a:bodyPr wrap="square" lIns="0" tIns="0" rIns="0" bIns="0" rtlCol="0" anchor="ctr"/>
          <a:lstStyle/>
          <a:p>
            <a:pPr algn="r" indent="0" marL="0">
              <a:buNone/>
            </a:pPr>
            <a:r>
              <a:rPr lang="en-US" sz="2200" dirty="0">
                <a:solidFill>
                  <a:srgbClr val="ECE9E2"/>
                </a:solidFill>
                <a:latin typeface="Courier New" pitchFamily="34" charset="0"/>
                <a:ea typeface="Courier New" pitchFamily="34" charset="-122"/>
                <a:cs typeface="Courier New" pitchFamily="34" charset="-120"/>
              </a:rPr>
              <a:t>gauči</a:t>
            </a:r>
            <a:endParaRPr lang="en-US" sz="2200" dirty="0"/>
          </a:p>
        </p:txBody>
      </p:sp>
      <p:sp>
        <p:nvSpPr>
          <p:cNvPr id="9" name="Shape 7"/>
          <p:cNvSpPr/>
          <p:nvPr/>
        </p:nvSpPr>
        <p:spPr>
          <a:xfrm>
            <a:off x="2651760" y="3166567"/>
            <a:ext cx="3451123" cy="283464"/>
          </a:xfrm>
          <a:prstGeom prst="rect">
            <a:avLst/>
          </a:prstGeom>
          <a:solidFill>
            <a:srgbClr val="ECE9E2">
              <a:alpha val="65000"/>
            </a:srgbClr>
          </a:solidFill>
          <a:ln/>
        </p:spPr>
      </p:sp>
      <p:sp>
        <p:nvSpPr>
          <p:cNvPr id="10" name="Text 8"/>
          <p:cNvSpPr txBox="1"/>
          <p:nvPr/>
        </p:nvSpPr>
        <p:spPr>
          <a:xfrm>
            <a:off x="6240043" y="3081528"/>
            <a:ext cx="1097280" cy="453542"/>
          </a:xfrm>
          <a:prstGeom prst="rect">
            <a:avLst/>
          </a:prstGeom>
          <a:noFill/>
          <a:ln/>
        </p:spPr>
        <p:txBody>
          <a:bodyPr wrap="square" lIns="0" tIns="0" rIns="0" bIns="0" rtlCol="0" anchor="ctr"/>
          <a:lstStyle/>
          <a:p>
            <a:pPr indent="0" marL="0">
              <a:buNone/>
            </a:pPr>
            <a:r>
              <a:rPr lang="en-US" sz="1760" dirty="0">
                <a:solidFill>
                  <a:srgbClr val="8A8F98"/>
                </a:solidFill>
                <a:latin typeface="Courier New" pitchFamily="34" charset="0"/>
                <a:ea typeface="Courier New" pitchFamily="34" charset="-122"/>
                <a:cs typeface="Courier New" pitchFamily="34" charset="-120"/>
              </a:rPr>
              <a:t>18 %</a:t>
            </a:r>
            <a:endParaRPr lang="en-US" sz="1760" dirty="0"/>
          </a:p>
        </p:txBody>
      </p:sp>
      <p:sp>
        <p:nvSpPr>
          <p:cNvPr id="11" name="Text 9"/>
          <p:cNvSpPr txBox="1"/>
          <p:nvPr/>
        </p:nvSpPr>
        <p:spPr>
          <a:xfrm>
            <a:off x="685800" y="3648456"/>
            <a:ext cx="1737360" cy="453542"/>
          </a:xfrm>
          <a:prstGeom prst="rect">
            <a:avLst/>
          </a:prstGeom>
          <a:noFill/>
          <a:ln/>
        </p:spPr>
        <p:txBody>
          <a:bodyPr wrap="square" lIns="0" tIns="0" rIns="0" bIns="0" rtlCol="0" anchor="ctr"/>
          <a:lstStyle/>
          <a:p>
            <a:pPr algn="r" indent="0" marL="0">
              <a:buNone/>
            </a:pPr>
            <a:r>
              <a:rPr lang="en-US" sz="2200" dirty="0">
                <a:solidFill>
                  <a:srgbClr val="ECE9E2"/>
                </a:solidFill>
                <a:latin typeface="Courier New" pitchFamily="34" charset="0"/>
                <a:ea typeface="Courier New" pitchFamily="34" charset="-122"/>
                <a:cs typeface="Courier New" pitchFamily="34" charset="-120"/>
              </a:rPr>
              <a:t>zemi</a:t>
            </a:r>
            <a:endParaRPr lang="en-US" sz="2200" dirty="0"/>
          </a:p>
        </p:txBody>
      </p:sp>
      <p:sp>
        <p:nvSpPr>
          <p:cNvPr id="12" name="Shape 10"/>
          <p:cNvSpPr/>
          <p:nvPr/>
        </p:nvSpPr>
        <p:spPr>
          <a:xfrm>
            <a:off x="2651760" y="3733495"/>
            <a:ext cx="2109019" cy="283464"/>
          </a:xfrm>
          <a:prstGeom prst="rect">
            <a:avLst/>
          </a:prstGeom>
          <a:solidFill>
            <a:srgbClr val="ECE9E2">
              <a:alpha val="65000"/>
            </a:srgbClr>
          </a:solidFill>
          <a:ln/>
        </p:spPr>
      </p:sp>
      <p:sp>
        <p:nvSpPr>
          <p:cNvPr id="13" name="Text 11"/>
          <p:cNvSpPr txBox="1"/>
          <p:nvPr/>
        </p:nvSpPr>
        <p:spPr>
          <a:xfrm>
            <a:off x="4897939" y="3648456"/>
            <a:ext cx="1097280" cy="453542"/>
          </a:xfrm>
          <a:prstGeom prst="rect">
            <a:avLst/>
          </a:prstGeom>
          <a:noFill/>
          <a:ln/>
        </p:spPr>
        <p:txBody>
          <a:bodyPr wrap="square" lIns="0" tIns="0" rIns="0" bIns="0" rtlCol="0" anchor="ctr"/>
          <a:lstStyle/>
          <a:p>
            <a:pPr indent="0" marL="0">
              <a:buNone/>
            </a:pPr>
            <a:r>
              <a:rPr lang="en-US" sz="1760" dirty="0">
                <a:solidFill>
                  <a:srgbClr val="8A8F98"/>
                </a:solidFill>
                <a:latin typeface="Courier New" pitchFamily="34" charset="0"/>
                <a:ea typeface="Courier New" pitchFamily="34" charset="-122"/>
                <a:cs typeface="Courier New" pitchFamily="34" charset="-120"/>
              </a:rPr>
              <a:t>11 %</a:t>
            </a:r>
            <a:endParaRPr lang="en-US" sz="1760" dirty="0"/>
          </a:p>
        </p:txBody>
      </p:sp>
      <p:sp>
        <p:nvSpPr>
          <p:cNvPr id="14" name="Text 12"/>
          <p:cNvSpPr txBox="1"/>
          <p:nvPr/>
        </p:nvSpPr>
        <p:spPr>
          <a:xfrm>
            <a:off x="685800" y="4215384"/>
            <a:ext cx="1737360" cy="453542"/>
          </a:xfrm>
          <a:prstGeom prst="rect">
            <a:avLst/>
          </a:prstGeom>
          <a:noFill/>
          <a:ln/>
        </p:spPr>
        <p:txBody>
          <a:bodyPr wrap="square" lIns="0" tIns="0" rIns="0" bIns="0" rtlCol="0" anchor="ctr"/>
          <a:lstStyle/>
          <a:p>
            <a:pPr algn="r" indent="0" marL="0">
              <a:buNone/>
            </a:pPr>
            <a:r>
              <a:rPr lang="en-US" sz="2200" dirty="0">
                <a:solidFill>
                  <a:srgbClr val="ECE9E2"/>
                </a:solidFill>
                <a:latin typeface="Courier New" pitchFamily="34" charset="0"/>
                <a:ea typeface="Courier New" pitchFamily="34" charset="-122"/>
                <a:cs typeface="Courier New" pitchFamily="34" charset="-120"/>
              </a:rPr>
              <a:t>stole</a:t>
            </a:r>
            <a:endParaRPr lang="en-US" sz="2200" dirty="0"/>
          </a:p>
        </p:txBody>
      </p:sp>
      <p:sp>
        <p:nvSpPr>
          <p:cNvPr id="15" name="Shape 13"/>
          <p:cNvSpPr/>
          <p:nvPr/>
        </p:nvSpPr>
        <p:spPr>
          <a:xfrm>
            <a:off x="2651760" y="4300423"/>
            <a:ext cx="1342103" cy="283464"/>
          </a:xfrm>
          <a:prstGeom prst="rect">
            <a:avLst/>
          </a:prstGeom>
          <a:solidFill>
            <a:srgbClr val="ECE9E2">
              <a:alpha val="65000"/>
            </a:srgbClr>
          </a:solidFill>
          <a:ln/>
        </p:spPr>
      </p:sp>
      <p:sp>
        <p:nvSpPr>
          <p:cNvPr id="16" name="Text 14"/>
          <p:cNvSpPr txBox="1"/>
          <p:nvPr/>
        </p:nvSpPr>
        <p:spPr>
          <a:xfrm>
            <a:off x="4131023" y="4215384"/>
            <a:ext cx="1097280" cy="453542"/>
          </a:xfrm>
          <a:prstGeom prst="rect">
            <a:avLst/>
          </a:prstGeom>
          <a:noFill/>
          <a:ln/>
        </p:spPr>
        <p:txBody>
          <a:bodyPr wrap="square" lIns="0" tIns="0" rIns="0" bIns="0" rtlCol="0" anchor="ctr"/>
          <a:lstStyle/>
          <a:p>
            <a:pPr indent="0" marL="0">
              <a:buNone/>
            </a:pPr>
            <a:r>
              <a:rPr lang="en-US" sz="1760" dirty="0">
                <a:solidFill>
                  <a:srgbClr val="8A8F98"/>
                </a:solidFill>
                <a:latin typeface="Courier New" pitchFamily="34" charset="0"/>
                <a:ea typeface="Courier New" pitchFamily="34" charset="-122"/>
                <a:cs typeface="Courier New" pitchFamily="34" charset="-120"/>
              </a:rPr>
              <a:t>7 %</a:t>
            </a:r>
            <a:endParaRPr lang="en-US" sz="1760" dirty="0"/>
          </a:p>
        </p:txBody>
      </p:sp>
      <p:sp>
        <p:nvSpPr>
          <p:cNvPr id="17" name="Text 15"/>
          <p:cNvSpPr txBox="1"/>
          <p:nvPr/>
        </p:nvSpPr>
        <p:spPr>
          <a:xfrm>
            <a:off x="685800" y="4782312"/>
            <a:ext cx="1737360" cy="453542"/>
          </a:xfrm>
          <a:prstGeom prst="rect">
            <a:avLst/>
          </a:prstGeom>
          <a:noFill/>
          <a:ln/>
        </p:spPr>
        <p:txBody>
          <a:bodyPr wrap="square" lIns="0" tIns="0" rIns="0" bIns="0" rtlCol="0" anchor="ctr"/>
          <a:lstStyle/>
          <a:p>
            <a:pPr algn="r" indent="0" marL="0">
              <a:buNone/>
            </a:pPr>
            <a:r>
              <a:rPr lang="en-US" sz="2200" dirty="0">
                <a:solidFill>
                  <a:srgbClr val="ECE9E2"/>
                </a:solidFill>
                <a:latin typeface="Courier New" pitchFamily="34" charset="0"/>
                <a:ea typeface="Courier New" pitchFamily="34" charset="-122"/>
                <a:cs typeface="Courier New" pitchFamily="34" charset="-120"/>
              </a:rPr>
              <a:t>okně</a:t>
            </a:r>
            <a:endParaRPr lang="en-US" sz="2200" dirty="0"/>
          </a:p>
        </p:txBody>
      </p:sp>
      <p:sp>
        <p:nvSpPr>
          <p:cNvPr id="18" name="Shape 16"/>
          <p:cNvSpPr/>
          <p:nvPr/>
        </p:nvSpPr>
        <p:spPr>
          <a:xfrm>
            <a:off x="2651760" y="4867351"/>
            <a:ext cx="958645" cy="283464"/>
          </a:xfrm>
          <a:prstGeom prst="rect">
            <a:avLst/>
          </a:prstGeom>
          <a:solidFill>
            <a:srgbClr val="ECE9E2">
              <a:alpha val="65000"/>
            </a:srgbClr>
          </a:solidFill>
          <a:ln/>
        </p:spPr>
      </p:sp>
      <p:sp>
        <p:nvSpPr>
          <p:cNvPr id="19" name="Text 17"/>
          <p:cNvSpPr txBox="1"/>
          <p:nvPr/>
        </p:nvSpPr>
        <p:spPr>
          <a:xfrm>
            <a:off x="3747565" y="4782312"/>
            <a:ext cx="1097280" cy="453542"/>
          </a:xfrm>
          <a:prstGeom prst="rect">
            <a:avLst/>
          </a:prstGeom>
          <a:noFill/>
          <a:ln/>
        </p:spPr>
        <p:txBody>
          <a:bodyPr wrap="square" lIns="0" tIns="0" rIns="0" bIns="0" rtlCol="0" anchor="ctr"/>
          <a:lstStyle/>
          <a:p>
            <a:pPr indent="0" marL="0">
              <a:buNone/>
            </a:pPr>
            <a:r>
              <a:rPr lang="en-US" sz="1760" dirty="0">
                <a:solidFill>
                  <a:srgbClr val="8A8F98"/>
                </a:solidFill>
                <a:latin typeface="Courier New" pitchFamily="34" charset="0"/>
                <a:ea typeface="Courier New" pitchFamily="34" charset="-122"/>
                <a:cs typeface="Courier New" pitchFamily="34" charset="-120"/>
              </a:rPr>
              <a:t>5 %</a:t>
            </a:r>
            <a:endParaRPr lang="en-US" sz="1760" dirty="0"/>
          </a:p>
        </p:txBody>
      </p:sp>
      <p:sp>
        <p:nvSpPr>
          <p:cNvPr id="20" name="Text 18"/>
          <p:cNvSpPr txBox="1"/>
          <p:nvPr/>
        </p:nvSpPr>
        <p:spPr>
          <a:xfrm>
            <a:off x="685800" y="5440680"/>
            <a:ext cx="10058400" cy="320040"/>
          </a:xfrm>
          <a:prstGeom prst="rect">
            <a:avLst/>
          </a:prstGeom>
          <a:noFill/>
          <a:ln/>
        </p:spPr>
        <p:txBody>
          <a:bodyPr wrap="square" lIns="0" tIns="0" rIns="0" bIns="0" rtlCol="0" anchor="t"/>
          <a:lstStyle/>
          <a:p>
            <a:pPr indent="0" marL="0">
              <a:buNone/>
            </a:pPr>
            <a:r>
              <a:rPr lang="en-US" sz="1400" dirty="0">
                <a:solidFill>
                  <a:srgbClr val="8A8F98"/>
                </a:solidFill>
                <a:latin typeface="Courier New" pitchFamily="34" charset="0"/>
                <a:ea typeface="Courier New" pitchFamily="34" charset="-122"/>
                <a:cs typeface="Courier New" pitchFamily="34" charset="-120"/>
              </a:rPr>
              <a:t>… ostatní: 28 % dohromady, rozprostřeno mezi desítky tisíc tokenů</a:t>
            </a:r>
            <a:endParaRPr lang="en-US" sz="1400" dirty="0"/>
          </a:p>
        </p:txBody>
      </p:sp>
      <p:sp>
        <p:nvSpPr>
          <p:cNvPr id="21" name="Text 19"/>
          <p:cNvSpPr txBox="1"/>
          <p:nvPr/>
        </p:nvSpPr>
        <p:spPr>
          <a:xfrm>
            <a:off x="6949440" y="3749040"/>
            <a:ext cx="4572000" cy="640080"/>
          </a:xfrm>
          <a:prstGeom prst="rect">
            <a:avLst/>
          </a:prstGeom>
          <a:noFill/>
          <a:ln/>
        </p:spPr>
        <p:txBody>
          <a:bodyPr wrap="square" lIns="0" tIns="0" rIns="0" bIns="0" rtlCol="0" anchor="t"/>
          <a:lstStyle/>
          <a:p>
            <a:pPr algn="r" indent="0" marL="0">
              <a:buNone/>
            </a:pPr>
            <a:r>
              <a:rPr lang="en-US" sz="1600" dirty="0">
                <a:solidFill>
                  <a:srgbClr val="FF9F1C"/>
                </a:solidFill>
                <a:latin typeface="Courier New" pitchFamily="34" charset="0"/>
                <a:ea typeface="Courier New" pitchFamily="34" charset="-122"/>
                <a:cs typeface="Courier New" pitchFamily="34" charset="-120"/>
              </a:rPr>
              <a:t>ILUSTRATIVNÍ ČÍSLA</a:t>
            </a:r>
            <a:endParaRPr lang="en-US" sz="1600" dirty="0"/>
          </a:p>
          <a:p>
            <a:pPr algn="r" indent="0" marL="0">
              <a:buNone/>
            </a:pPr>
            <a:r>
              <a:rPr lang="en-US" sz="1600" dirty="0">
                <a:solidFill>
                  <a:srgbClr val="FF9F1C"/>
                </a:solidFill>
                <a:latin typeface="Courier New" pitchFamily="34" charset="0"/>
                <a:ea typeface="Courier New" pitchFamily="34" charset="-122"/>
                <a:cs typeface="Courier New" pitchFamily="34" charset="-120"/>
              </a:rPr>
              <a:t>zjednodušeno: slova místo tokenů</a:t>
            </a:r>
            <a:endParaRPr lang="en-US" sz="16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08 · SAMPLING</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A teď hodíme kostkou</a:t>
            </a:r>
            <a:endParaRPr lang="en-US" sz="3600" dirty="0"/>
          </a:p>
        </p:txBody>
      </p:sp>
      <p:sp>
        <p:nvSpPr>
          <p:cNvPr id="4" name="Text 2"/>
          <p:cNvSpPr txBox="1"/>
          <p:nvPr/>
        </p:nvSpPr>
        <p:spPr>
          <a:xfrm>
            <a:off x="685800" y="1783080"/>
            <a:ext cx="3474720" cy="365760"/>
          </a:xfrm>
          <a:prstGeom prst="rect">
            <a:avLst/>
          </a:prstGeom>
          <a:noFill/>
          <a:ln/>
        </p:spPr>
        <p:txBody>
          <a:bodyPr wrap="square" lIns="0" tIns="0" rIns="0" bIns="0" rtlCol="0" anchor="t"/>
          <a:lstStyle/>
          <a:p>
            <a:pPr indent="0" marL="0">
              <a:buNone/>
            </a:pPr>
            <a:r>
              <a:rPr lang="en-US" sz="1800" b="1" dirty="0">
                <a:solidFill>
                  <a:srgbClr val="FF9F1C"/>
                </a:solidFill>
                <a:latin typeface="Courier New" pitchFamily="34" charset="0"/>
                <a:ea typeface="Courier New" pitchFamily="34" charset="-122"/>
                <a:cs typeface="Courier New" pitchFamily="34" charset="-120"/>
              </a:rPr>
              <a:t>T = 0.2</a:t>
            </a:r>
            <a:endParaRPr lang="en-US" sz="1800" dirty="0"/>
          </a:p>
        </p:txBody>
      </p:sp>
      <p:sp>
        <p:nvSpPr>
          <p:cNvPr id="5" name="Text 3"/>
          <p:cNvSpPr txBox="1"/>
          <p:nvPr/>
        </p:nvSpPr>
        <p:spPr>
          <a:xfrm>
            <a:off x="685800" y="2286000"/>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A</a:t>
            </a:r>
            <a:endParaRPr lang="en-US" sz="1600" dirty="0"/>
          </a:p>
        </p:txBody>
      </p:sp>
      <p:sp>
        <p:nvSpPr>
          <p:cNvPr id="6" name="Shape 4"/>
          <p:cNvSpPr/>
          <p:nvPr/>
        </p:nvSpPr>
        <p:spPr>
          <a:xfrm>
            <a:off x="1234440" y="2351837"/>
            <a:ext cx="2179773" cy="219456"/>
          </a:xfrm>
          <a:prstGeom prst="rect">
            <a:avLst/>
          </a:prstGeom>
          <a:solidFill>
            <a:srgbClr val="FF9F1C"/>
          </a:solidFill>
          <a:ln/>
        </p:spPr>
      </p:sp>
      <p:sp>
        <p:nvSpPr>
          <p:cNvPr id="7" name="Text 5"/>
          <p:cNvSpPr txBox="1"/>
          <p:nvPr/>
        </p:nvSpPr>
        <p:spPr>
          <a:xfrm>
            <a:off x="3551373" y="2286000"/>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99 %</a:t>
            </a:r>
            <a:endParaRPr lang="en-US" sz="1280" dirty="0"/>
          </a:p>
        </p:txBody>
      </p:sp>
      <p:sp>
        <p:nvSpPr>
          <p:cNvPr id="8" name="Text 6"/>
          <p:cNvSpPr txBox="1"/>
          <p:nvPr/>
        </p:nvSpPr>
        <p:spPr>
          <a:xfrm>
            <a:off x="685800" y="2724912"/>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B</a:t>
            </a:r>
            <a:endParaRPr lang="en-US" sz="1600" dirty="0"/>
          </a:p>
        </p:txBody>
      </p:sp>
      <p:sp>
        <p:nvSpPr>
          <p:cNvPr id="9" name="Shape 7"/>
          <p:cNvSpPr/>
          <p:nvPr/>
        </p:nvSpPr>
        <p:spPr>
          <a:xfrm>
            <a:off x="1234440" y="2790749"/>
            <a:ext cx="27432" cy="219456"/>
          </a:xfrm>
          <a:prstGeom prst="rect">
            <a:avLst/>
          </a:prstGeom>
          <a:solidFill>
            <a:srgbClr val="ECE9E2">
              <a:alpha val="65000"/>
            </a:srgbClr>
          </a:solidFill>
          <a:ln/>
        </p:spPr>
      </p:sp>
      <p:sp>
        <p:nvSpPr>
          <p:cNvPr id="10" name="Text 8"/>
          <p:cNvSpPr txBox="1"/>
          <p:nvPr/>
        </p:nvSpPr>
        <p:spPr>
          <a:xfrm>
            <a:off x="1399032" y="2724912"/>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&lt;1 %</a:t>
            </a:r>
            <a:endParaRPr lang="en-US" sz="1280" dirty="0"/>
          </a:p>
        </p:txBody>
      </p:sp>
      <p:sp>
        <p:nvSpPr>
          <p:cNvPr id="11" name="Text 9"/>
          <p:cNvSpPr txBox="1"/>
          <p:nvPr/>
        </p:nvSpPr>
        <p:spPr>
          <a:xfrm>
            <a:off x="685800" y="3163824"/>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C</a:t>
            </a:r>
            <a:endParaRPr lang="en-US" sz="1600" dirty="0"/>
          </a:p>
        </p:txBody>
      </p:sp>
      <p:sp>
        <p:nvSpPr>
          <p:cNvPr id="12" name="Shape 10"/>
          <p:cNvSpPr/>
          <p:nvPr/>
        </p:nvSpPr>
        <p:spPr>
          <a:xfrm>
            <a:off x="1234440" y="3229661"/>
            <a:ext cx="27432" cy="219456"/>
          </a:xfrm>
          <a:prstGeom prst="rect">
            <a:avLst/>
          </a:prstGeom>
          <a:solidFill>
            <a:srgbClr val="ECE9E2">
              <a:alpha val="65000"/>
            </a:srgbClr>
          </a:solidFill>
          <a:ln/>
        </p:spPr>
      </p:sp>
      <p:sp>
        <p:nvSpPr>
          <p:cNvPr id="13" name="Text 11"/>
          <p:cNvSpPr txBox="1"/>
          <p:nvPr/>
        </p:nvSpPr>
        <p:spPr>
          <a:xfrm>
            <a:off x="1399032" y="3163824"/>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&lt;1 %</a:t>
            </a:r>
            <a:endParaRPr lang="en-US" sz="1280" dirty="0"/>
          </a:p>
        </p:txBody>
      </p:sp>
      <p:sp>
        <p:nvSpPr>
          <p:cNvPr id="14" name="Text 12"/>
          <p:cNvSpPr txBox="1"/>
          <p:nvPr/>
        </p:nvSpPr>
        <p:spPr>
          <a:xfrm>
            <a:off x="685800" y="3602736"/>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D</a:t>
            </a:r>
            <a:endParaRPr lang="en-US" sz="1600" dirty="0"/>
          </a:p>
        </p:txBody>
      </p:sp>
      <p:sp>
        <p:nvSpPr>
          <p:cNvPr id="15" name="Shape 13"/>
          <p:cNvSpPr/>
          <p:nvPr/>
        </p:nvSpPr>
        <p:spPr>
          <a:xfrm>
            <a:off x="1234440" y="3668573"/>
            <a:ext cx="27432" cy="219456"/>
          </a:xfrm>
          <a:prstGeom prst="rect">
            <a:avLst/>
          </a:prstGeom>
          <a:solidFill>
            <a:srgbClr val="ECE9E2">
              <a:alpha val="65000"/>
            </a:srgbClr>
          </a:solidFill>
          <a:ln/>
        </p:spPr>
      </p:sp>
      <p:sp>
        <p:nvSpPr>
          <p:cNvPr id="16" name="Text 14"/>
          <p:cNvSpPr txBox="1"/>
          <p:nvPr/>
        </p:nvSpPr>
        <p:spPr>
          <a:xfrm>
            <a:off x="1399032" y="3602736"/>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&lt;1 %</a:t>
            </a:r>
            <a:endParaRPr lang="en-US" sz="1280" dirty="0"/>
          </a:p>
        </p:txBody>
      </p:sp>
      <p:sp>
        <p:nvSpPr>
          <p:cNvPr id="17" name="Text 15"/>
          <p:cNvSpPr txBox="1"/>
          <p:nvPr/>
        </p:nvSpPr>
        <p:spPr>
          <a:xfrm>
            <a:off x="4434840" y="1783080"/>
            <a:ext cx="3474720" cy="365760"/>
          </a:xfrm>
          <a:prstGeom prst="rect">
            <a:avLst/>
          </a:prstGeom>
          <a:noFill/>
          <a:ln/>
        </p:spPr>
        <p:txBody>
          <a:bodyPr wrap="square" lIns="0" tIns="0" rIns="0" bIns="0" rtlCol="0" anchor="t"/>
          <a:lstStyle/>
          <a:p>
            <a:pPr indent="0" marL="0">
              <a:buNone/>
            </a:pPr>
            <a:r>
              <a:rPr lang="en-US" sz="1800" b="1" dirty="0">
                <a:solidFill>
                  <a:srgbClr val="ECE9E2"/>
                </a:solidFill>
                <a:latin typeface="Courier New" pitchFamily="34" charset="0"/>
                <a:ea typeface="Courier New" pitchFamily="34" charset="-122"/>
                <a:cs typeface="Courier New" pitchFamily="34" charset="-120"/>
              </a:rPr>
              <a:t>T = 1.0</a:t>
            </a:r>
            <a:endParaRPr lang="en-US" sz="1800" dirty="0"/>
          </a:p>
        </p:txBody>
      </p:sp>
      <p:sp>
        <p:nvSpPr>
          <p:cNvPr id="18" name="Text 16"/>
          <p:cNvSpPr txBox="1"/>
          <p:nvPr/>
        </p:nvSpPr>
        <p:spPr>
          <a:xfrm>
            <a:off x="4434840" y="2286000"/>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A</a:t>
            </a:r>
            <a:endParaRPr lang="en-US" sz="1600" dirty="0"/>
          </a:p>
        </p:txBody>
      </p:sp>
      <p:sp>
        <p:nvSpPr>
          <p:cNvPr id="19" name="Shape 17"/>
          <p:cNvSpPr/>
          <p:nvPr/>
        </p:nvSpPr>
        <p:spPr>
          <a:xfrm>
            <a:off x="4983480" y="2351837"/>
            <a:ext cx="1413108" cy="219456"/>
          </a:xfrm>
          <a:prstGeom prst="rect">
            <a:avLst/>
          </a:prstGeom>
          <a:solidFill>
            <a:srgbClr val="FF9F1C"/>
          </a:solidFill>
          <a:ln/>
        </p:spPr>
      </p:sp>
      <p:sp>
        <p:nvSpPr>
          <p:cNvPr id="20" name="Text 18"/>
          <p:cNvSpPr txBox="1"/>
          <p:nvPr/>
        </p:nvSpPr>
        <p:spPr>
          <a:xfrm>
            <a:off x="6533748" y="2286000"/>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64 %</a:t>
            </a:r>
            <a:endParaRPr lang="en-US" sz="1280" dirty="0"/>
          </a:p>
        </p:txBody>
      </p:sp>
      <p:sp>
        <p:nvSpPr>
          <p:cNvPr id="21" name="Text 19"/>
          <p:cNvSpPr txBox="1"/>
          <p:nvPr/>
        </p:nvSpPr>
        <p:spPr>
          <a:xfrm>
            <a:off x="4434840" y="2724912"/>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B</a:t>
            </a:r>
            <a:endParaRPr lang="en-US" sz="1600" dirty="0"/>
          </a:p>
        </p:txBody>
      </p:sp>
      <p:sp>
        <p:nvSpPr>
          <p:cNvPr id="22" name="Shape 20"/>
          <p:cNvSpPr/>
          <p:nvPr/>
        </p:nvSpPr>
        <p:spPr>
          <a:xfrm>
            <a:off x="4983480" y="2790749"/>
            <a:ext cx="519854" cy="219456"/>
          </a:xfrm>
          <a:prstGeom prst="rect">
            <a:avLst/>
          </a:prstGeom>
          <a:solidFill>
            <a:srgbClr val="ECE9E2">
              <a:alpha val="65000"/>
            </a:srgbClr>
          </a:solidFill>
          <a:ln/>
        </p:spPr>
      </p:sp>
      <p:sp>
        <p:nvSpPr>
          <p:cNvPr id="23" name="Text 21"/>
          <p:cNvSpPr txBox="1"/>
          <p:nvPr/>
        </p:nvSpPr>
        <p:spPr>
          <a:xfrm>
            <a:off x="5640494" y="2724912"/>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24 %</a:t>
            </a:r>
            <a:endParaRPr lang="en-US" sz="1280" dirty="0"/>
          </a:p>
        </p:txBody>
      </p:sp>
      <p:sp>
        <p:nvSpPr>
          <p:cNvPr id="24" name="Text 22"/>
          <p:cNvSpPr txBox="1"/>
          <p:nvPr/>
        </p:nvSpPr>
        <p:spPr>
          <a:xfrm>
            <a:off x="4434840" y="3163824"/>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C</a:t>
            </a:r>
            <a:endParaRPr lang="en-US" sz="1600" dirty="0"/>
          </a:p>
        </p:txBody>
      </p:sp>
      <p:sp>
        <p:nvSpPr>
          <p:cNvPr id="25" name="Shape 23"/>
          <p:cNvSpPr/>
          <p:nvPr/>
        </p:nvSpPr>
        <p:spPr>
          <a:xfrm>
            <a:off x="4983480" y="3229661"/>
            <a:ext cx="191243" cy="219456"/>
          </a:xfrm>
          <a:prstGeom prst="rect">
            <a:avLst/>
          </a:prstGeom>
          <a:solidFill>
            <a:srgbClr val="ECE9E2">
              <a:alpha val="65000"/>
            </a:srgbClr>
          </a:solidFill>
          <a:ln/>
        </p:spPr>
      </p:sp>
      <p:sp>
        <p:nvSpPr>
          <p:cNvPr id="26" name="Text 24"/>
          <p:cNvSpPr txBox="1"/>
          <p:nvPr/>
        </p:nvSpPr>
        <p:spPr>
          <a:xfrm>
            <a:off x="5311883" y="3163824"/>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9 %</a:t>
            </a:r>
            <a:endParaRPr lang="en-US" sz="1280" dirty="0"/>
          </a:p>
        </p:txBody>
      </p:sp>
      <p:sp>
        <p:nvSpPr>
          <p:cNvPr id="27" name="Text 25"/>
          <p:cNvSpPr txBox="1"/>
          <p:nvPr/>
        </p:nvSpPr>
        <p:spPr>
          <a:xfrm>
            <a:off x="4434840" y="3602736"/>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D</a:t>
            </a:r>
            <a:endParaRPr lang="en-US" sz="1600" dirty="0"/>
          </a:p>
        </p:txBody>
      </p:sp>
      <p:sp>
        <p:nvSpPr>
          <p:cNvPr id="28" name="Shape 26"/>
          <p:cNvSpPr/>
          <p:nvPr/>
        </p:nvSpPr>
        <p:spPr>
          <a:xfrm>
            <a:off x="4983480" y="3668573"/>
            <a:ext cx="70355" cy="219456"/>
          </a:xfrm>
          <a:prstGeom prst="rect">
            <a:avLst/>
          </a:prstGeom>
          <a:solidFill>
            <a:srgbClr val="ECE9E2">
              <a:alpha val="65000"/>
            </a:srgbClr>
          </a:solidFill>
          <a:ln/>
        </p:spPr>
      </p:sp>
      <p:sp>
        <p:nvSpPr>
          <p:cNvPr id="29" name="Text 27"/>
          <p:cNvSpPr txBox="1"/>
          <p:nvPr/>
        </p:nvSpPr>
        <p:spPr>
          <a:xfrm>
            <a:off x="5190995" y="3602736"/>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3 %</a:t>
            </a:r>
            <a:endParaRPr lang="en-US" sz="1280" dirty="0"/>
          </a:p>
        </p:txBody>
      </p:sp>
      <p:sp>
        <p:nvSpPr>
          <p:cNvPr id="30" name="Text 28"/>
          <p:cNvSpPr txBox="1"/>
          <p:nvPr/>
        </p:nvSpPr>
        <p:spPr>
          <a:xfrm>
            <a:off x="8183880" y="1783080"/>
            <a:ext cx="3474720" cy="365760"/>
          </a:xfrm>
          <a:prstGeom prst="rect">
            <a:avLst/>
          </a:prstGeom>
          <a:noFill/>
          <a:ln/>
        </p:spPr>
        <p:txBody>
          <a:bodyPr wrap="square" lIns="0" tIns="0" rIns="0" bIns="0" rtlCol="0" anchor="t"/>
          <a:lstStyle/>
          <a:p>
            <a:pPr indent="0" marL="0">
              <a:buNone/>
            </a:pPr>
            <a:r>
              <a:rPr lang="en-US" sz="1800" b="1" dirty="0">
                <a:solidFill>
                  <a:srgbClr val="FF9F1C"/>
                </a:solidFill>
                <a:latin typeface="Courier New" pitchFamily="34" charset="0"/>
                <a:ea typeface="Courier New" pitchFamily="34" charset="-122"/>
                <a:cs typeface="Courier New" pitchFamily="34" charset="-120"/>
              </a:rPr>
              <a:t>T = 1.2</a:t>
            </a:r>
            <a:endParaRPr lang="en-US" sz="1800" dirty="0"/>
          </a:p>
        </p:txBody>
      </p:sp>
      <p:sp>
        <p:nvSpPr>
          <p:cNvPr id="31" name="Text 29"/>
          <p:cNvSpPr txBox="1"/>
          <p:nvPr/>
        </p:nvSpPr>
        <p:spPr>
          <a:xfrm>
            <a:off x="8183880" y="2286000"/>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A</a:t>
            </a:r>
            <a:endParaRPr lang="en-US" sz="1600" dirty="0"/>
          </a:p>
        </p:txBody>
      </p:sp>
      <p:sp>
        <p:nvSpPr>
          <p:cNvPr id="32" name="Shape 30"/>
          <p:cNvSpPr/>
          <p:nvPr/>
        </p:nvSpPr>
        <p:spPr>
          <a:xfrm>
            <a:off x="8732520" y="2351837"/>
            <a:ext cx="1286710" cy="219456"/>
          </a:xfrm>
          <a:prstGeom prst="rect">
            <a:avLst/>
          </a:prstGeom>
          <a:solidFill>
            <a:srgbClr val="FF9F1C"/>
          </a:solidFill>
          <a:ln/>
        </p:spPr>
      </p:sp>
      <p:sp>
        <p:nvSpPr>
          <p:cNvPr id="33" name="Text 31"/>
          <p:cNvSpPr txBox="1"/>
          <p:nvPr/>
        </p:nvSpPr>
        <p:spPr>
          <a:xfrm>
            <a:off x="10156390" y="2286000"/>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59 %</a:t>
            </a:r>
            <a:endParaRPr lang="en-US" sz="1280" dirty="0"/>
          </a:p>
        </p:txBody>
      </p:sp>
      <p:sp>
        <p:nvSpPr>
          <p:cNvPr id="34" name="Text 32"/>
          <p:cNvSpPr txBox="1"/>
          <p:nvPr/>
        </p:nvSpPr>
        <p:spPr>
          <a:xfrm>
            <a:off x="8183880" y="2724912"/>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B</a:t>
            </a:r>
            <a:endParaRPr lang="en-US" sz="1600" dirty="0"/>
          </a:p>
        </p:txBody>
      </p:sp>
      <p:sp>
        <p:nvSpPr>
          <p:cNvPr id="35" name="Shape 33"/>
          <p:cNvSpPr/>
          <p:nvPr/>
        </p:nvSpPr>
        <p:spPr>
          <a:xfrm>
            <a:off x="8732520" y="2790749"/>
            <a:ext cx="559202" cy="219456"/>
          </a:xfrm>
          <a:prstGeom prst="rect">
            <a:avLst/>
          </a:prstGeom>
          <a:solidFill>
            <a:srgbClr val="ECE9E2">
              <a:alpha val="65000"/>
            </a:srgbClr>
          </a:solidFill>
          <a:ln/>
        </p:spPr>
      </p:sp>
      <p:sp>
        <p:nvSpPr>
          <p:cNvPr id="36" name="Text 34"/>
          <p:cNvSpPr txBox="1"/>
          <p:nvPr/>
        </p:nvSpPr>
        <p:spPr>
          <a:xfrm>
            <a:off x="9428882" y="2724912"/>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25 %</a:t>
            </a:r>
            <a:endParaRPr lang="en-US" sz="1280" dirty="0"/>
          </a:p>
        </p:txBody>
      </p:sp>
      <p:sp>
        <p:nvSpPr>
          <p:cNvPr id="37" name="Text 35"/>
          <p:cNvSpPr txBox="1"/>
          <p:nvPr/>
        </p:nvSpPr>
        <p:spPr>
          <a:xfrm>
            <a:off x="8183880" y="3163824"/>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C</a:t>
            </a:r>
            <a:endParaRPr lang="en-US" sz="1600" dirty="0"/>
          </a:p>
        </p:txBody>
      </p:sp>
      <p:sp>
        <p:nvSpPr>
          <p:cNvPr id="38" name="Shape 36"/>
          <p:cNvSpPr/>
          <p:nvPr/>
        </p:nvSpPr>
        <p:spPr>
          <a:xfrm>
            <a:off x="8732520" y="3229661"/>
            <a:ext cx="243028" cy="219456"/>
          </a:xfrm>
          <a:prstGeom prst="rect">
            <a:avLst/>
          </a:prstGeom>
          <a:solidFill>
            <a:srgbClr val="ECE9E2">
              <a:alpha val="65000"/>
            </a:srgbClr>
          </a:solidFill>
          <a:ln/>
        </p:spPr>
      </p:sp>
      <p:sp>
        <p:nvSpPr>
          <p:cNvPr id="39" name="Text 37"/>
          <p:cNvSpPr txBox="1"/>
          <p:nvPr/>
        </p:nvSpPr>
        <p:spPr>
          <a:xfrm>
            <a:off x="9112708" y="3163824"/>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11 %</a:t>
            </a:r>
            <a:endParaRPr lang="en-US" sz="1280" dirty="0"/>
          </a:p>
        </p:txBody>
      </p:sp>
      <p:sp>
        <p:nvSpPr>
          <p:cNvPr id="40" name="Text 38"/>
          <p:cNvSpPr txBox="1"/>
          <p:nvPr/>
        </p:nvSpPr>
        <p:spPr>
          <a:xfrm>
            <a:off x="8183880" y="3602736"/>
            <a:ext cx="320040" cy="351130"/>
          </a:xfrm>
          <a:prstGeom prst="rect">
            <a:avLst/>
          </a:prstGeom>
          <a:noFill/>
          <a:ln/>
        </p:spPr>
        <p:txBody>
          <a:bodyPr wrap="square" lIns="0" tIns="0" rIns="0" bIns="0" rtlCol="0" anchor="ctr"/>
          <a:lstStyle/>
          <a:p>
            <a:pPr algn="r" indent="0" marL="0">
              <a:buNone/>
            </a:pPr>
            <a:r>
              <a:rPr lang="en-US" sz="1600" dirty="0">
                <a:solidFill>
                  <a:srgbClr val="ECE9E2"/>
                </a:solidFill>
                <a:latin typeface="Courier New" pitchFamily="34" charset="0"/>
                <a:ea typeface="Courier New" pitchFamily="34" charset="-122"/>
                <a:cs typeface="Courier New" pitchFamily="34" charset="-120"/>
              </a:rPr>
              <a:t>D</a:t>
            </a:r>
            <a:endParaRPr lang="en-US" sz="1600" dirty="0"/>
          </a:p>
        </p:txBody>
      </p:sp>
      <p:sp>
        <p:nvSpPr>
          <p:cNvPr id="41" name="Shape 39"/>
          <p:cNvSpPr/>
          <p:nvPr/>
        </p:nvSpPr>
        <p:spPr>
          <a:xfrm>
            <a:off x="8732520" y="3668573"/>
            <a:ext cx="105620" cy="219456"/>
          </a:xfrm>
          <a:prstGeom prst="rect">
            <a:avLst/>
          </a:prstGeom>
          <a:solidFill>
            <a:srgbClr val="ECE9E2">
              <a:alpha val="65000"/>
            </a:srgbClr>
          </a:solidFill>
          <a:ln/>
        </p:spPr>
      </p:sp>
      <p:sp>
        <p:nvSpPr>
          <p:cNvPr id="42" name="Text 40"/>
          <p:cNvSpPr txBox="1"/>
          <p:nvPr/>
        </p:nvSpPr>
        <p:spPr>
          <a:xfrm>
            <a:off x="8975300" y="3602736"/>
            <a:ext cx="1097280" cy="351130"/>
          </a:xfrm>
          <a:prstGeom prst="rect">
            <a:avLst/>
          </a:prstGeom>
          <a:noFill/>
          <a:ln/>
        </p:spPr>
        <p:txBody>
          <a:bodyPr wrap="square" lIns="0" tIns="0" rIns="0" bIns="0" rtlCol="0" anchor="ctr"/>
          <a:lstStyle/>
          <a:p>
            <a:pPr indent="0" marL="0">
              <a:buNone/>
            </a:pPr>
            <a:r>
              <a:rPr lang="en-US" sz="1280" dirty="0">
                <a:solidFill>
                  <a:srgbClr val="8A8F98"/>
                </a:solidFill>
                <a:latin typeface="Courier New" pitchFamily="34" charset="0"/>
                <a:ea typeface="Courier New" pitchFamily="34" charset="-122"/>
                <a:cs typeface="Courier New" pitchFamily="34" charset="-120"/>
              </a:rPr>
              <a:t>5 %</a:t>
            </a:r>
            <a:endParaRPr lang="en-US" sz="1280" dirty="0"/>
          </a:p>
        </p:txBody>
      </p:sp>
      <p:sp>
        <p:nvSpPr>
          <p:cNvPr id="43" name="Text 41"/>
          <p:cNvSpPr txBox="1"/>
          <p:nvPr/>
        </p:nvSpPr>
        <p:spPr>
          <a:xfrm>
            <a:off x="685800" y="4160520"/>
            <a:ext cx="10789920" cy="320040"/>
          </a:xfrm>
          <a:prstGeom prst="rect">
            <a:avLst/>
          </a:prstGeom>
          <a:noFill/>
          <a:ln/>
        </p:spPr>
        <p:txBody>
          <a:bodyPr wrap="square" lIns="0" tIns="0" rIns="0" bIns="0" rtlCol="0" anchor="t"/>
          <a:lstStyle/>
          <a:p>
            <a:pPr indent="0" marL="0">
              <a:buNone/>
            </a:pPr>
            <a:r>
              <a:rPr lang="en-US" sz="1500" dirty="0">
                <a:solidFill>
                  <a:srgbClr val="8A8F98"/>
                </a:solidFill>
                <a:latin typeface="Courier New" pitchFamily="34" charset="0"/>
                <a:ea typeface="Courier New" pitchFamily="34" charset="-122"/>
                <a:cs typeface="Courier New" pitchFamily="34" charset="-120"/>
              </a:rPr>
              <a:t>syntetické logits [3, 2, 1, 0] · softmax(logits / T) · osa 0–100 %</a:t>
            </a:r>
            <a:endParaRPr lang="en-US" sz="1500" dirty="0"/>
          </a:p>
        </p:txBody>
      </p:sp>
      <p:sp>
        <p:nvSpPr>
          <p:cNvPr id="44" name="Text 42"/>
          <p:cNvSpPr txBox="1"/>
          <p:nvPr/>
        </p:nvSpPr>
        <p:spPr>
          <a:xfrm>
            <a:off x="685800" y="4617720"/>
            <a:ext cx="10789920" cy="822960"/>
          </a:xfrm>
          <a:prstGeom prst="rect">
            <a:avLst/>
          </a:prstGeom>
          <a:noFill/>
          <a:ln/>
        </p:spPr>
        <p:txBody>
          <a:bodyPr wrap="square" lIns="0" tIns="0" rIns="0" bIns="0" rtlCol="0" anchor="t"/>
          <a:lstStyle/>
          <a:p>
            <a:pPr indent="0" marL="0">
              <a:buNone/>
            </a:pPr>
            <a:r>
              <a:rPr lang="en-US" sz="2200" dirty="0">
                <a:solidFill>
                  <a:srgbClr val="ECE9E2"/>
                </a:solidFill>
                <a:latin typeface="Arial" pitchFamily="34" charset="0"/>
                <a:ea typeface="Arial" pitchFamily="34" charset="-122"/>
                <a:cs typeface="Arial" pitchFamily="34" charset="-120"/>
              </a:rPr>
              <a:t>Kostka, která před každým hodem změní pravděpodobnosti svých stěn — podle všeho, co zatím viděla.</a:t>
            </a:r>
            <a:endParaRPr lang="en-US" sz="2200" dirty="0"/>
          </a:p>
        </p:txBody>
      </p:sp>
      <p:sp>
        <p:nvSpPr>
          <p:cNvPr id="45" name="Text 43"/>
          <p:cNvSpPr txBox="1"/>
          <p:nvPr/>
        </p:nvSpPr>
        <p:spPr>
          <a:xfrm>
            <a:off x="685800" y="5623560"/>
            <a:ext cx="7315200" cy="365760"/>
          </a:xfrm>
          <a:prstGeom prst="rect">
            <a:avLst/>
          </a:prstGeom>
          <a:noFill/>
          <a:ln/>
        </p:spPr>
        <p:txBody>
          <a:bodyPr wrap="square" lIns="0" tIns="0" rIns="0" bIns="0" rtlCol="0" anchor="t"/>
          <a:lstStyle/>
          <a:p>
            <a:pPr indent="0" marL="0">
              <a:buNone/>
            </a:pPr>
            <a:r>
              <a:rPr lang="en-US" sz="1800" b="1" dirty="0">
                <a:solidFill>
                  <a:srgbClr val="FF9F1C"/>
                </a:solidFill>
                <a:latin typeface="Courier New" pitchFamily="34" charset="0"/>
                <a:ea typeface="Courier New" pitchFamily="34" charset="-122"/>
                <a:cs typeface="Courier New" pitchFamily="34" charset="-120"/>
              </a:rPr>
              <a:t>Stochastický ≠ náhodný chaos.</a:t>
            </a:r>
            <a:endParaRPr lang="en-US" sz="18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09 · SMYČKA</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A znovu. A znovu. A znovu.</a:t>
            </a:r>
            <a:endParaRPr lang="en-US" sz="3600" dirty="0"/>
          </a:p>
        </p:txBody>
      </p:sp>
      <p:sp>
        <p:nvSpPr>
          <p:cNvPr id="4" name="Text 2"/>
          <p:cNvSpPr/>
          <p:nvPr/>
        </p:nvSpPr>
        <p:spPr>
          <a:xfrm>
            <a:off x="822960" y="1783080"/>
            <a:ext cx="2926080" cy="34747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text</a:t>
            </a:r>
            <a:endParaRPr lang="en-US" sz="1300" dirty="0"/>
          </a:p>
        </p:txBody>
      </p:sp>
      <p:sp>
        <p:nvSpPr>
          <p:cNvPr id="5" name="Shape 3"/>
          <p:cNvSpPr/>
          <p:nvPr/>
        </p:nvSpPr>
        <p:spPr>
          <a:xfrm>
            <a:off x="2286000" y="2130552"/>
            <a:ext cx="0" cy="109728"/>
          </a:xfrm>
          <a:prstGeom prst="line">
            <a:avLst/>
          </a:prstGeom>
          <a:noFill/>
          <a:ln w="12700">
            <a:solidFill>
              <a:srgbClr val="8A8F98"/>
            </a:solidFill>
            <a:prstDash val="solid"/>
            <a:tailEnd type="triangle"/>
          </a:ln>
        </p:spPr>
      </p:sp>
      <p:sp>
        <p:nvSpPr>
          <p:cNvPr id="6" name="Text 4"/>
          <p:cNvSpPr/>
          <p:nvPr/>
        </p:nvSpPr>
        <p:spPr>
          <a:xfrm>
            <a:off x="822960" y="2240280"/>
            <a:ext cx="2926080" cy="34747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tokenizer</a:t>
            </a:r>
            <a:endParaRPr lang="en-US" sz="1300" dirty="0"/>
          </a:p>
        </p:txBody>
      </p:sp>
      <p:sp>
        <p:nvSpPr>
          <p:cNvPr id="7" name="Shape 5"/>
          <p:cNvSpPr/>
          <p:nvPr/>
        </p:nvSpPr>
        <p:spPr>
          <a:xfrm>
            <a:off x="2286000" y="2587752"/>
            <a:ext cx="0" cy="109728"/>
          </a:xfrm>
          <a:prstGeom prst="line">
            <a:avLst/>
          </a:prstGeom>
          <a:noFill/>
          <a:ln w="12700">
            <a:solidFill>
              <a:srgbClr val="8A8F98"/>
            </a:solidFill>
            <a:prstDash val="solid"/>
            <a:tailEnd type="triangle"/>
          </a:ln>
        </p:spPr>
      </p:sp>
      <p:sp>
        <p:nvSpPr>
          <p:cNvPr id="8" name="Text 6"/>
          <p:cNvSpPr/>
          <p:nvPr/>
        </p:nvSpPr>
        <p:spPr>
          <a:xfrm>
            <a:off x="822960" y="2697480"/>
            <a:ext cx="2926080" cy="34747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tokeny</a:t>
            </a:r>
            <a:endParaRPr lang="en-US" sz="1300" dirty="0"/>
          </a:p>
        </p:txBody>
      </p:sp>
      <p:sp>
        <p:nvSpPr>
          <p:cNvPr id="9" name="Shape 7"/>
          <p:cNvSpPr/>
          <p:nvPr/>
        </p:nvSpPr>
        <p:spPr>
          <a:xfrm>
            <a:off x="2286000" y="3044952"/>
            <a:ext cx="0" cy="109728"/>
          </a:xfrm>
          <a:prstGeom prst="line">
            <a:avLst/>
          </a:prstGeom>
          <a:noFill/>
          <a:ln w="12700">
            <a:solidFill>
              <a:srgbClr val="8A8F98"/>
            </a:solidFill>
            <a:prstDash val="solid"/>
            <a:tailEnd type="triangle"/>
          </a:ln>
        </p:spPr>
      </p:sp>
      <p:sp>
        <p:nvSpPr>
          <p:cNvPr id="10" name="Text 8"/>
          <p:cNvSpPr/>
          <p:nvPr/>
        </p:nvSpPr>
        <p:spPr>
          <a:xfrm>
            <a:off x="822960" y="3154680"/>
            <a:ext cx="2926080" cy="34747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embeddings</a:t>
            </a:r>
            <a:endParaRPr lang="en-US" sz="1300" dirty="0"/>
          </a:p>
        </p:txBody>
      </p:sp>
      <p:sp>
        <p:nvSpPr>
          <p:cNvPr id="11" name="Shape 9"/>
          <p:cNvSpPr/>
          <p:nvPr/>
        </p:nvSpPr>
        <p:spPr>
          <a:xfrm>
            <a:off x="2286000" y="3502152"/>
            <a:ext cx="0" cy="109728"/>
          </a:xfrm>
          <a:prstGeom prst="line">
            <a:avLst/>
          </a:prstGeom>
          <a:noFill/>
          <a:ln w="12700">
            <a:solidFill>
              <a:srgbClr val="8A8F98"/>
            </a:solidFill>
            <a:prstDash val="solid"/>
            <a:tailEnd type="triangle"/>
          </a:ln>
        </p:spPr>
      </p:sp>
      <p:sp>
        <p:nvSpPr>
          <p:cNvPr id="12" name="Text 10"/>
          <p:cNvSpPr/>
          <p:nvPr/>
        </p:nvSpPr>
        <p:spPr>
          <a:xfrm>
            <a:off x="822960" y="3611880"/>
            <a:ext cx="2926080" cy="34747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transformer × N</a:t>
            </a:r>
            <a:endParaRPr lang="en-US" sz="1300" dirty="0"/>
          </a:p>
        </p:txBody>
      </p:sp>
      <p:sp>
        <p:nvSpPr>
          <p:cNvPr id="13" name="Shape 11"/>
          <p:cNvSpPr/>
          <p:nvPr/>
        </p:nvSpPr>
        <p:spPr>
          <a:xfrm>
            <a:off x="2286000" y="3959352"/>
            <a:ext cx="0" cy="109728"/>
          </a:xfrm>
          <a:prstGeom prst="line">
            <a:avLst/>
          </a:prstGeom>
          <a:noFill/>
          <a:ln w="12700">
            <a:solidFill>
              <a:srgbClr val="8A8F98"/>
            </a:solidFill>
            <a:prstDash val="solid"/>
            <a:tailEnd type="triangle"/>
          </a:ln>
        </p:spPr>
      </p:sp>
      <p:sp>
        <p:nvSpPr>
          <p:cNvPr id="14" name="Text 12"/>
          <p:cNvSpPr/>
          <p:nvPr/>
        </p:nvSpPr>
        <p:spPr>
          <a:xfrm>
            <a:off x="822960" y="4069080"/>
            <a:ext cx="2926080" cy="34747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logits</a:t>
            </a:r>
            <a:endParaRPr lang="en-US" sz="1300" dirty="0"/>
          </a:p>
        </p:txBody>
      </p:sp>
      <p:sp>
        <p:nvSpPr>
          <p:cNvPr id="15" name="Shape 13"/>
          <p:cNvSpPr/>
          <p:nvPr/>
        </p:nvSpPr>
        <p:spPr>
          <a:xfrm>
            <a:off x="2286000" y="4416552"/>
            <a:ext cx="0" cy="109728"/>
          </a:xfrm>
          <a:prstGeom prst="line">
            <a:avLst/>
          </a:prstGeom>
          <a:noFill/>
          <a:ln w="12700">
            <a:solidFill>
              <a:srgbClr val="8A8F98"/>
            </a:solidFill>
            <a:prstDash val="solid"/>
            <a:tailEnd type="triangle"/>
          </a:ln>
        </p:spPr>
      </p:sp>
      <p:sp>
        <p:nvSpPr>
          <p:cNvPr id="16" name="Text 14"/>
          <p:cNvSpPr/>
          <p:nvPr/>
        </p:nvSpPr>
        <p:spPr>
          <a:xfrm>
            <a:off x="822960" y="4526280"/>
            <a:ext cx="2926080" cy="34747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softmax → pravděpodobnosti</a:t>
            </a:r>
            <a:endParaRPr lang="en-US" sz="1300" dirty="0"/>
          </a:p>
        </p:txBody>
      </p:sp>
      <p:sp>
        <p:nvSpPr>
          <p:cNvPr id="17" name="Shape 15"/>
          <p:cNvSpPr/>
          <p:nvPr/>
        </p:nvSpPr>
        <p:spPr>
          <a:xfrm>
            <a:off x="2286000" y="4873752"/>
            <a:ext cx="0" cy="109728"/>
          </a:xfrm>
          <a:prstGeom prst="line">
            <a:avLst/>
          </a:prstGeom>
          <a:noFill/>
          <a:ln w="12700">
            <a:solidFill>
              <a:srgbClr val="8A8F98"/>
            </a:solidFill>
            <a:prstDash val="solid"/>
            <a:tailEnd type="triangle"/>
          </a:ln>
        </p:spPr>
      </p:sp>
      <p:sp>
        <p:nvSpPr>
          <p:cNvPr id="18" name="Text 16"/>
          <p:cNvSpPr/>
          <p:nvPr/>
        </p:nvSpPr>
        <p:spPr>
          <a:xfrm>
            <a:off x="822960" y="4983480"/>
            <a:ext cx="2926080" cy="34747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sampling</a:t>
            </a:r>
            <a:endParaRPr lang="en-US" sz="1300" dirty="0"/>
          </a:p>
        </p:txBody>
      </p:sp>
      <p:sp>
        <p:nvSpPr>
          <p:cNvPr id="19" name="Shape 17"/>
          <p:cNvSpPr/>
          <p:nvPr/>
        </p:nvSpPr>
        <p:spPr>
          <a:xfrm>
            <a:off x="2286000" y="5330952"/>
            <a:ext cx="0" cy="109728"/>
          </a:xfrm>
          <a:prstGeom prst="line">
            <a:avLst/>
          </a:prstGeom>
          <a:noFill/>
          <a:ln w="12700">
            <a:solidFill>
              <a:srgbClr val="8A8F98"/>
            </a:solidFill>
            <a:prstDash val="solid"/>
            <a:tailEnd type="triangle"/>
          </a:ln>
        </p:spPr>
      </p:sp>
      <p:sp>
        <p:nvSpPr>
          <p:cNvPr id="20" name="Text 18"/>
          <p:cNvSpPr/>
          <p:nvPr/>
        </p:nvSpPr>
        <p:spPr>
          <a:xfrm>
            <a:off x="822960" y="5440680"/>
            <a:ext cx="2926080" cy="347472"/>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300" dirty="0">
                <a:solidFill>
                  <a:srgbClr val="FF9F1C"/>
                </a:solidFill>
                <a:latin typeface="Courier New" pitchFamily="34" charset="0"/>
                <a:ea typeface="Courier New" pitchFamily="34" charset="-122"/>
                <a:cs typeface="Courier New" pitchFamily="34" charset="-120"/>
              </a:rPr>
              <a:t>další token</a:t>
            </a:r>
            <a:endParaRPr lang="en-US" sz="1300" dirty="0"/>
          </a:p>
        </p:txBody>
      </p:sp>
      <p:sp>
        <p:nvSpPr>
          <p:cNvPr id="21" name="Shape 19"/>
          <p:cNvSpPr/>
          <p:nvPr/>
        </p:nvSpPr>
        <p:spPr>
          <a:xfrm>
            <a:off x="3749040" y="5614416"/>
            <a:ext cx="457200" cy="0"/>
          </a:xfrm>
          <a:prstGeom prst="line">
            <a:avLst/>
          </a:prstGeom>
          <a:noFill/>
          <a:ln w="19050">
            <a:solidFill>
              <a:srgbClr val="FF9F1C"/>
            </a:solidFill>
            <a:prstDash val="solid"/>
          </a:ln>
        </p:spPr>
      </p:sp>
      <p:sp>
        <p:nvSpPr>
          <p:cNvPr id="22" name="Shape 20"/>
          <p:cNvSpPr/>
          <p:nvPr/>
        </p:nvSpPr>
        <p:spPr>
          <a:xfrm flipV="1">
            <a:off x="4206240" y="2871216"/>
            <a:ext cx="0" cy="2743200"/>
          </a:xfrm>
          <a:prstGeom prst="line">
            <a:avLst/>
          </a:prstGeom>
          <a:noFill/>
          <a:ln w="19050">
            <a:solidFill>
              <a:srgbClr val="FF9F1C"/>
            </a:solidFill>
            <a:prstDash val="solid"/>
          </a:ln>
        </p:spPr>
      </p:sp>
      <p:sp>
        <p:nvSpPr>
          <p:cNvPr id="23" name="Shape 21"/>
          <p:cNvSpPr/>
          <p:nvPr/>
        </p:nvSpPr>
        <p:spPr>
          <a:xfrm flipH="1">
            <a:off x="3749040" y="2871216"/>
            <a:ext cx="457200" cy="0"/>
          </a:xfrm>
          <a:prstGeom prst="line">
            <a:avLst/>
          </a:prstGeom>
          <a:noFill/>
          <a:ln w="19050">
            <a:solidFill>
              <a:srgbClr val="FF9F1C"/>
            </a:solidFill>
            <a:prstDash val="solid"/>
            <a:tailEnd type="triangle"/>
          </a:ln>
        </p:spPr>
      </p:sp>
      <p:sp>
        <p:nvSpPr>
          <p:cNvPr id="24" name="Text 22"/>
          <p:cNvSpPr txBox="1"/>
          <p:nvPr/>
        </p:nvSpPr>
        <p:spPr>
          <a:xfrm>
            <a:off x="4297680" y="3840480"/>
            <a:ext cx="1097280" cy="640080"/>
          </a:xfrm>
          <a:prstGeom prst="rect">
            <a:avLst/>
          </a:prstGeom>
          <a:noFill/>
          <a:ln/>
        </p:spPr>
        <p:txBody>
          <a:bodyPr wrap="square" lIns="0" tIns="0" rIns="0" bIns="0" rtlCol="0" anchor="t"/>
          <a:lstStyle/>
          <a:p>
            <a:pPr indent="0" marL="0">
              <a:buNone/>
            </a:pPr>
            <a:r>
              <a:rPr lang="en-US" sz="1400" dirty="0">
                <a:solidFill>
                  <a:srgbClr val="FF9F1C"/>
                </a:solidFill>
                <a:latin typeface="Courier New" pitchFamily="34" charset="0"/>
                <a:ea typeface="Courier New" pitchFamily="34" charset="-122"/>
                <a:cs typeface="Courier New" pitchFamily="34" charset="-120"/>
              </a:rPr>
              <a:t>↺ kontext</a:t>
            </a:r>
            <a:endParaRPr lang="en-US" sz="1400" dirty="0"/>
          </a:p>
          <a:p>
            <a:pPr indent="0" marL="0">
              <a:buNone/>
            </a:pPr>
            <a:r>
              <a:rPr lang="en-US" sz="1400" dirty="0">
                <a:solidFill>
                  <a:srgbClr val="FF9F1C"/>
                </a:solidFill>
                <a:latin typeface="Courier New" pitchFamily="34" charset="0"/>
                <a:ea typeface="Courier New" pitchFamily="34" charset="-122"/>
                <a:cs typeface="Courier New" pitchFamily="34" charset="-120"/>
              </a:rPr>
              <a:t>  tokenů</a:t>
            </a:r>
            <a:endParaRPr lang="en-US" sz="1400" dirty="0"/>
          </a:p>
        </p:txBody>
      </p:sp>
      <p:sp>
        <p:nvSpPr>
          <p:cNvPr id="25" name="Text 23"/>
          <p:cNvSpPr txBox="1"/>
          <p:nvPr/>
        </p:nvSpPr>
        <p:spPr>
          <a:xfrm>
            <a:off x="5760720" y="2103120"/>
            <a:ext cx="3520440" cy="457200"/>
          </a:xfrm>
          <a:prstGeom prst="rect">
            <a:avLst/>
          </a:prstGeom>
          <a:noFill/>
          <a:ln/>
        </p:spPr>
        <p:txBody>
          <a:bodyPr wrap="square" lIns="0" tIns="0" rIns="0" bIns="0" rtlCol="0" anchor="ctr"/>
          <a:lstStyle/>
          <a:p>
            <a:pPr indent="0" marL="0">
              <a:buNone/>
            </a:pPr>
            <a:r>
              <a:rPr lang="en-US" sz="2000" dirty="0">
                <a:solidFill>
                  <a:srgbClr val="ECE9E2"/>
                </a:solidFill>
                <a:latin typeface="Courier New" pitchFamily="34" charset="0"/>
                <a:ea typeface="Courier New" pitchFamily="34" charset="-122"/>
                <a:cs typeface="Courier New" pitchFamily="34" charset="-120"/>
              </a:rPr>
              <a:t>Kočka sedí na</a:t>
            </a:r>
            <a:endParaRPr lang="en-US" sz="2000" dirty="0"/>
          </a:p>
        </p:txBody>
      </p:sp>
      <p:sp>
        <p:nvSpPr>
          <p:cNvPr id="26" name="Shape 24"/>
          <p:cNvSpPr/>
          <p:nvPr/>
        </p:nvSpPr>
        <p:spPr>
          <a:xfrm>
            <a:off x="9326880" y="2331720"/>
            <a:ext cx="548640" cy="0"/>
          </a:xfrm>
          <a:prstGeom prst="line">
            <a:avLst/>
          </a:prstGeom>
          <a:noFill/>
          <a:ln w="19050">
            <a:solidFill>
              <a:srgbClr val="8A8F98"/>
            </a:solidFill>
            <a:prstDash val="solid"/>
            <a:tailEnd type="triangle"/>
          </a:ln>
        </p:spPr>
      </p:sp>
      <p:sp>
        <p:nvSpPr>
          <p:cNvPr id="27" name="Text 25"/>
          <p:cNvSpPr/>
          <p:nvPr/>
        </p:nvSpPr>
        <p:spPr>
          <a:xfrm>
            <a:off x="10012680" y="2103120"/>
            <a:ext cx="822960" cy="45720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2000" dirty="0">
                <a:solidFill>
                  <a:srgbClr val="FF9F1C"/>
                </a:solidFill>
                <a:latin typeface="Courier New" pitchFamily="34" charset="0"/>
                <a:ea typeface="Courier New" pitchFamily="34" charset="-122"/>
                <a:cs typeface="Courier New" pitchFamily="34" charset="-120"/>
              </a:rPr>
              <a:t>·st</a:t>
            </a:r>
            <a:endParaRPr lang="en-US" sz="2000" dirty="0"/>
          </a:p>
        </p:txBody>
      </p:sp>
      <p:sp>
        <p:nvSpPr>
          <p:cNvPr id="28" name="Text 26"/>
          <p:cNvSpPr txBox="1"/>
          <p:nvPr/>
        </p:nvSpPr>
        <p:spPr>
          <a:xfrm>
            <a:off x="5760720" y="2880360"/>
            <a:ext cx="3520440" cy="457200"/>
          </a:xfrm>
          <a:prstGeom prst="rect">
            <a:avLst/>
          </a:prstGeom>
          <a:noFill/>
          <a:ln/>
        </p:spPr>
        <p:txBody>
          <a:bodyPr wrap="square" lIns="0" tIns="0" rIns="0" bIns="0" rtlCol="0" anchor="ctr"/>
          <a:lstStyle/>
          <a:p>
            <a:pPr indent="0" marL="0">
              <a:buNone/>
            </a:pPr>
            <a:r>
              <a:rPr lang="en-US" sz="2000" dirty="0">
                <a:solidFill>
                  <a:srgbClr val="ECE9E2"/>
                </a:solidFill>
                <a:latin typeface="Courier New" pitchFamily="34" charset="0"/>
                <a:ea typeface="Courier New" pitchFamily="34" charset="-122"/>
                <a:cs typeface="Courier New" pitchFamily="34" charset="-120"/>
              </a:rPr>
              <a:t>Kočka sedí na st</a:t>
            </a:r>
            <a:endParaRPr lang="en-US" sz="2000" dirty="0"/>
          </a:p>
        </p:txBody>
      </p:sp>
      <p:sp>
        <p:nvSpPr>
          <p:cNvPr id="29" name="Shape 27"/>
          <p:cNvSpPr/>
          <p:nvPr/>
        </p:nvSpPr>
        <p:spPr>
          <a:xfrm>
            <a:off x="9326880" y="3108960"/>
            <a:ext cx="548640" cy="0"/>
          </a:xfrm>
          <a:prstGeom prst="line">
            <a:avLst/>
          </a:prstGeom>
          <a:noFill/>
          <a:ln w="19050">
            <a:solidFill>
              <a:srgbClr val="8A8F98"/>
            </a:solidFill>
            <a:prstDash val="solid"/>
            <a:tailEnd type="triangle"/>
          </a:ln>
        </p:spPr>
      </p:sp>
      <p:sp>
        <p:nvSpPr>
          <p:cNvPr id="30" name="Text 28"/>
          <p:cNvSpPr/>
          <p:nvPr/>
        </p:nvSpPr>
        <p:spPr>
          <a:xfrm>
            <a:off x="10012680" y="2880360"/>
            <a:ext cx="822960" cy="45720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2000" dirty="0">
                <a:solidFill>
                  <a:srgbClr val="FF9F1C"/>
                </a:solidFill>
                <a:latin typeface="Courier New" pitchFamily="34" charset="0"/>
                <a:ea typeface="Courier New" pitchFamily="34" charset="-122"/>
                <a:cs typeface="Courier New" pitchFamily="34" charset="-120"/>
              </a:rPr>
              <a:t>ře</a:t>
            </a:r>
            <a:endParaRPr lang="en-US" sz="2000" dirty="0"/>
          </a:p>
        </p:txBody>
      </p:sp>
      <p:sp>
        <p:nvSpPr>
          <p:cNvPr id="31" name="Text 29"/>
          <p:cNvSpPr txBox="1"/>
          <p:nvPr/>
        </p:nvSpPr>
        <p:spPr>
          <a:xfrm>
            <a:off x="5760720" y="3657600"/>
            <a:ext cx="3520440" cy="457200"/>
          </a:xfrm>
          <a:prstGeom prst="rect">
            <a:avLst/>
          </a:prstGeom>
          <a:noFill/>
          <a:ln/>
        </p:spPr>
        <p:txBody>
          <a:bodyPr wrap="square" lIns="0" tIns="0" rIns="0" bIns="0" rtlCol="0" anchor="ctr"/>
          <a:lstStyle/>
          <a:p>
            <a:pPr indent="0" marL="0">
              <a:buNone/>
            </a:pPr>
            <a:r>
              <a:rPr lang="en-US" sz="2000" dirty="0">
                <a:solidFill>
                  <a:srgbClr val="ECE9E2"/>
                </a:solidFill>
                <a:latin typeface="Courier New" pitchFamily="34" charset="0"/>
                <a:ea typeface="Courier New" pitchFamily="34" charset="-122"/>
                <a:cs typeface="Courier New" pitchFamily="34" charset="-120"/>
              </a:rPr>
              <a:t>Kočka sedí na stře</a:t>
            </a:r>
            <a:endParaRPr lang="en-US" sz="2000" dirty="0"/>
          </a:p>
        </p:txBody>
      </p:sp>
      <p:sp>
        <p:nvSpPr>
          <p:cNvPr id="32" name="Shape 30"/>
          <p:cNvSpPr/>
          <p:nvPr/>
        </p:nvSpPr>
        <p:spPr>
          <a:xfrm>
            <a:off x="9326880" y="3886200"/>
            <a:ext cx="548640" cy="0"/>
          </a:xfrm>
          <a:prstGeom prst="line">
            <a:avLst/>
          </a:prstGeom>
          <a:noFill/>
          <a:ln w="19050">
            <a:solidFill>
              <a:srgbClr val="8A8F98"/>
            </a:solidFill>
            <a:prstDash val="solid"/>
            <a:tailEnd type="triangle"/>
          </a:ln>
        </p:spPr>
      </p:sp>
      <p:sp>
        <p:nvSpPr>
          <p:cNvPr id="33" name="Text 31"/>
          <p:cNvSpPr/>
          <p:nvPr/>
        </p:nvSpPr>
        <p:spPr>
          <a:xfrm>
            <a:off x="10012680" y="3657600"/>
            <a:ext cx="822960" cy="45720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2000" dirty="0">
                <a:solidFill>
                  <a:srgbClr val="FF9F1C"/>
                </a:solidFill>
                <a:latin typeface="Courier New" pitchFamily="34" charset="0"/>
                <a:ea typeface="Courier New" pitchFamily="34" charset="-122"/>
                <a:cs typeface="Courier New" pitchFamily="34" charset="-120"/>
              </a:rPr>
              <a:t>še</a:t>
            </a:r>
            <a:endParaRPr lang="en-US" sz="2000" dirty="0"/>
          </a:p>
        </p:txBody>
      </p:sp>
      <p:sp>
        <p:nvSpPr>
          <p:cNvPr id="34" name="Text 32"/>
          <p:cNvSpPr txBox="1"/>
          <p:nvPr/>
        </p:nvSpPr>
        <p:spPr>
          <a:xfrm>
            <a:off x="5760720" y="4434840"/>
            <a:ext cx="3520440" cy="457200"/>
          </a:xfrm>
          <a:prstGeom prst="rect">
            <a:avLst/>
          </a:prstGeom>
          <a:noFill/>
          <a:ln/>
        </p:spPr>
        <p:txBody>
          <a:bodyPr wrap="square" lIns="0" tIns="0" rIns="0" bIns="0" rtlCol="0" anchor="ctr"/>
          <a:lstStyle/>
          <a:p>
            <a:pPr indent="0" marL="0">
              <a:buNone/>
            </a:pPr>
            <a:r>
              <a:rPr lang="en-US" sz="2000" dirty="0">
                <a:solidFill>
                  <a:srgbClr val="ECE9E2"/>
                </a:solidFill>
                <a:latin typeface="Courier New" pitchFamily="34" charset="0"/>
                <a:ea typeface="Courier New" pitchFamily="34" charset="-122"/>
                <a:cs typeface="Courier New" pitchFamily="34" charset="-120"/>
              </a:rPr>
              <a:t>Kočka sedí na střeše</a:t>
            </a:r>
            <a:endParaRPr lang="en-US" sz="2000" dirty="0"/>
          </a:p>
        </p:txBody>
      </p:sp>
      <p:sp>
        <p:nvSpPr>
          <p:cNvPr id="35" name="Shape 33"/>
          <p:cNvSpPr/>
          <p:nvPr/>
        </p:nvSpPr>
        <p:spPr>
          <a:xfrm>
            <a:off x="9326880" y="4663440"/>
            <a:ext cx="548640" cy="0"/>
          </a:xfrm>
          <a:prstGeom prst="line">
            <a:avLst/>
          </a:prstGeom>
          <a:noFill/>
          <a:ln w="19050">
            <a:solidFill>
              <a:srgbClr val="8A8F98"/>
            </a:solidFill>
            <a:prstDash val="solid"/>
            <a:tailEnd type="triangle"/>
          </a:ln>
        </p:spPr>
      </p:sp>
      <p:sp>
        <p:nvSpPr>
          <p:cNvPr id="36" name="Text 34"/>
          <p:cNvSpPr/>
          <p:nvPr/>
        </p:nvSpPr>
        <p:spPr>
          <a:xfrm>
            <a:off x="10012680" y="4434840"/>
            <a:ext cx="822960" cy="45720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2000" dirty="0">
                <a:solidFill>
                  <a:srgbClr val="FF9F1C"/>
                </a:solidFill>
                <a:latin typeface="Courier New" pitchFamily="34" charset="0"/>
                <a:ea typeface="Courier New" pitchFamily="34" charset="-122"/>
                <a:cs typeface="Courier New" pitchFamily="34" charset="-120"/>
              </a:rPr>
              <a:t>.</a:t>
            </a:r>
            <a:endParaRPr lang="en-US" sz="2000" dirty="0"/>
          </a:p>
        </p:txBody>
      </p:sp>
      <p:sp>
        <p:nvSpPr>
          <p:cNvPr id="37" name="Text 35"/>
          <p:cNvSpPr txBox="1"/>
          <p:nvPr/>
        </p:nvSpPr>
        <p:spPr>
          <a:xfrm>
            <a:off x="5760720" y="5349240"/>
            <a:ext cx="6400800" cy="320040"/>
          </a:xfrm>
          <a:prstGeom prst="rect">
            <a:avLst/>
          </a:prstGeom>
          <a:noFill/>
          <a:ln/>
        </p:spPr>
        <p:txBody>
          <a:bodyPr wrap="square" lIns="0" tIns="0" rIns="0" bIns="0" rtlCol="0" anchor="t"/>
          <a:lstStyle/>
          <a:p>
            <a:pPr indent="0" marL="0">
              <a:buNone/>
            </a:pPr>
            <a:r>
              <a:rPr lang="en-US" sz="1500" dirty="0">
                <a:solidFill>
                  <a:srgbClr val="8A8F98"/>
                </a:solidFill>
                <a:latin typeface="Courier New" pitchFamily="34" charset="0"/>
                <a:ea typeface="Courier New" pitchFamily="34" charset="-122"/>
                <a:cs typeface="Courier New" pitchFamily="34" charset="-120"/>
              </a:rPr>
              <a:t>tokeny podle o200k_base; konkrétní volby ilustrativní</a:t>
            </a:r>
            <a:endParaRPr lang="en-US" sz="15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10 · PROČ TO FUNGUJE</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Tak proč je to tak chytré?</a:t>
            </a:r>
            <a:endParaRPr lang="en-US" sz="3600" dirty="0"/>
          </a:p>
        </p:txBody>
      </p:sp>
      <p:sp>
        <p:nvSpPr>
          <p:cNvPr id="4" name="Text 2"/>
          <p:cNvSpPr/>
          <p:nvPr/>
        </p:nvSpPr>
        <p:spPr>
          <a:xfrm>
            <a:off x="685800" y="1828800"/>
            <a:ext cx="6309360" cy="53035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700" dirty="0">
                <a:solidFill>
                  <a:srgbClr val="ECE9E2"/>
                </a:solidFill>
                <a:latin typeface="Courier New" pitchFamily="34" charset="0"/>
                <a:ea typeface="Courier New" pitchFamily="34" charset="-122"/>
                <a:cs typeface="Courier New" pitchFamily="34" charset="-120"/>
              </a:rPr>
              <a:t>Hlavní město Austrálie je …</a:t>
            </a:r>
            <a:endParaRPr lang="en-US" sz="1700" dirty="0"/>
          </a:p>
        </p:txBody>
      </p:sp>
      <p:sp>
        <p:nvSpPr>
          <p:cNvPr id="5" name="Shape 3"/>
          <p:cNvSpPr/>
          <p:nvPr/>
        </p:nvSpPr>
        <p:spPr>
          <a:xfrm>
            <a:off x="7086600" y="2093976"/>
            <a:ext cx="594360" cy="0"/>
          </a:xfrm>
          <a:prstGeom prst="line">
            <a:avLst/>
          </a:prstGeom>
          <a:noFill/>
          <a:ln w="19050">
            <a:solidFill>
              <a:srgbClr val="8A8F98"/>
            </a:solidFill>
            <a:prstDash val="solid"/>
            <a:tailEnd type="triangle"/>
          </a:ln>
        </p:spPr>
      </p:sp>
      <p:sp>
        <p:nvSpPr>
          <p:cNvPr id="6" name="Text 4"/>
          <p:cNvSpPr txBox="1"/>
          <p:nvPr/>
        </p:nvSpPr>
        <p:spPr>
          <a:xfrm>
            <a:off x="7818120" y="1828800"/>
            <a:ext cx="3657600" cy="530352"/>
          </a:xfrm>
          <a:prstGeom prst="rect">
            <a:avLst/>
          </a:prstGeom>
          <a:noFill/>
          <a:ln/>
        </p:spPr>
        <p:txBody>
          <a:bodyPr wrap="square" lIns="0" tIns="0" rIns="0" bIns="0" rtlCol="0" anchor="ctr"/>
          <a:lstStyle/>
          <a:p>
            <a:pPr indent="0" marL="0">
              <a:buNone/>
            </a:pPr>
            <a:r>
              <a:rPr lang="en-US" sz="1800" dirty="0">
                <a:solidFill>
                  <a:srgbClr val="FF9F1C"/>
                </a:solidFill>
                <a:latin typeface="Courier New" pitchFamily="34" charset="0"/>
                <a:ea typeface="Courier New" pitchFamily="34" charset="-122"/>
                <a:cs typeface="Courier New" pitchFamily="34" charset="-120"/>
              </a:rPr>
              <a:t>fakta</a:t>
            </a:r>
            <a:endParaRPr lang="en-US" sz="1800" dirty="0"/>
          </a:p>
        </p:txBody>
      </p:sp>
      <p:sp>
        <p:nvSpPr>
          <p:cNvPr id="7" name="Text 5"/>
          <p:cNvSpPr/>
          <p:nvPr/>
        </p:nvSpPr>
        <p:spPr>
          <a:xfrm>
            <a:off x="685800" y="2560320"/>
            <a:ext cx="6309360" cy="53035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700" dirty="0">
                <a:solidFill>
                  <a:srgbClr val="ECE9E2"/>
                </a:solidFill>
                <a:latin typeface="Courier New" pitchFamily="34" charset="0"/>
                <a:ea typeface="Courier New" pitchFamily="34" charset="-122"/>
                <a:cs typeface="Courier New" pitchFamily="34" charset="-120"/>
              </a:rPr>
              <a:t>def is_even(n): return …</a:t>
            </a:r>
            <a:endParaRPr lang="en-US" sz="1700" dirty="0"/>
          </a:p>
        </p:txBody>
      </p:sp>
      <p:sp>
        <p:nvSpPr>
          <p:cNvPr id="8" name="Shape 6"/>
          <p:cNvSpPr/>
          <p:nvPr/>
        </p:nvSpPr>
        <p:spPr>
          <a:xfrm>
            <a:off x="7086600" y="2825496"/>
            <a:ext cx="594360" cy="0"/>
          </a:xfrm>
          <a:prstGeom prst="line">
            <a:avLst/>
          </a:prstGeom>
          <a:noFill/>
          <a:ln w="19050">
            <a:solidFill>
              <a:srgbClr val="8A8F98"/>
            </a:solidFill>
            <a:prstDash val="solid"/>
            <a:tailEnd type="triangle"/>
          </a:ln>
        </p:spPr>
      </p:sp>
      <p:sp>
        <p:nvSpPr>
          <p:cNvPr id="9" name="Text 7"/>
          <p:cNvSpPr txBox="1"/>
          <p:nvPr/>
        </p:nvSpPr>
        <p:spPr>
          <a:xfrm>
            <a:off x="7818120" y="2560320"/>
            <a:ext cx="3657600" cy="530352"/>
          </a:xfrm>
          <a:prstGeom prst="rect">
            <a:avLst/>
          </a:prstGeom>
          <a:noFill/>
          <a:ln/>
        </p:spPr>
        <p:txBody>
          <a:bodyPr wrap="square" lIns="0" tIns="0" rIns="0" bIns="0" rtlCol="0" anchor="ctr"/>
          <a:lstStyle/>
          <a:p>
            <a:pPr indent="0" marL="0">
              <a:buNone/>
            </a:pPr>
            <a:r>
              <a:rPr lang="en-US" sz="1800" dirty="0">
                <a:solidFill>
                  <a:srgbClr val="FF9F1C"/>
                </a:solidFill>
                <a:latin typeface="Courier New" pitchFamily="34" charset="0"/>
                <a:ea typeface="Courier New" pitchFamily="34" charset="-122"/>
                <a:cs typeface="Courier New" pitchFamily="34" charset="-120"/>
              </a:rPr>
              <a:t>kód</a:t>
            </a:r>
            <a:endParaRPr lang="en-US" sz="1800" dirty="0"/>
          </a:p>
        </p:txBody>
      </p:sp>
      <p:sp>
        <p:nvSpPr>
          <p:cNvPr id="10" name="Text 8"/>
          <p:cNvSpPr/>
          <p:nvPr/>
        </p:nvSpPr>
        <p:spPr>
          <a:xfrm>
            <a:off x="685800" y="3291840"/>
            <a:ext cx="6309360" cy="53035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700" dirty="0">
                <a:solidFill>
                  <a:srgbClr val="ECE9E2"/>
                </a:solidFill>
                <a:latin typeface="Courier New" pitchFamily="34" charset="0"/>
                <a:ea typeface="Courier New" pitchFamily="34" charset="-122"/>
                <a:cs typeface="Courier New" pitchFamily="34" charset="-120"/>
              </a:rPr>
              <a:t>„Le chat dort.“ = „Kočka …</a:t>
            </a:r>
            <a:endParaRPr lang="en-US" sz="1700" dirty="0"/>
          </a:p>
        </p:txBody>
      </p:sp>
      <p:sp>
        <p:nvSpPr>
          <p:cNvPr id="11" name="Shape 9"/>
          <p:cNvSpPr/>
          <p:nvPr/>
        </p:nvSpPr>
        <p:spPr>
          <a:xfrm>
            <a:off x="7086600" y="3557016"/>
            <a:ext cx="594360" cy="0"/>
          </a:xfrm>
          <a:prstGeom prst="line">
            <a:avLst/>
          </a:prstGeom>
          <a:noFill/>
          <a:ln w="19050">
            <a:solidFill>
              <a:srgbClr val="8A8F98"/>
            </a:solidFill>
            <a:prstDash val="solid"/>
            <a:tailEnd type="triangle"/>
          </a:ln>
        </p:spPr>
      </p:sp>
      <p:sp>
        <p:nvSpPr>
          <p:cNvPr id="12" name="Text 10"/>
          <p:cNvSpPr txBox="1"/>
          <p:nvPr/>
        </p:nvSpPr>
        <p:spPr>
          <a:xfrm>
            <a:off x="7818120" y="3291840"/>
            <a:ext cx="3657600" cy="530352"/>
          </a:xfrm>
          <a:prstGeom prst="rect">
            <a:avLst/>
          </a:prstGeom>
          <a:noFill/>
          <a:ln/>
        </p:spPr>
        <p:txBody>
          <a:bodyPr wrap="square" lIns="0" tIns="0" rIns="0" bIns="0" rtlCol="0" anchor="ctr"/>
          <a:lstStyle/>
          <a:p>
            <a:pPr indent="0" marL="0">
              <a:buNone/>
            </a:pPr>
            <a:r>
              <a:rPr lang="en-US" sz="1800" dirty="0">
                <a:solidFill>
                  <a:srgbClr val="FF9F1C"/>
                </a:solidFill>
                <a:latin typeface="Courier New" pitchFamily="34" charset="0"/>
                <a:ea typeface="Courier New" pitchFamily="34" charset="-122"/>
                <a:cs typeface="Courier New" pitchFamily="34" charset="-120"/>
              </a:rPr>
              <a:t>překlad</a:t>
            </a:r>
            <a:endParaRPr lang="en-US" sz="1800" dirty="0"/>
          </a:p>
        </p:txBody>
      </p:sp>
      <p:sp>
        <p:nvSpPr>
          <p:cNvPr id="13" name="Text 11"/>
          <p:cNvSpPr/>
          <p:nvPr/>
        </p:nvSpPr>
        <p:spPr>
          <a:xfrm>
            <a:off x="685800" y="4023360"/>
            <a:ext cx="6309360" cy="530352"/>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700" dirty="0">
                <a:solidFill>
                  <a:srgbClr val="ECE9E2"/>
                </a:solidFill>
                <a:latin typeface="Courier New" pitchFamily="34" charset="0"/>
                <a:ea typeface="Courier New" pitchFamily="34" charset="-122"/>
                <a:cs typeface="Courier New" pitchFamily="34" charset="-120"/>
              </a:rPr>
              <a:t>Pokud A &gt; B a B &gt; C, pak A …</a:t>
            </a:r>
            <a:endParaRPr lang="en-US" sz="1700" dirty="0"/>
          </a:p>
        </p:txBody>
      </p:sp>
      <p:sp>
        <p:nvSpPr>
          <p:cNvPr id="14" name="Shape 12"/>
          <p:cNvSpPr/>
          <p:nvPr/>
        </p:nvSpPr>
        <p:spPr>
          <a:xfrm>
            <a:off x="7086600" y="4288536"/>
            <a:ext cx="594360" cy="0"/>
          </a:xfrm>
          <a:prstGeom prst="line">
            <a:avLst/>
          </a:prstGeom>
          <a:noFill/>
          <a:ln w="19050">
            <a:solidFill>
              <a:srgbClr val="8A8F98"/>
            </a:solidFill>
            <a:prstDash val="solid"/>
            <a:tailEnd type="triangle"/>
          </a:ln>
        </p:spPr>
      </p:sp>
      <p:sp>
        <p:nvSpPr>
          <p:cNvPr id="15" name="Text 13"/>
          <p:cNvSpPr txBox="1"/>
          <p:nvPr/>
        </p:nvSpPr>
        <p:spPr>
          <a:xfrm>
            <a:off x="7818120" y="4023360"/>
            <a:ext cx="3657600" cy="530352"/>
          </a:xfrm>
          <a:prstGeom prst="rect">
            <a:avLst/>
          </a:prstGeom>
          <a:noFill/>
          <a:ln/>
        </p:spPr>
        <p:txBody>
          <a:bodyPr wrap="square" lIns="0" tIns="0" rIns="0" bIns="0" rtlCol="0" anchor="ctr"/>
          <a:lstStyle/>
          <a:p>
            <a:pPr indent="0" marL="0">
              <a:buNone/>
            </a:pPr>
            <a:r>
              <a:rPr lang="en-US" sz="1800" dirty="0">
                <a:solidFill>
                  <a:srgbClr val="FF9F1C"/>
                </a:solidFill>
                <a:latin typeface="Courier New" pitchFamily="34" charset="0"/>
                <a:ea typeface="Courier New" pitchFamily="34" charset="-122"/>
                <a:cs typeface="Courier New" pitchFamily="34" charset="-120"/>
              </a:rPr>
              <a:t>logická struktura</a:t>
            </a:r>
            <a:endParaRPr lang="en-US" sz="1800" dirty="0"/>
          </a:p>
        </p:txBody>
      </p:sp>
      <p:sp>
        <p:nvSpPr>
          <p:cNvPr id="16" name="Text 14"/>
          <p:cNvSpPr txBox="1"/>
          <p:nvPr/>
        </p:nvSpPr>
        <p:spPr>
          <a:xfrm>
            <a:off x="685800" y="4892040"/>
            <a:ext cx="10789920" cy="822960"/>
          </a:xfrm>
          <a:prstGeom prst="rect">
            <a:avLst/>
          </a:prstGeom>
          <a:noFill/>
          <a:ln/>
        </p:spPr>
        <p:txBody>
          <a:bodyPr wrap="square" lIns="0" tIns="0" rIns="0" bIns="0" rtlCol="0" anchor="t"/>
          <a:lstStyle/>
          <a:p>
            <a:pPr indent="0" marL="0">
              <a:buNone/>
            </a:pPr>
            <a:r>
              <a:rPr lang="en-US" sz="2400" b="1" dirty="0">
                <a:solidFill>
                  <a:srgbClr val="ECE9E2"/>
                </a:solidFill>
                <a:latin typeface="Arial" pitchFamily="34" charset="0"/>
                <a:ea typeface="Arial" pitchFamily="34" charset="-122"/>
                <a:cs typeface="Arial" pitchFamily="34" charset="-120"/>
              </a:rPr>
              <a:t>Aby model dobře předpovídal text, učí se vzory a vztahy použitelné i pro překlad, kód a řešení úloh.</a:t>
            </a:r>
            <a:endParaRPr lang="en-US" sz="24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11 · TRAINING</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Pootočíme pár miliard knoflíků</a:t>
            </a:r>
            <a:endParaRPr lang="en-US" sz="3600" dirty="0"/>
          </a:p>
        </p:txBody>
      </p:sp>
      <p:sp>
        <p:nvSpPr>
          <p:cNvPr id="4" name="Text 2"/>
          <p:cNvSpPr txBox="1"/>
          <p:nvPr/>
        </p:nvSpPr>
        <p:spPr>
          <a:xfrm>
            <a:off x="685800" y="1828800"/>
            <a:ext cx="6400800" cy="411480"/>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text:     Kočka sedí na rohožce.</a:t>
            </a:r>
            <a:endParaRPr lang="en-US" sz="1800" dirty="0"/>
          </a:p>
        </p:txBody>
      </p:sp>
      <p:sp>
        <p:nvSpPr>
          <p:cNvPr id="5" name="Text 3"/>
          <p:cNvSpPr txBox="1"/>
          <p:nvPr/>
        </p:nvSpPr>
        <p:spPr>
          <a:xfrm>
            <a:off x="685800" y="2286000"/>
            <a:ext cx="7315200" cy="411480"/>
          </a:xfrm>
          <a:prstGeom prst="rect">
            <a:avLst/>
          </a:prstGeom>
          <a:noFill/>
          <a:ln/>
        </p:spPr>
        <p:txBody>
          <a:bodyPr wrap="square" lIns="0" tIns="0" rIns="0" bIns="0" rtlCol="0" anchor="t"/>
          <a:lstStyle/>
          <a:p>
            <a:pPr indent="0" marL="0">
              <a:buNone/>
            </a:pPr>
            <a:r>
              <a:rPr lang="en-US" sz="1800" dirty="0">
                <a:solidFill>
                  <a:srgbClr val="8A8F98"/>
                </a:solidFill>
                <a:latin typeface="Courier New" pitchFamily="34" charset="0"/>
                <a:ea typeface="Courier New" pitchFamily="34" charset="-122"/>
                <a:cs typeface="Courier New" pitchFamily="34" charset="-120"/>
              </a:rPr>
              <a:t>model:    Kočka sedí na …</a:t>
            </a:r>
            <a:endParaRPr lang="en-US" sz="1800" dirty="0"/>
          </a:p>
        </p:txBody>
      </p:sp>
      <p:sp>
        <p:nvSpPr>
          <p:cNvPr id="6" name="Text 4"/>
          <p:cNvSpPr txBox="1"/>
          <p:nvPr/>
        </p:nvSpPr>
        <p:spPr>
          <a:xfrm>
            <a:off x="1600200" y="2788920"/>
            <a:ext cx="731520" cy="365760"/>
          </a:xfrm>
          <a:prstGeom prst="rect">
            <a:avLst/>
          </a:prstGeom>
          <a:noFill/>
          <a:ln/>
        </p:spPr>
        <p:txBody>
          <a:bodyPr wrap="square" lIns="0" tIns="0" rIns="0" bIns="0" rtlCol="0" anchor="ctr"/>
          <a:lstStyle/>
          <a:p>
            <a:pPr algn="r" indent="0" marL="0">
              <a:buNone/>
            </a:pPr>
            <a:r>
              <a:rPr lang="en-US" sz="1700" dirty="0">
                <a:solidFill>
                  <a:srgbClr val="ECE9E2"/>
                </a:solidFill>
                <a:latin typeface="Courier New" pitchFamily="34" charset="0"/>
                <a:ea typeface="Courier New" pitchFamily="34" charset="-122"/>
                <a:cs typeface="Courier New" pitchFamily="34" charset="-120"/>
              </a:rPr>
              <a:t>·st</a:t>
            </a:r>
            <a:endParaRPr lang="en-US" sz="1700" dirty="0"/>
          </a:p>
        </p:txBody>
      </p:sp>
      <p:sp>
        <p:nvSpPr>
          <p:cNvPr id="7" name="Shape 5"/>
          <p:cNvSpPr/>
          <p:nvPr/>
        </p:nvSpPr>
        <p:spPr>
          <a:xfrm>
            <a:off x="2560320" y="2857500"/>
            <a:ext cx="2743200" cy="228600"/>
          </a:xfrm>
          <a:prstGeom prst="rect">
            <a:avLst/>
          </a:prstGeom>
          <a:solidFill>
            <a:srgbClr val="FF9F1C"/>
          </a:solidFill>
          <a:ln/>
        </p:spPr>
      </p:sp>
      <p:sp>
        <p:nvSpPr>
          <p:cNvPr id="8" name="Text 6"/>
          <p:cNvSpPr txBox="1"/>
          <p:nvPr/>
        </p:nvSpPr>
        <p:spPr>
          <a:xfrm>
            <a:off x="5440680" y="2788920"/>
            <a:ext cx="1097280" cy="365760"/>
          </a:xfrm>
          <a:prstGeom prst="rect">
            <a:avLst/>
          </a:prstGeom>
          <a:noFill/>
          <a:ln/>
        </p:spPr>
        <p:txBody>
          <a:bodyPr wrap="square" lIns="0" tIns="0" rIns="0" bIns="0" rtlCol="0" anchor="ctr"/>
          <a:lstStyle/>
          <a:p>
            <a:pPr indent="0" marL="0">
              <a:buNone/>
            </a:pPr>
            <a:r>
              <a:rPr lang="en-US" sz="1360" dirty="0">
                <a:solidFill>
                  <a:srgbClr val="8A8F98"/>
                </a:solidFill>
                <a:latin typeface="Courier New" pitchFamily="34" charset="0"/>
                <a:ea typeface="Courier New" pitchFamily="34" charset="-122"/>
                <a:cs typeface="Courier New" pitchFamily="34" charset="-120"/>
              </a:rPr>
              <a:t>40 %</a:t>
            </a:r>
            <a:endParaRPr lang="en-US" sz="1360" dirty="0"/>
          </a:p>
        </p:txBody>
      </p:sp>
      <p:sp>
        <p:nvSpPr>
          <p:cNvPr id="9" name="Text 7"/>
          <p:cNvSpPr txBox="1"/>
          <p:nvPr/>
        </p:nvSpPr>
        <p:spPr>
          <a:xfrm>
            <a:off x="1600200" y="3246120"/>
            <a:ext cx="731520" cy="365760"/>
          </a:xfrm>
          <a:prstGeom prst="rect">
            <a:avLst/>
          </a:prstGeom>
          <a:noFill/>
          <a:ln/>
        </p:spPr>
        <p:txBody>
          <a:bodyPr wrap="square" lIns="0" tIns="0" rIns="0" bIns="0" rtlCol="0" anchor="ctr"/>
          <a:lstStyle/>
          <a:p>
            <a:pPr algn="r" indent="0" marL="0">
              <a:buNone/>
            </a:pPr>
            <a:r>
              <a:rPr lang="en-US" sz="1700" dirty="0">
                <a:solidFill>
                  <a:srgbClr val="ECE9E2"/>
                </a:solidFill>
                <a:latin typeface="Courier New" pitchFamily="34" charset="0"/>
                <a:ea typeface="Courier New" pitchFamily="34" charset="-122"/>
                <a:cs typeface="Courier New" pitchFamily="34" charset="-120"/>
              </a:rPr>
              <a:t>·ro</a:t>
            </a:r>
            <a:endParaRPr lang="en-US" sz="1700" dirty="0"/>
          </a:p>
        </p:txBody>
      </p:sp>
      <p:sp>
        <p:nvSpPr>
          <p:cNvPr id="10" name="Shape 8"/>
          <p:cNvSpPr/>
          <p:nvPr/>
        </p:nvSpPr>
        <p:spPr>
          <a:xfrm>
            <a:off x="2560320" y="3314700"/>
            <a:ext cx="205740" cy="228600"/>
          </a:xfrm>
          <a:prstGeom prst="rect">
            <a:avLst/>
          </a:prstGeom>
          <a:solidFill>
            <a:srgbClr val="ECE9E2">
              <a:alpha val="65000"/>
            </a:srgbClr>
          </a:solidFill>
          <a:ln/>
        </p:spPr>
      </p:sp>
      <p:sp>
        <p:nvSpPr>
          <p:cNvPr id="11" name="Text 9"/>
          <p:cNvSpPr txBox="1"/>
          <p:nvPr/>
        </p:nvSpPr>
        <p:spPr>
          <a:xfrm>
            <a:off x="2903220" y="3246120"/>
            <a:ext cx="1097280" cy="365760"/>
          </a:xfrm>
          <a:prstGeom prst="rect">
            <a:avLst/>
          </a:prstGeom>
          <a:noFill/>
          <a:ln/>
        </p:spPr>
        <p:txBody>
          <a:bodyPr wrap="square" lIns="0" tIns="0" rIns="0" bIns="0" rtlCol="0" anchor="ctr"/>
          <a:lstStyle/>
          <a:p>
            <a:pPr indent="0" marL="0">
              <a:buNone/>
            </a:pPr>
            <a:r>
              <a:rPr lang="en-US" sz="1360" dirty="0">
                <a:solidFill>
                  <a:srgbClr val="8A8F98"/>
                </a:solidFill>
                <a:latin typeface="Courier New" pitchFamily="34" charset="0"/>
                <a:ea typeface="Courier New" pitchFamily="34" charset="-122"/>
                <a:cs typeface="Courier New" pitchFamily="34" charset="-120"/>
              </a:rPr>
              <a:t>3 %</a:t>
            </a:r>
            <a:endParaRPr lang="en-US" sz="1360" dirty="0"/>
          </a:p>
        </p:txBody>
      </p:sp>
      <p:sp>
        <p:nvSpPr>
          <p:cNvPr id="12" name="Text 10"/>
          <p:cNvSpPr txBox="1"/>
          <p:nvPr/>
        </p:nvSpPr>
        <p:spPr>
          <a:xfrm>
            <a:off x="3931920" y="3200400"/>
            <a:ext cx="2743200" cy="548640"/>
          </a:xfrm>
          <a:prstGeom prst="rect">
            <a:avLst/>
          </a:prstGeom>
          <a:noFill/>
          <a:ln/>
        </p:spPr>
        <p:txBody>
          <a:bodyPr wrap="square" lIns="0" tIns="0" rIns="0" bIns="0" rtlCol="0" anchor="t"/>
          <a:lstStyle/>
          <a:p>
            <a:pPr indent="0" marL="0">
              <a:buNone/>
            </a:pPr>
            <a:r>
              <a:rPr lang="en-US" sz="1500" dirty="0">
                <a:solidFill>
                  <a:srgbClr val="FF9F1C"/>
                </a:solidFill>
                <a:latin typeface="Courier New" pitchFamily="34" charset="0"/>
                <a:ea typeface="Courier New" pitchFamily="34" charset="-122"/>
                <a:cs typeface="Courier New" pitchFamily="34" charset="-120"/>
              </a:rPr>
              <a:t>ilustrativní</a:t>
            </a:r>
            <a:endParaRPr lang="en-US" sz="1500" dirty="0"/>
          </a:p>
          <a:p>
            <a:pPr indent="0" marL="0">
              <a:buNone/>
            </a:pPr>
            <a:r>
              <a:rPr lang="en-US" sz="1500" dirty="0">
                <a:solidFill>
                  <a:srgbClr val="FF9F1C"/>
                </a:solidFill>
                <a:latin typeface="Courier New" pitchFamily="34" charset="0"/>
                <a:ea typeface="Courier New" pitchFamily="34" charset="-122"/>
                <a:cs typeface="Courier New" pitchFamily="34" charset="-120"/>
              </a:rPr>
              <a:t>pravděpodobnosti</a:t>
            </a:r>
            <a:endParaRPr lang="en-US" sz="1500" dirty="0"/>
          </a:p>
        </p:txBody>
      </p:sp>
      <p:sp>
        <p:nvSpPr>
          <p:cNvPr id="13" name="Text 11"/>
          <p:cNvSpPr txBox="1"/>
          <p:nvPr/>
        </p:nvSpPr>
        <p:spPr>
          <a:xfrm>
            <a:off x="685800" y="3840480"/>
            <a:ext cx="6400800" cy="411480"/>
          </a:xfrm>
          <a:prstGeom prst="rect">
            <a:avLst/>
          </a:prstGeom>
          <a:noFill/>
          <a:ln/>
        </p:spPr>
        <p:txBody>
          <a:bodyPr wrap="square" lIns="0" tIns="0" rIns="0" bIns="0" rtlCol="0" anchor="t"/>
          <a:lstStyle/>
          <a:p>
            <a:pPr indent="0" marL="0">
              <a:buNone/>
            </a:pPr>
            <a:r>
              <a:rPr lang="en-US" sz="1800" b="1" dirty="0">
                <a:solidFill>
                  <a:srgbClr val="FF9F1C"/>
                </a:solidFill>
                <a:latin typeface="Courier New" pitchFamily="34" charset="0"/>
                <a:ea typeface="Courier New" pitchFamily="34" charset="-122"/>
                <a:cs typeface="Courier New" pitchFamily="34" charset="-120"/>
              </a:rPr>
              <a:t>skutečný další token v textu: ·ro</a:t>
            </a:r>
            <a:endParaRPr lang="en-US" sz="1800" dirty="0"/>
          </a:p>
        </p:txBody>
      </p:sp>
      <p:sp>
        <p:nvSpPr>
          <p:cNvPr id="14" name="Text 12"/>
          <p:cNvSpPr txBox="1"/>
          <p:nvPr/>
        </p:nvSpPr>
        <p:spPr>
          <a:xfrm>
            <a:off x="685800" y="4434840"/>
            <a:ext cx="5486400" cy="365760"/>
          </a:xfrm>
          <a:prstGeom prst="rect">
            <a:avLst/>
          </a:prstGeom>
          <a:noFill/>
          <a:ln/>
        </p:spPr>
        <p:txBody>
          <a:bodyPr wrap="square" lIns="0" tIns="0" rIns="0" bIns="0" rtlCol="0" anchor="t"/>
          <a:lstStyle/>
          <a:p>
            <a:pPr indent="0" marL="0">
              <a:buNone/>
            </a:pPr>
            <a:r>
              <a:rPr lang="en-US" sz="1700" dirty="0">
                <a:solidFill>
                  <a:srgbClr val="ECE9E2"/>
                </a:solidFill>
                <a:latin typeface="Courier New" pitchFamily="34" charset="0"/>
                <a:ea typeface="Courier New" pitchFamily="34" charset="-122"/>
                <a:cs typeface="Courier New" pitchFamily="34" charset="-120"/>
              </a:rPr>
              <a:t>chyba</a:t>
            </a:r>
            <a:endParaRPr lang="en-US" sz="1700" dirty="0"/>
          </a:p>
        </p:txBody>
      </p:sp>
      <p:sp>
        <p:nvSpPr>
          <p:cNvPr id="15" name="Text 13"/>
          <p:cNvSpPr txBox="1"/>
          <p:nvPr/>
        </p:nvSpPr>
        <p:spPr>
          <a:xfrm>
            <a:off x="685800" y="4800600"/>
            <a:ext cx="5486400" cy="365760"/>
          </a:xfrm>
          <a:prstGeom prst="rect">
            <a:avLst/>
          </a:prstGeom>
          <a:noFill/>
          <a:ln/>
        </p:spPr>
        <p:txBody>
          <a:bodyPr wrap="square" lIns="0" tIns="0" rIns="0" bIns="0" rtlCol="0" anchor="t"/>
          <a:lstStyle/>
          <a:p>
            <a:pPr indent="0" marL="0">
              <a:buNone/>
            </a:pPr>
            <a:r>
              <a:rPr lang="en-US" sz="1700" dirty="0">
                <a:solidFill>
                  <a:srgbClr val="ECE9E2"/>
                </a:solidFill>
                <a:latin typeface="Courier New" pitchFamily="34" charset="0"/>
                <a:ea typeface="Courier New" pitchFamily="34" charset="-122"/>
                <a:cs typeface="Courier New" pitchFamily="34" charset="-120"/>
              </a:rPr>
              <a:t>→ malá úprava parametrů</a:t>
            </a:r>
            <a:endParaRPr lang="en-US" sz="1700" dirty="0"/>
          </a:p>
        </p:txBody>
      </p:sp>
      <p:sp>
        <p:nvSpPr>
          <p:cNvPr id="16" name="Text 14"/>
          <p:cNvSpPr txBox="1"/>
          <p:nvPr/>
        </p:nvSpPr>
        <p:spPr>
          <a:xfrm>
            <a:off x="685800" y="5166360"/>
            <a:ext cx="5486400" cy="365760"/>
          </a:xfrm>
          <a:prstGeom prst="rect">
            <a:avLst/>
          </a:prstGeom>
          <a:noFill/>
          <a:ln/>
        </p:spPr>
        <p:txBody>
          <a:bodyPr wrap="square" lIns="0" tIns="0" rIns="0" bIns="0" rtlCol="0" anchor="t"/>
          <a:lstStyle/>
          <a:p>
            <a:pPr indent="0" marL="0">
              <a:buNone/>
            </a:pPr>
            <a:r>
              <a:rPr lang="en-US" sz="1700" dirty="0">
                <a:solidFill>
                  <a:srgbClr val="ECE9E2"/>
                </a:solidFill>
                <a:latin typeface="Courier New" pitchFamily="34" charset="0"/>
                <a:ea typeface="Courier New" pitchFamily="34" charset="-122"/>
                <a:cs typeface="Courier New" pitchFamily="34" charset="-120"/>
              </a:rPr>
              <a:t>→ znovu</a:t>
            </a:r>
            <a:endParaRPr lang="en-US" sz="1700" dirty="0"/>
          </a:p>
        </p:txBody>
      </p:sp>
      <p:sp>
        <p:nvSpPr>
          <p:cNvPr id="17" name="Text 15"/>
          <p:cNvSpPr txBox="1"/>
          <p:nvPr/>
        </p:nvSpPr>
        <p:spPr>
          <a:xfrm>
            <a:off x="685800" y="5532120"/>
            <a:ext cx="5486400" cy="365760"/>
          </a:xfrm>
          <a:prstGeom prst="rect">
            <a:avLst/>
          </a:prstGeom>
          <a:noFill/>
          <a:ln/>
        </p:spPr>
        <p:txBody>
          <a:bodyPr wrap="square" lIns="0" tIns="0" rIns="0" bIns="0" rtlCol="0" anchor="t"/>
          <a:lstStyle/>
          <a:p>
            <a:pPr indent="0" marL="0">
              <a:buNone/>
            </a:pPr>
            <a:r>
              <a:rPr lang="en-US" sz="1700" dirty="0">
                <a:solidFill>
                  <a:srgbClr val="FF9F1C"/>
                </a:solidFill>
                <a:latin typeface="Courier New" pitchFamily="34" charset="0"/>
                <a:ea typeface="Courier New" pitchFamily="34" charset="-122"/>
                <a:cs typeface="Courier New" pitchFamily="34" charset="-120"/>
              </a:rPr>
              <a:t>→ × biliony tokenů</a:t>
            </a:r>
            <a:endParaRPr lang="en-US" sz="1700" dirty="0"/>
          </a:p>
        </p:txBody>
      </p:sp>
      <p:sp>
        <p:nvSpPr>
          <p:cNvPr id="18" name="Text 16"/>
          <p:cNvSpPr txBox="1"/>
          <p:nvPr/>
        </p:nvSpPr>
        <p:spPr>
          <a:xfrm>
            <a:off x="685800" y="5897880"/>
            <a:ext cx="5486400" cy="365760"/>
          </a:xfrm>
          <a:prstGeom prst="rect">
            <a:avLst/>
          </a:prstGeom>
          <a:noFill/>
          <a:ln/>
        </p:spPr>
        <p:txBody>
          <a:bodyPr wrap="square" lIns="0" tIns="0" rIns="0" bIns="0" rtlCol="0" anchor="t"/>
          <a:lstStyle/>
          <a:p>
            <a:pPr indent="0" marL="0">
              <a:buNone/>
            </a:pPr>
            <a:r>
              <a:rPr lang="en-US" sz="1700" dirty="0">
                <a:solidFill>
                  <a:srgbClr val="8A8F98"/>
                </a:solidFill>
                <a:latin typeface="Courier New" pitchFamily="34" charset="0"/>
                <a:ea typeface="Courier New" pitchFamily="34" charset="-122"/>
                <a:cs typeface="Courier New" pitchFamily="34" charset="-120"/>
              </a:rPr>
              <a:t>→ pak post-training: instrukce, preference</a:t>
            </a:r>
            <a:endParaRPr lang="en-US" sz="1700" dirty="0"/>
          </a:p>
        </p:txBody>
      </p:sp>
      <p:sp>
        <p:nvSpPr>
          <p:cNvPr id="19" name="Shape 17"/>
          <p:cNvSpPr/>
          <p:nvPr/>
        </p:nvSpPr>
        <p:spPr>
          <a:xfrm>
            <a:off x="7260336" y="1865376"/>
            <a:ext cx="658368" cy="658368"/>
          </a:xfrm>
          <a:prstGeom prst="ellipse">
            <a:avLst/>
          </a:prstGeom>
          <a:solidFill>
            <a:srgbClr val="0A0B0D"/>
          </a:solidFill>
          <a:ln w="15875">
            <a:solidFill>
              <a:srgbClr val="8A8F98"/>
            </a:solidFill>
            <a:prstDash val="solid"/>
          </a:ln>
        </p:spPr>
      </p:sp>
      <p:sp>
        <p:nvSpPr>
          <p:cNvPr id="20" name="Shape 18"/>
          <p:cNvSpPr/>
          <p:nvPr/>
        </p:nvSpPr>
        <p:spPr>
          <a:xfrm>
            <a:off x="7589520" y="2194560"/>
            <a:ext cx="247465" cy="90070"/>
          </a:xfrm>
          <a:prstGeom prst="line">
            <a:avLst/>
          </a:prstGeom>
          <a:noFill/>
          <a:ln w="25400">
            <a:solidFill>
              <a:srgbClr val="ECE9E2"/>
            </a:solidFill>
            <a:prstDash val="solid"/>
          </a:ln>
        </p:spPr>
      </p:sp>
      <p:sp>
        <p:nvSpPr>
          <p:cNvPr id="21" name="Shape 19"/>
          <p:cNvSpPr/>
          <p:nvPr/>
        </p:nvSpPr>
        <p:spPr>
          <a:xfrm>
            <a:off x="8220456" y="1865376"/>
            <a:ext cx="658368" cy="658368"/>
          </a:xfrm>
          <a:prstGeom prst="ellipse">
            <a:avLst/>
          </a:prstGeom>
          <a:solidFill>
            <a:srgbClr val="0A0B0D"/>
          </a:solidFill>
          <a:ln w="15875">
            <a:solidFill>
              <a:srgbClr val="8A8F98"/>
            </a:solidFill>
            <a:prstDash val="solid"/>
          </a:ln>
        </p:spPr>
      </p:sp>
      <p:sp>
        <p:nvSpPr>
          <p:cNvPr id="22" name="Shape 20"/>
          <p:cNvSpPr/>
          <p:nvPr/>
        </p:nvSpPr>
        <p:spPr>
          <a:xfrm flipH="1">
            <a:off x="8459570" y="2194560"/>
            <a:ext cx="90070" cy="247465"/>
          </a:xfrm>
          <a:prstGeom prst="line">
            <a:avLst/>
          </a:prstGeom>
          <a:noFill/>
          <a:ln w="25400">
            <a:solidFill>
              <a:srgbClr val="ECE9E2"/>
            </a:solidFill>
            <a:prstDash val="solid"/>
          </a:ln>
        </p:spPr>
      </p:sp>
      <p:sp>
        <p:nvSpPr>
          <p:cNvPr id="23" name="Shape 21"/>
          <p:cNvSpPr/>
          <p:nvPr/>
        </p:nvSpPr>
        <p:spPr>
          <a:xfrm>
            <a:off x="9180576" y="1865376"/>
            <a:ext cx="658368" cy="658368"/>
          </a:xfrm>
          <a:prstGeom prst="ellipse">
            <a:avLst/>
          </a:prstGeom>
          <a:solidFill>
            <a:srgbClr val="0A0B0D"/>
          </a:solidFill>
          <a:ln w="15875">
            <a:solidFill>
              <a:srgbClr val="8A8F98"/>
            </a:solidFill>
            <a:prstDash val="solid"/>
          </a:ln>
        </p:spPr>
      </p:sp>
      <p:sp>
        <p:nvSpPr>
          <p:cNvPr id="24" name="Shape 22"/>
          <p:cNvSpPr/>
          <p:nvPr/>
        </p:nvSpPr>
        <p:spPr>
          <a:xfrm flipH="1" flipV="1">
            <a:off x="9262295" y="2104490"/>
            <a:ext cx="247465" cy="90070"/>
          </a:xfrm>
          <a:prstGeom prst="line">
            <a:avLst/>
          </a:prstGeom>
          <a:noFill/>
          <a:ln w="25400">
            <a:solidFill>
              <a:srgbClr val="ECE9E2"/>
            </a:solidFill>
            <a:prstDash val="solid"/>
          </a:ln>
        </p:spPr>
      </p:sp>
      <p:sp>
        <p:nvSpPr>
          <p:cNvPr id="25" name="Shape 23"/>
          <p:cNvSpPr/>
          <p:nvPr/>
        </p:nvSpPr>
        <p:spPr>
          <a:xfrm>
            <a:off x="10140696" y="1865376"/>
            <a:ext cx="658368" cy="658368"/>
          </a:xfrm>
          <a:prstGeom prst="ellipse">
            <a:avLst/>
          </a:prstGeom>
          <a:solidFill>
            <a:srgbClr val="0A0B0D"/>
          </a:solidFill>
          <a:ln w="15875">
            <a:solidFill>
              <a:srgbClr val="8A8F98"/>
            </a:solidFill>
            <a:prstDash val="solid"/>
          </a:ln>
        </p:spPr>
      </p:sp>
      <p:sp>
        <p:nvSpPr>
          <p:cNvPr id="26" name="Shape 24"/>
          <p:cNvSpPr/>
          <p:nvPr/>
        </p:nvSpPr>
        <p:spPr>
          <a:xfrm flipV="1">
            <a:off x="10469880" y="1966495"/>
            <a:ext cx="131674" cy="228065"/>
          </a:xfrm>
          <a:prstGeom prst="line">
            <a:avLst/>
          </a:prstGeom>
          <a:noFill/>
          <a:ln w="25400">
            <a:solidFill>
              <a:srgbClr val="ECE9E2"/>
            </a:solidFill>
            <a:prstDash val="solid"/>
          </a:ln>
        </p:spPr>
      </p:sp>
      <p:sp>
        <p:nvSpPr>
          <p:cNvPr id="27" name="Shape 25"/>
          <p:cNvSpPr/>
          <p:nvPr/>
        </p:nvSpPr>
        <p:spPr>
          <a:xfrm>
            <a:off x="7260336" y="2825496"/>
            <a:ext cx="658368" cy="658368"/>
          </a:xfrm>
          <a:prstGeom prst="ellipse">
            <a:avLst/>
          </a:prstGeom>
          <a:solidFill>
            <a:srgbClr val="0A0B0D"/>
          </a:solidFill>
          <a:ln w="15875">
            <a:solidFill>
              <a:srgbClr val="8A8F98"/>
            </a:solidFill>
            <a:prstDash val="solid"/>
          </a:ln>
        </p:spPr>
      </p:sp>
      <p:sp>
        <p:nvSpPr>
          <p:cNvPr id="28" name="Shape 26"/>
          <p:cNvSpPr/>
          <p:nvPr/>
        </p:nvSpPr>
        <p:spPr>
          <a:xfrm>
            <a:off x="7589520" y="3154680"/>
            <a:ext cx="186215" cy="186215"/>
          </a:xfrm>
          <a:prstGeom prst="line">
            <a:avLst/>
          </a:prstGeom>
          <a:noFill/>
          <a:ln w="25400">
            <a:solidFill>
              <a:srgbClr val="ECE9E2"/>
            </a:solidFill>
            <a:prstDash val="solid"/>
          </a:ln>
        </p:spPr>
      </p:sp>
      <p:sp>
        <p:nvSpPr>
          <p:cNvPr id="29" name="Shape 27"/>
          <p:cNvSpPr/>
          <p:nvPr/>
        </p:nvSpPr>
        <p:spPr>
          <a:xfrm>
            <a:off x="8220456" y="2825496"/>
            <a:ext cx="658368" cy="658368"/>
          </a:xfrm>
          <a:prstGeom prst="ellipse">
            <a:avLst/>
          </a:prstGeom>
          <a:solidFill>
            <a:srgbClr val="0A0B0D"/>
          </a:solidFill>
          <a:ln w="15875">
            <a:solidFill>
              <a:srgbClr val="FF9F1C"/>
            </a:solidFill>
            <a:prstDash val="solid"/>
          </a:ln>
        </p:spPr>
      </p:sp>
      <p:sp>
        <p:nvSpPr>
          <p:cNvPr id="30" name="Shape 28"/>
          <p:cNvSpPr/>
          <p:nvPr/>
        </p:nvSpPr>
        <p:spPr>
          <a:xfrm flipH="1">
            <a:off x="8302175" y="3154680"/>
            <a:ext cx="247465" cy="90070"/>
          </a:xfrm>
          <a:prstGeom prst="line">
            <a:avLst/>
          </a:prstGeom>
          <a:noFill/>
          <a:ln w="25400">
            <a:solidFill>
              <a:srgbClr val="FF9F1C"/>
            </a:solidFill>
            <a:prstDash val="solid"/>
          </a:ln>
        </p:spPr>
      </p:sp>
      <p:sp>
        <p:nvSpPr>
          <p:cNvPr id="31" name="Shape 29"/>
          <p:cNvSpPr/>
          <p:nvPr/>
        </p:nvSpPr>
        <p:spPr>
          <a:xfrm>
            <a:off x="9180576" y="2825496"/>
            <a:ext cx="658368" cy="658368"/>
          </a:xfrm>
          <a:prstGeom prst="ellipse">
            <a:avLst/>
          </a:prstGeom>
          <a:solidFill>
            <a:srgbClr val="0A0B0D"/>
          </a:solidFill>
          <a:ln w="15875">
            <a:solidFill>
              <a:srgbClr val="8A8F98"/>
            </a:solidFill>
            <a:prstDash val="solid"/>
          </a:ln>
        </p:spPr>
      </p:sp>
      <p:sp>
        <p:nvSpPr>
          <p:cNvPr id="32" name="Shape 30"/>
          <p:cNvSpPr/>
          <p:nvPr/>
        </p:nvSpPr>
        <p:spPr>
          <a:xfrm flipH="1" flipV="1">
            <a:off x="9419690" y="2907215"/>
            <a:ext cx="90070" cy="247465"/>
          </a:xfrm>
          <a:prstGeom prst="line">
            <a:avLst/>
          </a:prstGeom>
          <a:noFill/>
          <a:ln w="25400">
            <a:solidFill>
              <a:srgbClr val="ECE9E2"/>
            </a:solidFill>
            <a:prstDash val="solid"/>
          </a:ln>
        </p:spPr>
      </p:sp>
      <p:sp>
        <p:nvSpPr>
          <p:cNvPr id="33" name="Shape 31"/>
          <p:cNvSpPr/>
          <p:nvPr/>
        </p:nvSpPr>
        <p:spPr>
          <a:xfrm>
            <a:off x="10140696" y="2825496"/>
            <a:ext cx="658368" cy="658368"/>
          </a:xfrm>
          <a:prstGeom prst="ellipse">
            <a:avLst/>
          </a:prstGeom>
          <a:solidFill>
            <a:srgbClr val="0A0B0D"/>
          </a:solidFill>
          <a:ln w="15875">
            <a:solidFill>
              <a:srgbClr val="8A8F98"/>
            </a:solidFill>
            <a:prstDash val="solid"/>
          </a:ln>
        </p:spPr>
      </p:sp>
      <p:sp>
        <p:nvSpPr>
          <p:cNvPr id="34" name="Shape 32"/>
          <p:cNvSpPr/>
          <p:nvPr/>
        </p:nvSpPr>
        <p:spPr>
          <a:xfrm flipV="1">
            <a:off x="10469880" y="3023006"/>
            <a:ext cx="228065" cy="131674"/>
          </a:xfrm>
          <a:prstGeom prst="line">
            <a:avLst/>
          </a:prstGeom>
          <a:noFill/>
          <a:ln w="25400">
            <a:solidFill>
              <a:srgbClr val="ECE9E2"/>
            </a:solidFill>
            <a:prstDash val="solid"/>
          </a:ln>
        </p:spPr>
      </p:sp>
      <p:sp>
        <p:nvSpPr>
          <p:cNvPr id="35" name="Shape 33"/>
          <p:cNvSpPr/>
          <p:nvPr/>
        </p:nvSpPr>
        <p:spPr>
          <a:xfrm>
            <a:off x="7260336" y="3785616"/>
            <a:ext cx="658368" cy="658368"/>
          </a:xfrm>
          <a:prstGeom prst="ellipse">
            <a:avLst/>
          </a:prstGeom>
          <a:solidFill>
            <a:srgbClr val="0A0B0D"/>
          </a:solidFill>
          <a:ln w="15875">
            <a:solidFill>
              <a:srgbClr val="8A8F98"/>
            </a:solidFill>
            <a:prstDash val="solid"/>
          </a:ln>
        </p:spPr>
      </p:sp>
      <p:sp>
        <p:nvSpPr>
          <p:cNvPr id="36" name="Shape 34"/>
          <p:cNvSpPr/>
          <p:nvPr/>
        </p:nvSpPr>
        <p:spPr>
          <a:xfrm>
            <a:off x="7589520" y="4114800"/>
            <a:ext cx="45730" cy="259346"/>
          </a:xfrm>
          <a:prstGeom prst="line">
            <a:avLst/>
          </a:prstGeom>
          <a:noFill/>
          <a:ln w="25400">
            <a:solidFill>
              <a:srgbClr val="ECE9E2"/>
            </a:solidFill>
            <a:prstDash val="solid"/>
          </a:ln>
        </p:spPr>
      </p:sp>
      <p:sp>
        <p:nvSpPr>
          <p:cNvPr id="37" name="Shape 35"/>
          <p:cNvSpPr/>
          <p:nvPr/>
        </p:nvSpPr>
        <p:spPr>
          <a:xfrm>
            <a:off x="8220456" y="3785616"/>
            <a:ext cx="658368" cy="658368"/>
          </a:xfrm>
          <a:prstGeom prst="ellipse">
            <a:avLst/>
          </a:prstGeom>
          <a:solidFill>
            <a:srgbClr val="0A0B0D"/>
          </a:solidFill>
          <a:ln w="15875">
            <a:solidFill>
              <a:srgbClr val="8A8F98"/>
            </a:solidFill>
            <a:prstDash val="solid"/>
          </a:ln>
        </p:spPr>
      </p:sp>
      <p:sp>
        <p:nvSpPr>
          <p:cNvPr id="38" name="Shape 36"/>
          <p:cNvSpPr/>
          <p:nvPr/>
        </p:nvSpPr>
        <p:spPr>
          <a:xfrm flipH="1" flipV="1">
            <a:off x="8290294" y="4069070"/>
            <a:ext cx="259346" cy="45730"/>
          </a:xfrm>
          <a:prstGeom prst="line">
            <a:avLst/>
          </a:prstGeom>
          <a:noFill/>
          <a:ln w="25400">
            <a:solidFill>
              <a:srgbClr val="ECE9E2"/>
            </a:solidFill>
            <a:prstDash val="solid"/>
          </a:ln>
        </p:spPr>
      </p:sp>
      <p:sp>
        <p:nvSpPr>
          <p:cNvPr id="39" name="Shape 37"/>
          <p:cNvSpPr/>
          <p:nvPr/>
        </p:nvSpPr>
        <p:spPr>
          <a:xfrm>
            <a:off x="9180576" y="3785616"/>
            <a:ext cx="658368" cy="658368"/>
          </a:xfrm>
          <a:prstGeom prst="ellipse">
            <a:avLst/>
          </a:prstGeom>
          <a:solidFill>
            <a:srgbClr val="0A0B0D"/>
          </a:solidFill>
          <a:ln w="15875">
            <a:solidFill>
              <a:srgbClr val="8A8F98"/>
            </a:solidFill>
            <a:prstDash val="solid"/>
          </a:ln>
        </p:spPr>
      </p:sp>
      <p:sp>
        <p:nvSpPr>
          <p:cNvPr id="40" name="Shape 38"/>
          <p:cNvSpPr/>
          <p:nvPr/>
        </p:nvSpPr>
        <p:spPr>
          <a:xfrm flipV="1">
            <a:off x="9509760" y="3855454"/>
            <a:ext cx="45730" cy="259346"/>
          </a:xfrm>
          <a:prstGeom prst="line">
            <a:avLst/>
          </a:prstGeom>
          <a:noFill/>
          <a:ln w="25400">
            <a:solidFill>
              <a:srgbClr val="ECE9E2"/>
            </a:solidFill>
            <a:prstDash val="solid"/>
          </a:ln>
        </p:spPr>
      </p:sp>
      <p:sp>
        <p:nvSpPr>
          <p:cNvPr id="41" name="Shape 39"/>
          <p:cNvSpPr/>
          <p:nvPr/>
        </p:nvSpPr>
        <p:spPr>
          <a:xfrm>
            <a:off x="10140696" y="3785616"/>
            <a:ext cx="658368" cy="658368"/>
          </a:xfrm>
          <a:prstGeom prst="ellipse">
            <a:avLst/>
          </a:prstGeom>
          <a:solidFill>
            <a:srgbClr val="0A0B0D"/>
          </a:solidFill>
          <a:ln w="15875">
            <a:solidFill>
              <a:srgbClr val="8A8F98"/>
            </a:solidFill>
            <a:prstDash val="solid"/>
          </a:ln>
        </p:spPr>
      </p:sp>
      <p:sp>
        <p:nvSpPr>
          <p:cNvPr id="42" name="Shape 40"/>
          <p:cNvSpPr/>
          <p:nvPr/>
        </p:nvSpPr>
        <p:spPr>
          <a:xfrm>
            <a:off x="10469880" y="4114800"/>
            <a:ext cx="254374" cy="68159"/>
          </a:xfrm>
          <a:prstGeom prst="line">
            <a:avLst/>
          </a:prstGeom>
          <a:noFill/>
          <a:ln w="25400">
            <a:solidFill>
              <a:srgbClr val="ECE9E2"/>
            </a:solidFill>
            <a:prstDash val="solid"/>
          </a:ln>
        </p:spPr>
      </p:sp>
      <p:sp>
        <p:nvSpPr>
          <p:cNvPr id="43" name="Text 41"/>
          <p:cNvSpPr txBox="1"/>
          <p:nvPr/>
        </p:nvSpPr>
        <p:spPr>
          <a:xfrm>
            <a:off x="7315200" y="5120640"/>
            <a:ext cx="3840480" cy="320040"/>
          </a:xfrm>
          <a:prstGeom prst="rect">
            <a:avLst/>
          </a:prstGeom>
          <a:noFill/>
          <a:ln/>
        </p:spPr>
        <p:txBody>
          <a:bodyPr wrap="square" lIns="0" tIns="0" rIns="0" bIns="0" rtlCol="0" anchor="t"/>
          <a:lstStyle/>
          <a:p>
            <a:pPr algn="ctr" indent="0" marL="0">
              <a:buNone/>
            </a:pPr>
            <a:r>
              <a:rPr lang="en-US" sz="1500" dirty="0">
                <a:solidFill>
                  <a:srgbClr val="8A8F98"/>
                </a:solidFill>
                <a:latin typeface="Courier New" pitchFamily="34" charset="0"/>
                <a:ea typeface="Courier New" pitchFamily="34" charset="-122"/>
                <a:cs typeface="Courier New" pitchFamily="34" charset="-120"/>
              </a:rPr>
              <a:t>zjednodušení</a:t>
            </a:r>
            <a:endParaRPr lang="en-US" sz="15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12 · KOMPRESE</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Co mají LLM společného s JPEGem?</a:t>
            </a:r>
            <a:endParaRPr lang="en-US" sz="3600" dirty="0"/>
          </a:p>
        </p:txBody>
      </p:sp>
      <p:sp>
        <p:nvSpPr>
          <p:cNvPr id="4" name="Text 2"/>
          <p:cNvSpPr txBox="1"/>
          <p:nvPr/>
        </p:nvSpPr>
        <p:spPr>
          <a:xfrm>
            <a:off x="685800" y="2011680"/>
            <a:ext cx="1097280" cy="548640"/>
          </a:xfrm>
          <a:prstGeom prst="rect">
            <a:avLst/>
          </a:prstGeom>
          <a:noFill/>
          <a:ln/>
        </p:spPr>
        <p:txBody>
          <a:bodyPr wrap="square" lIns="0" tIns="0" rIns="0" bIns="0" rtlCol="0" anchor="ctr"/>
          <a:lstStyle/>
          <a:p>
            <a:pPr indent="0" marL="0">
              <a:buNone/>
            </a:pPr>
            <a:r>
              <a:rPr lang="en-US" sz="1800" b="1" dirty="0">
                <a:solidFill>
                  <a:srgbClr val="FF9F1C"/>
                </a:solidFill>
                <a:latin typeface="Courier New" pitchFamily="34" charset="0"/>
                <a:ea typeface="Courier New" pitchFamily="34" charset="-122"/>
                <a:cs typeface="Courier New" pitchFamily="34" charset="-120"/>
              </a:rPr>
              <a:t>JPEG</a:t>
            </a:r>
            <a:endParaRPr lang="en-US" sz="1800" dirty="0"/>
          </a:p>
        </p:txBody>
      </p:sp>
      <p:sp>
        <p:nvSpPr>
          <p:cNvPr id="5" name="Text 3"/>
          <p:cNvSpPr/>
          <p:nvPr/>
        </p:nvSpPr>
        <p:spPr>
          <a:xfrm>
            <a:off x="1920240" y="2011680"/>
            <a:ext cx="2103120" cy="54864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obrázek</a:t>
            </a:r>
            <a:endParaRPr lang="en-US" sz="1400" dirty="0"/>
          </a:p>
        </p:txBody>
      </p:sp>
      <p:sp>
        <p:nvSpPr>
          <p:cNvPr id="6" name="Shape 4"/>
          <p:cNvSpPr/>
          <p:nvPr/>
        </p:nvSpPr>
        <p:spPr>
          <a:xfrm>
            <a:off x="4041648" y="2286000"/>
            <a:ext cx="374904" cy="0"/>
          </a:xfrm>
          <a:prstGeom prst="line">
            <a:avLst/>
          </a:prstGeom>
          <a:noFill/>
          <a:ln w="19050">
            <a:solidFill>
              <a:srgbClr val="8A8F98"/>
            </a:solidFill>
            <a:prstDash val="solid"/>
            <a:tailEnd type="triangle"/>
          </a:ln>
        </p:spPr>
      </p:sp>
      <p:sp>
        <p:nvSpPr>
          <p:cNvPr id="7" name="Text 5"/>
          <p:cNvSpPr/>
          <p:nvPr/>
        </p:nvSpPr>
        <p:spPr>
          <a:xfrm>
            <a:off x="4434840" y="2011680"/>
            <a:ext cx="2103120" cy="54864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ztrátová komprese</a:t>
            </a:r>
            <a:endParaRPr lang="en-US" sz="1400" dirty="0"/>
          </a:p>
        </p:txBody>
      </p:sp>
      <p:sp>
        <p:nvSpPr>
          <p:cNvPr id="8" name="Shape 6"/>
          <p:cNvSpPr/>
          <p:nvPr/>
        </p:nvSpPr>
        <p:spPr>
          <a:xfrm>
            <a:off x="6556248" y="2286000"/>
            <a:ext cx="374904" cy="0"/>
          </a:xfrm>
          <a:prstGeom prst="line">
            <a:avLst/>
          </a:prstGeom>
          <a:noFill/>
          <a:ln w="19050">
            <a:solidFill>
              <a:srgbClr val="8A8F98"/>
            </a:solidFill>
            <a:prstDash val="solid"/>
            <a:tailEnd type="triangle"/>
          </a:ln>
        </p:spPr>
      </p:sp>
      <p:sp>
        <p:nvSpPr>
          <p:cNvPr id="9" name="Text 7"/>
          <p:cNvSpPr/>
          <p:nvPr/>
        </p:nvSpPr>
        <p:spPr>
          <a:xfrm>
            <a:off x="6949440" y="2011680"/>
            <a:ext cx="2103120" cy="54864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malý soubor</a:t>
            </a:r>
            <a:endParaRPr lang="en-US" sz="1400" dirty="0"/>
          </a:p>
        </p:txBody>
      </p:sp>
      <p:sp>
        <p:nvSpPr>
          <p:cNvPr id="10" name="Shape 8"/>
          <p:cNvSpPr/>
          <p:nvPr/>
        </p:nvSpPr>
        <p:spPr>
          <a:xfrm>
            <a:off x="9070848" y="2286000"/>
            <a:ext cx="374904" cy="0"/>
          </a:xfrm>
          <a:prstGeom prst="line">
            <a:avLst/>
          </a:prstGeom>
          <a:noFill/>
          <a:ln w="19050">
            <a:solidFill>
              <a:srgbClr val="8A8F98"/>
            </a:solidFill>
            <a:prstDash val="solid"/>
            <a:tailEnd type="triangle"/>
          </a:ln>
        </p:spPr>
      </p:sp>
      <p:sp>
        <p:nvSpPr>
          <p:cNvPr id="11" name="Text 9"/>
          <p:cNvSpPr/>
          <p:nvPr/>
        </p:nvSpPr>
        <p:spPr>
          <a:xfrm>
            <a:off x="9464040" y="2011680"/>
            <a:ext cx="2103120" cy="54864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přibližná rekonstrukce</a:t>
            </a:r>
            <a:endParaRPr lang="en-US" sz="1400" dirty="0"/>
          </a:p>
        </p:txBody>
      </p:sp>
      <p:sp>
        <p:nvSpPr>
          <p:cNvPr id="12" name="Text 10"/>
          <p:cNvSpPr txBox="1"/>
          <p:nvPr/>
        </p:nvSpPr>
        <p:spPr>
          <a:xfrm>
            <a:off x="685800" y="3063240"/>
            <a:ext cx="1097280" cy="548640"/>
          </a:xfrm>
          <a:prstGeom prst="rect">
            <a:avLst/>
          </a:prstGeom>
          <a:noFill/>
          <a:ln/>
        </p:spPr>
        <p:txBody>
          <a:bodyPr wrap="square" lIns="0" tIns="0" rIns="0" bIns="0" rtlCol="0" anchor="ctr"/>
          <a:lstStyle/>
          <a:p>
            <a:pPr indent="0" marL="0">
              <a:buNone/>
            </a:pPr>
            <a:r>
              <a:rPr lang="en-US" sz="1800" b="1" dirty="0">
                <a:solidFill>
                  <a:srgbClr val="FF9F1C"/>
                </a:solidFill>
                <a:latin typeface="Courier New" pitchFamily="34" charset="0"/>
                <a:ea typeface="Courier New" pitchFamily="34" charset="-122"/>
                <a:cs typeface="Courier New" pitchFamily="34" charset="-120"/>
              </a:rPr>
              <a:t>LLM</a:t>
            </a:r>
            <a:endParaRPr lang="en-US" sz="1800" dirty="0"/>
          </a:p>
        </p:txBody>
      </p:sp>
      <p:sp>
        <p:nvSpPr>
          <p:cNvPr id="13" name="Text 11"/>
          <p:cNvSpPr/>
          <p:nvPr/>
        </p:nvSpPr>
        <p:spPr>
          <a:xfrm>
            <a:off x="1920240" y="3063240"/>
            <a:ext cx="2103120" cy="54864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biliony tokenů</a:t>
            </a:r>
            <a:endParaRPr lang="en-US" sz="1400" dirty="0"/>
          </a:p>
        </p:txBody>
      </p:sp>
      <p:sp>
        <p:nvSpPr>
          <p:cNvPr id="14" name="Shape 12"/>
          <p:cNvSpPr/>
          <p:nvPr/>
        </p:nvSpPr>
        <p:spPr>
          <a:xfrm>
            <a:off x="4041648" y="3337560"/>
            <a:ext cx="374904" cy="0"/>
          </a:xfrm>
          <a:prstGeom prst="line">
            <a:avLst/>
          </a:prstGeom>
          <a:noFill/>
          <a:ln w="19050">
            <a:solidFill>
              <a:srgbClr val="8A8F98"/>
            </a:solidFill>
            <a:prstDash val="solid"/>
            <a:tailEnd type="triangle"/>
          </a:ln>
        </p:spPr>
      </p:sp>
      <p:sp>
        <p:nvSpPr>
          <p:cNvPr id="15" name="Text 13"/>
          <p:cNvSpPr/>
          <p:nvPr/>
        </p:nvSpPr>
        <p:spPr>
          <a:xfrm>
            <a:off x="4434840" y="3063240"/>
            <a:ext cx="2103120" cy="54864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training</a:t>
            </a:r>
            <a:endParaRPr lang="en-US" sz="1400" dirty="0"/>
          </a:p>
        </p:txBody>
      </p:sp>
      <p:sp>
        <p:nvSpPr>
          <p:cNvPr id="16" name="Shape 14"/>
          <p:cNvSpPr/>
          <p:nvPr/>
        </p:nvSpPr>
        <p:spPr>
          <a:xfrm>
            <a:off x="6556248" y="3337560"/>
            <a:ext cx="374904" cy="0"/>
          </a:xfrm>
          <a:prstGeom prst="line">
            <a:avLst/>
          </a:prstGeom>
          <a:noFill/>
          <a:ln w="19050">
            <a:solidFill>
              <a:srgbClr val="8A8F98"/>
            </a:solidFill>
            <a:prstDash val="solid"/>
            <a:tailEnd type="triangle"/>
          </a:ln>
        </p:spPr>
      </p:sp>
      <p:sp>
        <p:nvSpPr>
          <p:cNvPr id="17" name="Text 15"/>
          <p:cNvSpPr/>
          <p:nvPr/>
        </p:nvSpPr>
        <p:spPr>
          <a:xfrm>
            <a:off x="6949440" y="3063240"/>
            <a:ext cx="2103120" cy="548640"/>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parametry</a:t>
            </a:r>
            <a:endParaRPr lang="en-US" sz="1400" dirty="0"/>
          </a:p>
        </p:txBody>
      </p:sp>
      <p:sp>
        <p:nvSpPr>
          <p:cNvPr id="18" name="Shape 16"/>
          <p:cNvSpPr/>
          <p:nvPr/>
        </p:nvSpPr>
        <p:spPr>
          <a:xfrm>
            <a:off x="9070848" y="3337560"/>
            <a:ext cx="374904" cy="0"/>
          </a:xfrm>
          <a:prstGeom prst="line">
            <a:avLst/>
          </a:prstGeom>
          <a:noFill/>
          <a:ln w="19050">
            <a:solidFill>
              <a:srgbClr val="8A8F98"/>
            </a:solidFill>
            <a:prstDash val="solid"/>
            <a:tailEnd type="triangle"/>
          </a:ln>
        </p:spPr>
      </p:sp>
      <p:sp>
        <p:nvSpPr>
          <p:cNvPr id="19" name="Text 17"/>
          <p:cNvSpPr/>
          <p:nvPr/>
        </p:nvSpPr>
        <p:spPr>
          <a:xfrm>
            <a:off x="9464040" y="3063240"/>
            <a:ext cx="2103120" cy="54864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generování</a:t>
            </a:r>
            <a:endParaRPr lang="en-US" sz="1400" dirty="0"/>
          </a:p>
        </p:txBody>
      </p:sp>
      <p:sp>
        <p:nvSpPr>
          <p:cNvPr id="20" name="Text 18"/>
          <p:cNvSpPr txBox="1"/>
          <p:nvPr/>
        </p:nvSpPr>
        <p:spPr>
          <a:xfrm>
            <a:off x="685800" y="4206240"/>
            <a:ext cx="10789920" cy="548640"/>
          </a:xfrm>
          <a:prstGeom prst="rect">
            <a:avLst/>
          </a:prstGeom>
          <a:noFill/>
          <a:ln/>
        </p:spPr>
        <p:txBody>
          <a:bodyPr wrap="square" lIns="0" tIns="0" rIns="0" bIns="0" rtlCol="0" anchor="t"/>
          <a:lstStyle/>
          <a:p>
            <a:pPr indent="0" marL="0">
              <a:buNone/>
            </a:pPr>
            <a:r>
              <a:rPr lang="en-US" sz="2600" b="1" dirty="0">
                <a:solidFill>
                  <a:srgbClr val="ECE9E2"/>
                </a:solidFill>
                <a:latin typeface="Arial" pitchFamily="34" charset="0"/>
                <a:ea typeface="Arial" pitchFamily="34" charset="-122"/>
                <a:cs typeface="Arial" pitchFamily="34" charset="-120"/>
              </a:rPr>
              <a:t>Parametry nejsou databáze dokumentů.</a:t>
            </a:r>
            <a:endParaRPr lang="en-US" sz="2600" dirty="0"/>
          </a:p>
        </p:txBody>
      </p:sp>
      <p:sp>
        <p:nvSpPr>
          <p:cNvPr id="21" name="Text 19"/>
          <p:cNvSpPr txBox="1"/>
          <p:nvPr/>
        </p:nvSpPr>
        <p:spPr>
          <a:xfrm>
            <a:off x="685800" y="4846320"/>
            <a:ext cx="10789920" cy="731520"/>
          </a:xfrm>
          <a:prstGeom prst="rect">
            <a:avLst/>
          </a:prstGeom>
          <a:noFill/>
          <a:ln/>
        </p:spPr>
        <p:txBody>
          <a:bodyPr wrap="square" lIns="0" tIns="0" rIns="0" bIns="0" rtlCol="0" anchor="t"/>
          <a:lstStyle/>
          <a:p>
            <a:pPr indent="0" marL="0">
              <a:buNone/>
            </a:pPr>
            <a:r>
              <a:rPr lang="en-US" sz="1800" dirty="0">
                <a:solidFill>
                  <a:srgbClr val="8A8F98"/>
                </a:solidFill>
                <a:latin typeface="Arial" pitchFamily="34" charset="0"/>
                <a:ea typeface="Arial" pitchFamily="34" charset="-122"/>
                <a:cs typeface="Arial" pitchFamily="34" charset="-120"/>
              </a:rPr>
              <a:t>LLM není JPEG. Mechanismus je úplně jiný — analogie pro intuici, ne technický popis. (A některé pasáže si model umí zapamatovat doslova.)</a:t>
            </a:r>
            <a:endParaRPr lang="en-US" sz="18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13 · HALUCINACE</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Proč halucinuje?</a:t>
            </a:r>
            <a:endParaRPr lang="en-US" sz="3600" dirty="0"/>
          </a:p>
        </p:txBody>
      </p:sp>
      <p:sp>
        <p:nvSpPr>
          <p:cNvPr id="4" name="Shape 2"/>
          <p:cNvSpPr/>
          <p:nvPr/>
        </p:nvSpPr>
        <p:spPr>
          <a:xfrm>
            <a:off x="685800" y="1828800"/>
            <a:ext cx="6583680" cy="2103120"/>
          </a:xfrm>
          <a:prstGeom prst="rect">
            <a:avLst/>
          </a:prstGeom>
          <a:solidFill>
            <a:srgbClr val="111318"/>
          </a:solidFill>
          <a:ln w="12700">
            <a:solidFill>
              <a:srgbClr val="2E333B"/>
            </a:solidFill>
            <a:prstDash val="solid"/>
          </a:ln>
        </p:spPr>
      </p:sp>
      <p:sp>
        <p:nvSpPr>
          <p:cNvPr id="5" name="Text 3"/>
          <p:cNvSpPr txBox="1"/>
          <p:nvPr/>
        </p:nvSpPr>
        <p:spPr>
          <a:xfrm>
            <a:off x="914400" y="2011680"/>
            <a:ext cx="6217920" cy="1828800"/>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while not done:</a:t>
            </a:r>
            <a:endParaRPr lang="en-US" sz="1800" dirty="0"/>
          </a:p>
          <a:p>
            <a:pPr indent="0" marL="0">
              <a:buNone/>
            </a:pPr>
            <a:r>
              <a:rPr lang="en-US" sz="1800" dirty="0">
                <a:solidFill>
                  <a:srgbClr val="ECE9E2"/>
                </a:solidFill>
                <a:latin typeface="Courier New" pitchFamily="34" charset="0"/>
                <a:ea typeface="Courier New" pitchFamily="34" charset="-122"/>
                <a:cs typeface="Courier New" pitchFamily="34" charset="-120"/>
              </a:rPr>
              <a:t>    probs = model(context)</a:t>
            </a:r>
            <a:endParaRPr lang="en-US" sz="1800" dirty="0"/>
          </a:p>
          <a:p>
            <a:pPr indent="0" marL="0">
              <a:buNone/>
            </a:pPr>
            <a:r>
              <a:rPr lang="en-US" sz="1800" dirty="0">
                <a:solidFill>
                  <a:srgbClr val="FF9F1C"/>
                </a:solidFill>
                <a:latin typeface="Courier New" pitchFamily="34" charset="0"/>
                <a:ea typeface="Courier New" pitchFamily="34" charset="-122"/>
                <a:cs typeface="Courier New" pitchFamily="34" charset="-120"/>
              </a:rPr>
              <a:t>    # vždycky nějaké rozdělení</a:t>
            </a:r>
            <a:endParaRPr lang="en-US" sz="1800" dirty="0"/>
          </a:p>
          <a:p>
            <a:pPr indent="0" marL="0">
              <a:buNone/>
            </a:pPr>
            <a:r>
              <a:rPr lang="en-US" sz="1800" dirty="0">
                <a:solidFill>
                  <a:srgbClr val="ECE9E2"/>
                </a:solidFill>
                <a:latin typeface="Courier New" pitchFamily="34" charset="0"/>
                <a:ea typeface="Courier New" pitchFamily="34" charset="-122"/>
                <a:cs typeface="Courier New" pitchFamily="34" charset="-120"/>
              </a:rPr>
              <a:t>    token = sample(probs)</a:t>
            </a:r>
            <a:endParaRPr lang="en-US" sz="1800" dirty="0"/>
          </a:p>
          <a:p>
            <a:pPr indent="0" marL="0">
              <a:buNone/>
            </a:pPr>
            <a:r>
              <a:rPr lang="en-US" sz="1800" dirty="0">
                <a:solidFill>
                  <a:srgbClr val="ECE9E2"/>
                </a:solidFill>
                <a:latin typeface="Courier New" pitchFamily="34" charset="0"/>
                <a:ea typeface="Courier New" pitchFamily="34" charset="-122"/>
                <a:cs typeface="Courier New" pitchFamily="34" charset="-120"/>
              </a:rPr>
              <a:t>    context += token</a:t>
            </a:r>
            <a:endParaRPr lang="en-US" sz="1800" dirty="0"/>
          </a:p>
        </p:txBody>
      </p:sp>
      <p:sp>
        <p:nvSpPr>
          <p:cNvPr id="6" name="Text 4"/>
          <p:cNvSpPr txBox="1"/>
          <p:nvPr/>
        </p:nvSpPr>
        <p:spPr>
          <a:xfrm>
            <a:off x="685800" y="4251960"/>
            <a:ext cx="10789920" cy="548640"/>
          </a:xfrm>
          <a:prstGeom prst="rect">
            <a:avLst/>
          </a:prstGeom>
          <a:noFill/>
          <a:ln/>
        </p:spPr>
        <p:txBody>
          <a:bodyPr wrap="square" lIns="0" tIns="0" rIns="0" bIns="0" rtlCol="0" anchor="t"/>
          <a:lstStyle/>
          <a:p>
            <a:pPr indent="0" marL="0">
              <a:buNone/>
            </a:pPr>
            <a:r>
              <a:rPr lang="en-US" sz="2600" b="1" dirty="0">
                <a:solidFill>
                  <a:srgbClr val="ECE9E2"/>
                </a:solidFill>
                <a:latin typeface="Arial" pitchFamily="34" charset="0"/>
                <a:ea typeface="Arial" pitchFamily="34" charset="-122"/>
                <a:cs typeface="Arial" pitchFamily="34" charset="-120"/>
              </a:rPr>
              <a:t>Halucinace není cizí přívěsek nalepený na LLM.</a:t>
            </a:r>
            <a:endParaRPr lang="en-US" sz="2600" dirty="0"/>
          </a:p>
        </p:txBody>
      </p:sp>
      <p:sp>
        <p:nvSpPr>
          <p:cNvPr id="7" name="Text 5"/>
          <p:cNvSpPr txBox="1"/>
          <p:nvPr/>
        </p:nvSpPr>
        <p:spPr>
          <a:xfrm>
            <a:off x="685800" y="4800600"/>
            <a:ext cx="10789920" cy="822960"/>
          </a:xfrm>
          <a:prstGeom prst="rect">
            <a:avLst/>
          </a:prstGeom>
          <a:noFill/>
          <a:ln/>
        </p:spPr>
        <p:txBody>
          <a:bodyPr wrap="square" lIns="0" tIns="0" rIns="0" bIns="0" rtlCol="0" anchor="t"/>
          <a:lstStyle/>
          <a:p>
            <a:pPr indent="0" marL="0">
              <a:buNone/>
            </a:pPr>
            <a:r>
              <a:rPr lang="en-US" sz="2000" dirty="0">
                <a:solidFill>
                  <a:srgbClr val="8A8F98"/>
                </a:solidFill>
                <a:latin typeface="Arial" pitchFamily="34" charset="0"/>
                <a:ea typeface="Arial" pitchFamily="34" charset="-122"/>
                <a:cs typeface="Arial" pitchFamily="34" charset="-120"/>
              </a:rPr>
              <a:t>Je to důsledek toho, že po generativním modelu chceme odpověď i tam, kde nemá spolehlivou oporu.</a:t>
            </a:r>
            <a:endParaRPr lang="en-US" sz="2000" dirty="0"/>
          </a:p>
        </p:txBody>
      </p:sp>
      <p:sp>
        <p:nvSpPr>
          <p:cNvPr id="8" name="Text 6"/>
          <p:cNvSpPr txBox="1"/>
          <p:nvPr/>
        </p:nvSpPr>
        <p:spPr>
          <a:xfrm>
            <a:off x="7589520" y="1828800"/>
            <a:ext cx="3931920" cy="1097280"/>
          </a:xfrm>
          <a:prstGeom prst="rect">
            <a:avLst/>
          </a:prstGeom>
          <a:noFill/>
          <a:ln/>
        </p:spPr>
        <p:txBody>
          <a:bodyPr wrap="square" lIns="0" tIns="0" rIns="0" bIns="0" rtlCol="0" anchor="t"/>
          <a:lstStyle/>
          <a:p>
            <a:pPr indent="0" marL="0">
              <a:buNone/>
            </a:pPr>
            <a:r>
              <a:rPr lang="en-US" sz="2200" b="1" dirty="0">
                <a:solidFill>
                  <a:srgbClr val="FF9F1C"/>
                </a:solidFill>
                <a:latin typeface="Arial" pitchFamily="34" charset="0"/>
                <a:ea typeface="Arial" pitchFamily="34" charset="-122"/>
                <a:cs typeface="Arial" pitchFamily="34" charset="-120"/>
              </a:rPr>
              <a:t>Věrohodné pokračování není záruka pravdy.</a:t>
            </a:r>
            <a:endParaRPr lang="en-US" sz="2200" dirty="0"/>
          </a:p>
        </p:txBody>
      </p:sp>
      <p:sp>
        <p:nvSpPr>
          <p:cNvPr id="9" name="Text 7"/>
          <p:cNvSpPr txBox="1"/>
          <p:nvPr/>
        </p:nvSpPr>
        <p:spPr>
          <a:xfrm>
            <a:off x="7589520" y="2926080"/>
            <a:ext cx="3931920" cy="1005840"/>
          </a:xfrm>
          <a:prstGeom prst="rect">
            <a:avLst/>
          </a:prstGeom>
          <a:noFill/>
          <a:ln/>
        </p:spPr>
        <p:txBody>
          <a:bodyPr wrap="square" lIns="0" tIns="0" rIns="0" bIns="0" rtlCol="0" anchor="t"/>
          <a:lstStyle/>
          <a:p>
            <a:pPr indent="0" marL="0">
              <a:buNone/>
            </a:pPr>
            <a:r>
              <a:rPr lang="en-US" sz="1500" dirty="0">
                <a:solidFill>
                  <a:srgbClr val="8A8F98"/>
                </a:solidFill>
                <a:latin typeface="Courier New" pitchFamily="34" charset="0"/>
                <a:ea typeface="Courier New" pitchFamily="34" charset="-122"/>
                <a:cs typeface="Courier New" pitchFamily="34" charset="-120"/>
              </a:rPr>
              <a:t>Model může říct „nevím“. Generování ale nezaručuje, že správně pozná kdy.</a:t>
            </a:r>
            <a:endParaRPr lang="en-US" sz="15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14 · POČÍTÁNÍ</a:t>
            </a:r>
            <a:endParaRPr lang="en-US" sz="1200" dirty="0"/>
          </a:p>
        </p:txBody>
      </p:sp>
      <p:sp>
        <p:nvSpPr>
          <p:cNvPr id="3" name="Text 1"/>
          <p:cNvSpPr txBox="1"/>
          <p:nvPr/>
        </p:nvSpPr>
        <p:spPr>
          <a:xfrm>
            <a:off x="685800" y="1645920"/>
            <a:ext cx="10972800" cy="1463040"/>
          </a:xfrm>
          <a:prstGeom prst="rect">
            <a:avLst/>
          </a:prstGeom>
          <a:noFill/>
          <a:ln/>
        </p:spPr>
        <p:txBody>
          <a:bodyPr wrap="square" lIns="0" tIns="0" rIns="0" bIns="0" rtlCol="0" anchor="ctr"/>
          <a:lstStyle/>
          <a:p>
            <a:pPr indent="0" marL="0">
              <a:buNone/>
            </a:pPr>
            <a:r>
              <a:rPr lang="en-US" sz="9600" b="1" dirty="0">
                <a:solidFill>
                  <a:srgbClr val="ECE9E2"/>
                </a:solidFill>
                <a:latin typeface="Arial" pitchFamily="34" charset="0"/>
                <a:ea typeface="Arial" pitchFamily="34" charset="-122"/>
                <a:cs typeface="Arial" pitchFamily="34" charset="-120"/>
              </a:rPr>
              <a:t>2837 × 491 = ?</a:t>
            </a:r>
            <a:endParaRPr lang="en-US" sz="9600" dirty="0"/>
          </a:p>
        </p:txBody>
      </p:sp>
      <p:sp>
        <p:nvSpPr>
          <p:cNvPr id="4" name="Text 2"/>
          <p:cNvSpPr txBox="1"/>
          <p:nvPr/>
        </p:nvSpPr>
        <p:spPr>
          <a:xfrm>
            <a:off x="685800" y="4023360"/>
            <a:ext cx="10972800" cy="731520"/>
          </a:xfrm>
          <a:prstGeom prst="rect">
            <a:avLst/>
          </a:prstGeom>
          <a:noFill/>
          <a:ln/>
        </p:spPr>
        <p:txBody>
          <a:bodyPr wrap="square" lIns="0" tIns="0" rIns="0" bIns="0" rtlCol="0" anchor="t"/>
          <a:lstStyle/>
          <a:p>
            <a:pPr indent="0" marL="0">
              <a:buNone/>
            </a:pPr>
            <a:r>
              <a:rPr lang="en-US" sz="3200" dirty="0">
                <a:solidFill>
                  <a:srgbClr val="8A8F98"/>
                </a:solidFill>
                <a:latin typeface="Arial" pitchFamily="34" charset="0"/>
                <a:ea typeface="Arial" pitchFamily="34" charset="-122"/>
                <a:cs typeface="Arial" pitchFamily="34" charset="-120"/>
              </a:rPr>
              <a:t>Kde přesně jste v té mašině viděli násobičku?</a:t>
            </a:r>
            <a:endParaRPr lang="en-US" sz="32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14 · POČÍTÁNÍ</a:t>
            </a:r>
            <a:endParaRPr lang="en-US" sz="1200" dirty="0"/>
          </a:p>
        </p:txBody>
      </p:sp>
      <p:sp>
        <p:nvSpPr>
          <p:cNvPr id="3" name="Text 1"/>
          <p:cNvSpPr txBox="1"/>
          <p:nvPr/>
        </p:nvSpPr>
        <p:spPr>
          <a:xfrm>
            <a:off x="685800" y="1097280"/>
            <a:ext cx="10972800" cy="914400"/>
          </a:xfrm>
          <a:prstGeom prst="rect">
            <a:avLst/>
          </a:prstGeom>
          <a:noFill/>
          <a:ln/>
        </p:spPr>
        <p:txBody>
          <a:bodyPr wrap="square" lIns="0" tIns="0" rIns="0" bIns="0" rtlCol="0" anchor="t"/>
          <a:lstStyle/>
          <a:p>
            <a:pPr indent="0" marL="0">
              <a:buNone/>
            </a:pPr>
            <a:r>
              <a:rPr lang="en-US" sz="5400" b="1" dirty="0">
                <a:solidFill>
                  <a:srgbClr val="8A8F98"/>
                </a:solidFill>
                <a:latin typeface="Arial" pitchFamily="34" charset="0"/>
                <a:ea typeface="Arial" pitchFamily="34" charset="-122"/>
                <a:cs typeface="Arial" pitchFamily="34" charset="-120"/>
              </a:rPr>
              <a:t>2837 × 491 = ?</a:t>
            </a:r>
            <a:endParaRPr lang="en-US" sz="5400" dirty="0"/>
          </a:p>
        </p:txBody>
      </p:sp>
      <p:sp>
        <p:nvSpPr>
          <p:cNvPr id="4" name="Text 2"/>
          <p:cNvSpPr/>
          <p:nvPr/>
        </p:nvSpPr>
        <p:spPr>
          <a:xfrm>
            <a:off x="685800" y="2743200"/>
            <a:ext cx="2011680" cy="82296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2600" b="1" dirty="0">
                <a:solidFill>
                  <a:srgbClr val="FF9F1C"/>
                </a:solidFill>
                <a:latin typeface="Courier New" pitchFamily="34" charset="0"/>
                <a:ea typeface="Courier New" pitchFamily="34" charset="-122"/>
                <a:cs typeface="Courier New" pitchFamily="34" charset="-120"/>
              </a:rPr>
              <a:t>LLM</a:t>
            </a:r>
            <a:endParaRPr lang="en-US" sz="2600" dirty="0"/>
          </a:p>
        </p:txBody>
      </p:sp>
      <p:sp>
        <p:nvSpPr>
          <p:cNvPr id="5" name="Shape 3"/>
          <p:cNvSpPr/>
          <p:nvPr/>
        </p:nvSpPr>
        <p:spPr>
          <a:xfrm>
            <a:off x="2788920" y="3154680"/>
            <a:ext cx="822960" cy="0"/>
          </a:xfrm>
          <a:prstGeom prst="line">
            <a:avLst/>
          </a:prstGeom>
          <a:noFill/>
          <a:ln w="19050">
            <a:solidFill>
              <a:srgbClr val="ECE9E2"/>
            </a:solidFill>
            <a:prstDash val="solid"/>
            <a:tailEnd type="triangle"/>
          </a:ln>
        </p:spPr>
      </p:sp>
      <p:sp>
        <p:nvSpPr>
          <p:cNvPr id="6" name="Text 4"/>
          <p:cNvSpPr/>
          <p:nvPr/>
        </p:nvSpPr>
        <p:spPr>
          <a:xfrm>
            <a:off x="3703320" y="2743200"/>
            <a:ext cx="310896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2400" dirty="0">
                <a:solidFill>
                  <a:srgbClr val="ECE9E2"/>
                </a:solidFill>
                <a:latin typeface="Courier New" pitchFamily="34" charset="0"/>
                <a:ea typeface="Courier New" pitchFamily="34" charset="-122"/>
                <a:cs typeface="Courier New" pitchFamily="34" charset="-120"/>
              </a:rPr>
              <a:t>calculator()</a:t>
            </a:r>
            <a:endParaRPr lang="en-US" sz="2400" dirty="0"/>
          </a:p>
        </p:txBody>
      </p:sp>
      <p:sp>
        <p:nvSpPr>
          <p:cNvPr id="7" name="Shape 5"/>
          <p:cNvSpPr/>
          <p:nvPr/>
        </p:nvSpPr>
        <p:spPr>
          <a:xfrm>
            <a:off x="6903720" y="3154680"/>
            <a:ext cx="822960" cy="0"/>
          </a:xfrm>
          <a:prstGeom prst="line">
            <a:avLst/>
          </a:prstGeom>
          <a:noFill/>
          <a:ln w="19050">
            <a:solidFill>
              <a:srgbClr val="ECE9E2"/>
            </a:solidFill>
            <a:prstDash val="solid"/>
            <a:tailEnd type="triangle"/>
          </a:ln>
        </p:spPr>
      </p:sp>
      <p:sp>
        <p:nvSpPr>
          <p:cNvPr id="8" name="Text 6"/>
          <p:cNvSpPr txBox="1"/>
          <p:nvPr/>
        </p:nvSpPr>
        <p:spPr>
          <a:xfrm>
            <a:off x="7863840" y="2743200"/>
            <a:ext cx="3657600" cy="822960"/>
          </a:xfrm>
          <a:prstGeom prst="rect">
            <a:avLst/>
          </a:prstGeom>
          <a:noFill/>
          <a:ln/>
        </p:spPr>
        <p:txBody>
          <a:bodyPr wrap="square" lIns="0" tIns="0" rIns="0" bIns="0" rtlCol="0" anchor="ctr"/>
          <a:lstStyle/>
          <a:p>
            <a:pPr indent="0" marL="0">
              <a:buNone/>
            </a:pPr>
            <a:r>
              <a:rPr lang="en-US" sz="4000" b="1" dirty="0">
                <a:solidFill>
                  <a:srgbClr val="ECE9E2"/>
                </a:solidFill>
                <a:latin typeface="Courier New" pitchFamily="34" charset="0"/>
                <a:ea typeface="Courier New" pitchFamily="34" charset="-122"/>
                <a:cs typeface="Courier New" pitchFamily="34" charset="-120"/>
              </a:rPr>
              <a:t>1 392 967</a:t>
            </a:r>
            <a:endParaRPr lang="en-US" sz="4000" dirty="0"/>
          </a:p>
        </p:txBody>
      </p:sp>
      <p:sp>
        <p:nvSpPr>
          <p:cNvPr id="9" name="Text 7"/>
          <p:cNvSpPr txBox="1"/>
          <p:nvPr/>
        </p:nvSpPr>
        <p:spPr>
          <a:xfrm>
            <a:off x="685800" y="4572000"/>
            <a:ext cx="10972800" cy="731520"/>
          </a:xfrm>
          <a:prstGeom prst="rect">
            <a:avLst/>
          </a:prstGeom>
          <a:noFill/>
          <a:ln/>
        </p:spPr>
        <p:txBody>
          <a:bodyPr wrap="square" lIns="0" tIns="0" rIns="0" bIns="0" rtlCol="0" anchor="t"/>
          <a:lstStyle/>
          <a:p>
            <a:pPr indent="0" marL="0">
              <a:buNone/>
            </a:pPr>
            <a:r>
              <a:rPr lang="en-US" sz="3200" b="1" dirty="0">
                <a:solidFill>
                  <a:srgbClr val="ECE9E2"/>
                </a:solidFill>
                <a:latin typeface="Arial" pitchFamily="34" charset="0"/>
                <a:ea typeface="Arial" pitchFamily="34" charset="-122"/>
                <a:cs typeface="Arial" pitchFamily="34" charset="-120"/>
              </a:rPr>
              <a:t>Když mám kalkulačku, použiju kalkulačku.</a:t>
            </a:r>
            <a:endParaRPr lang="en-US" sz="32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15 · NÁSTROJE</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Tak mu dejme nástroje</a:t>
            </a:r>
            <a:endParaRPr lang="en-US" sz="3600" dirty="0"/>
          </a:p>
        </p:txBody>
      </p:sp>
      <p:sp>
        <p:nvSpPr>
          <p:cNvPr id="4" name="Text 2"/>
          <p:cNvSpPr/>
          <p:nvPr/>
        </p:nvSpPr>
        <p:spPr>
          <a:xfrm>
            <a:off x="68580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b="1" dirty="0">
                <a:solidFill>
                  <a:srgbClr val="ECE9E2"/>
                </a:solidFill>
                <a:latin typeface="Courier New" pitchFamily="34" charset="0"/>
                <a:ea typeface="Courier New" pitchFamily="34" charset="-122"/>
                <a:cs typeface="Courier New" pitchFamily="34" charset="-120"/>
              </a:rPr>
              <a:t>LLM</a:t>
            </a:r>
            <a:endParaRPr lang="en-US" sz="1600" dirty="0"/>
          </a:p>
        </p:txBody>
      </p:sp>
      <p:sp>
        <p:nvSpPr>
          <p:cNvPr id="5" name="Text 3"/>
          <p:cNvSpPr/>
          <p:nvPr/>
        </p:nvSpPr>
        <p:spPr>
          <a:xfrm>
            <a:off x="2560320" y="2194560"/>
            <a:ext cx="1691640" cy="82296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600" dirty="0">
                <a:solidFill>
                  <a:srgbClr val="FF9F1C"/>
                </a:solidFill>
                <a:latin typeface="Courier New" pitchFamily="34" charset="0"/>
                <a:ea typeface="Courier New" pitchFamily="34" charset="-122"/>
                <a:cs typeface="Courier New" pitchFamily="34" charset="-120"/>
              </a:rPr>
              <a:t>+ aplikační</a:t>
            </a:r>
            <a:endParaRPr lang="en-US" sz="1600" dirty="0"/>
          </a:p>
          <a:p>
            <a:pPr algn="ctr" indent="0" marL="0">
              <a:buNone/>
            </a:pPr>
            <a:r>
              <a:rPr lang="en-US" sz="1600" dirty="0">
                <a:solidFill>
                  <a:srgbClr val="FF9F1C"/>
                </a:solidFill>
                <a:latin typeface="Courier New" pitchFamily="34" charset="0"/>
                <a:ea typeface="Courier New" pitchFamily="34" charset="-122"/>
                <a:cs typeface="Courier New" pitchFamily="34" charset="-120"/>
              </a:rPr>
              <a:t>kontext</a:t>
            </a:r>
            <a:endParaRPr lang="en-US" sz="1600" dirty="0"/>
          </a:p>
        </p:txBody>
      </p:sp>
      <p:sp>
        <p:nvSpPr>
          <p:cNvPr id="6" name="Text 4"/>
          <p:cNvSpPr/>
          <p:nvPr/>
        </p:nvSpPr>
        <p:spPr>
          <a:xfrm>
            <a:off x="4434840" y="2194560"/>
            <a:ext cx="1691640" cy="82296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600" dirty="0">
                <a:solidFill>
                  <a:srgbClr val="FF9F1C"/>
                </a:solidFill>
                <a:latin typeface="Courier New" pitchFamily="34" charset="0"/>
                <a:ea typeface="Courier New" pitchFamily="34" charset="-122"/>
                <a:cs typeface="Courier New" pitchFamily="34" charset="-120"/>
              </a:rPr>
              <a:t>+ retrieval</a:t>
            </a:r>
            <a:endParaRPr lang="en-US" sz="1600" dirty="0"/>
          </a:p>
        </p:txBody>
      </p:sp>
      <p:sp>
        <p:nvSpPr>
          <p:cNvPr id="7" name="Text 5"/>
          <p:cNvSpPr/>
          <p:nvPr/>
        </p:nvSpPr>
        <p:spPr>
          <a:xfrm>
            <a:off x="6309360" y="2194560"/>
            <a:ext cx="1691640" cy="822960"/>
          </a:xfrm>
          <a:prstGeom prst="rect">
            <a:avLst/>
          </a:prstGeom>
          <a:solidFill>
            <a:srgbClr val="0A0B0D"/>
          </a:solidFill>
          <a:ln w="15875">
            <a:solidFill>
              <a:srgbClr val="2E333B"/>
            </a:solidFill>
            <a:prstDash val="solid"/>
          </a:ln>
        </p:spPr>
        <p:txBody>
          <a:bodyPr wrap="square" lIns="50800" tIns="50800" rIns="50800" bIns="50800" rtlCol="0" anchor="ctr"/>
          <a:lstStyle/>
          <a:p>
            <a:pPr algn="ctr" indent="0" marL="0">
              <a:buNone/>
            </a:pPr>
            <a:r>
              <a:rPr lang="en-US" sz="1600" dirty="0">
                <a:solidFill>
                  <a:srgbClr val="2E333B"/>
                </a:solidFill>
                <a:latin typeface="Courier New" pitchFamily="34" charset="0"/>
                <a:ea typeface="Courier New" pitchFamily="34" charset="-122"/>
                <a:cs typeface="Courier New" pitchFamily="34" charset="-120"/>
              </a:rPr>
              <a:t>+ tools</a:t>
            </a:r>
            <a:endParaRPr lang="en-US" sz="1600" dirty="0"/>
          </a:p>
        </p:txBody>
      </p:sp>
      <p:sp>
        <p:nvSpPr>
          <p:cNvPr id="8" name="Text 6"/>
          <p:cNvSpPr/>
          <p:nvPr/>
        </p:nvSpPr>
        <p:spPr>
          <a:xfrm>
            <a:off x="8183880" y="2194560"/>
            <a:ext cx="1691640" cy="822960"/>
          </a:xfrm>
          <a:prstGeom prst="rect">
            <a:avLst/>
          </a:prstGeom>
          <a:solidFill>
            <a:srgbClr val="0A0B0D"/>
          </a:solidFill>
          <a:ln w="15875">
            <a:solidFill>
              <a:srgbClr val="2E333B"/>
            </a:solidFill>
            <a:prstDash val="solid"/>
          </a:ln>
        </p:spPr>
        <p:txBody>
          <a:bodyPr wrap="square" lIns="50800" tIns="50800" rIns="50800" bIns="50800" rtlCol="0" anchor="ctr"/>
          <a:lstStyle/>
          <a:p>
            <a:pPr algn="ctr" indent="0" marL="0">
              <a:buNone/>
            </a:pPr>
            <a:r>
              <a:rPr lang="en-US" sz="1600" dirty="0">
                <a:solidFill>
                  <a:srgbClr val="2E333B"/>
                </a:solidFill>
                <a:latin typeface="Courier New" pitchFamily="34" charset="0"/>
                <a:ea typeface="Courier New" pitchFamily="34" charset="-122"/>
                <a:cs typeface="Courier New" pitchFamily="34" charset="-120"/>
              </a:rPr>
              <a:t>+ state</a:t>
            </a:r>
            <a:endParaRPr lang="en-US" sz="1600" dirty="0"/>
          </a:p>
        </p:txBody>
      </p:sp>
      <p:sp>
        <p:nvSpPr>
          <p:cNvPr id="9" name="Text 7"/>
          <p:cNvSpPr/>
          <p:nvPr/>
        </p:nvSpPr>
        <p:spPr>
          <a:xfrm>
            <a:off x="10058400" y="2194560"/>
            <a:ext cx="1691640" cy="822960"/>
          </a:xfrm>
          <a:prstGeom prst="rect">
            <a:avLst/>
          </a:prstGeom>
          <a:solidFill>
            <a:srgbClr val="0A0B0D"/>
          </a:solidFill>
          <a:ln w="15875">
            <a:solidFill>
              <a:srgbClr val="2E333B"/>
            </a:solidFill>
            <a:prstDash val="dash"/>
          </a:ln>
        </p:spPr>
        <p:txBody>
          <a:bodyPr wrap="square" lIns="50800" tIns="50800" rIns="50800" bIns="50800" rtlCol="0" anchor="ctr"/>
          <a:lstStyle/>
          <a:p>
            <a:pPr algn="ctr" indent="0" marL="0">
              <a:buNone/>
            </a:pPr>
            <a:r>
              <a:rPr lang="en-US" sz="1600" b="1" dirty="0">
                <a:solidFill>
                  <a:srgbClr val="2E333B"/>
                </a:solidFill>
                <a:latin typeface="Courier New" pitchFamily="34" charset="0"/>
                <a:ea typeface="Courier New" pitchFamily="34" charset="-122"/>
                <a:cs typeface="Courier New" pitchFamily="34" charset="-120"/>
              </a:rPr>
              <a:t>= agent</a:t>
            </a:r>
            <a:endParaRPr lang="en-US" sz="1600" dirty="0"/>
          </a:p>
        </p:txBody>
      </p:sp>
      <p:sp>
        <p:nvSpPr>
          <p:cNvPr id="10" name="Text 8"/>
          <p:cNvSpPr txBox="1"/>
          <p:nvPr/>
        </p:nvSpPr>
        <p:spPr>
          <a:xfrm>
            <a:off x="685800" y="3749040"/>
            <a:ext cx="10789920" cy="640080"/>
          </a:xfrm>
          <a:prstGeom prst="rect">
            <a:avLst/>
          </a:prstGeom>
          <a:noFill/>
          <a:ln/>
        </p:spPr>
        <p:txBody>
          <a:bodyPr wrap="square" lIns="0" tIns="0" rIns="0" bIns="0" rtlCol="0" anchor="t"/>
          <a:lstStyle/>
          <a:p>
            <a:pPr indent="0" marL="0">
              <a:buNone/>
            </a:pPr>
            <a:r>
              <a:rPr lang="en-US" sz="2600" b="1" dirty="0">
                <a:solidFill>
                  <a:srgbClr val="ECE9E2"/>
                </a:solidFill>
                <a:latin typeface="Arial" pitchFamily="34" charset="0"/>
                <a:ea typeface="Arial" pitchFamily="34" charset="-122"/>
                <a:cs typeface="Arial" pitchFamily="34" charset="-120"/>
              </a:rPr>
              <a:t>RAG: nedonutíme model, aby všechno věděl.</a:t>
            </a:r>
            <a:endParaRPr lang="en-US" sz="2600" dirty="0"/>
          </a:p>
        </p:txBody>
      </p:sp>
      <p:sp>
        <p:nvSpPr>
          <p:cNvPr id="11" name="Text 9"/>
          <p:cNvSpPr txBox="1"/>
          <p:nvPr/>
        </p:nvSpPr>
        <p:spPr>
          <a:xfrm>
            <a:off x="685800" y="4434840"/>
            <a:ext cx="10789920" cy="640080"/>
          </a:xfrm>
          <a:prstGeom prst="rect">
            <a:avLst/>
          </a:prstGeom>
          <a:noFill/>
          <a:ln/>
        </p:spPr>
        <p:txBody>
          <a:bodyPr wrap="square" lIns="0" tIns="0" rIns="0" bIns="0" rtlCol="0" anchor="t"/>
          <a:lstStyle/>
          <a:p>
            <a:pPr indent="0" marL="0">
              <a:buNone/>
            </a:pPr>
            <a:r>
              <a:rPr lang="en-US" sz="2200" dirty="0">
                <a:solidFill>
                  <a:srgbClr val="8A8F98"/>
                </a:solidFill>
                <a:latin typeface="Arial" pitchFamily="34" charset="0"/>
                <a:ea typeface="Arial" pitchFamily="34" charset="-122"/>
                <a:cs typeface="Arial" pitchFamily="34" charset="-120"/>
              </a:rPr>
              <a:t>Najdeme relevantní informace a vložíme mu je do kontextu.</a:t>
            </a:r>
            <a:endParaRPr lang="en-US" sz="22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15 · NÁSTROJE</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Tak mu dejme nástroje</a:t>
            </a:r>
            <a:endParaRPr lang="en-US" sz="3600" dirty="0"/>
          </a:p>
        </p:txBody>
      </p:sp>
      <p:sp>
        <p:nvSpPr>
          <p:cNvPr id="4" name="Text 2"/>
          <p:cNvSpPr/>
          <p:nvPr/>
        </p:nvSpPr>
        <p:spPr>
          <a:xfrm>
            <a:off x="68580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b="1" dirty="0">
                <a:solidFill>
                  <a:srgbClr val="ECE9E2"/>
                </a:solidFill>
                <a:latin typeface="Courier New" pitchFamily="34" charset="0"/>
                <a:ea typeface="Courier New" pitchFamily="34" charset="-122"/>
                <a:cs typeface="Courier New" pitchFamily="34" charset="-120"/>
              </a:rPr>
              <a:t>LLM</a:t>
            </a:r>
            <a:endParaRPr lang="en-US" sz="1600" dirty="0"/>
          </a:p>
        </p:txBody>
      </p:sp>
      <p:sp>
        <p:nvSpPr>
          <p:cNvPr id="5" name="Text 3"/>
          <p:cNvSpPr/>
          <p:nvPr/>
        </p:nvSpPr>
        <p:spPr>
          <a:xfrm>
            <a:off x="256032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dirty="0">
                <a:solidFill>
                  <a:srgbClr val="ECE9E2"/>
                </a:solidFill>
                <a:latin typeface="Courier New" pitchFamily="34" charset="0"/>
                <a:ea typeface="Courier New" pitchFamily="34" charset="-122"/>
                <a:cs typeface="Courier New" pitchFamily="34" charset="-120"/>
              </a:rPr>
              <a:t>+ aplikační</a:t>
            </a:r>
            <a:endParaRPr lang="en-US" sz="1600" dirty="0"/>
          </a:p>
          <a:p>
            <a:pPr algn="ctr" indent="0" marL="0">
              <a:buNone/>
            </a:pPr>
            <a:r>
              <a:rPr lang="en-US" sz="1600" dirty="0">
                <a:solidFill>
                  <a:srgbClr val="ECE9E2"/>
                </a:solidFill>
                <a:latin typeface="Courier New" pitchFamily="34" charset="0"/>
                <a:ea typeface="Courier New" pitchFamily="34" charset="-122"/>
                <a:cs typeface="Courier New" pitchFamily="34" charset="-120"/>
              </a:rPr>
              <a:t>kontext</a:t>
            </a:r>
            <a:endParaRPr lang="en-US" sz="1600" dirty="0"/>
          </a:p>
        </p:txBody>
      </p:sp>
      <p:sp>
        <p:nvSpPr>
          <p:cNvPr id="6" name="Text 4"/>
          <p:cNvSpPr/>
          <p:nvPr/>
        </p:nvSpPr>
        <p:spPr>
          <a:xfrm>
            <a:off x="443484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dirty="0">
                <a:solidFill>
                  <a:srgbClr val="ECE9E2"/>
                </a:solidFill>
                <a:latin typeface="Courier New" pitchFamily="34" charset="0"/>
                <a:ea typeface="Courier New" pitchFamily="34" charset="-122"/>
                <a:cs typeface="Courier New" pitchFamily="34" charset="-120"/>
              </a:rPr>
              <a:t>+ retrieval</a:t>
            </a:r>
            <a:endParaRPr lang="en-US" sz="1600" dirty="0"/>
          </a:p>
        </p:txBody>
      </p:sp>
      <p:sp>
        <p:nvSpPr>
          <p:cNvPr id="7" name="Text 5"/>
          <p:cNvSpPr/>
          <p:nvPr/>
        </p:nvSpPr>
        <p:spPr>
          <a:xfrm>
            <a:off x="6309360" y="2194560"/>
            <a:ext cx="1691640" cy="82296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600" dirty="0">
                <a:solidFill>
                  <a:srgbClr val="FF9F1C"/>
                </a:solidFill>
                <a:latin typeface="Courier New" pitchFamily="34" charset="0"/>
                <a:ea typeface="Courier New" pitchFamily="34" charset="-122"/>
                <a:cs typeface="Courier New" pitchFamily="34" charset="-120"/>
              </a:rPr>
              <a:t>+ tools</a:t>
            </a:r>
            <a:endParaRPr lang="en-US" sz="1600" dirty="0"/>
          </a:p>
        </p:txBody>
      </p:sp>
      <p:sp>
        <p:nvSpPr>
          <p:cNvPr id="8" name="Text 6"/>
          <p:cNvSpPr/>
          <p:nvPr/>
        </p:nvSpPr>
        <p:spPr>
          <a:xfrm>
            <a:off x="8183880" y="2194560"/>
            <a:ext cx="1691640" cy="82296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600" dirty="0">
                <a:solidFill>
                  <a:srgbClr val="FF9F1C"/>
                </a:solidFill>
                <a:latin typeface="Courier New" pitchFamily="34" charset="0"/>
                <a:ea typeface="Courier New" pitchFamily="34" charset="-122"/>
                <a:cs typeface="Courier New" pitchFamily="34" charset="-120"/>
              </a:rPr>
              <a:t>+ state</a:t>
            </a:r>
            <a:endParaRPr lang="en-US" sz="1600" dirty="0"/>
          </a:p>
        </p:txBody>
      </p:sp>
      <p:sp>
        <p:nvSpPr>
          <p:cNvPr id="9" name="Text 7"/>
          <p:cNvSpPr/>
          <p:nvPr/>
        </p:nvSpPr>
        <p:spPr>
          <a:xfrm>
            <a:off x="10058400" y="2194560"/>
            <a:ext cx="1691640" cy="822960"/>
          </a:xfrm>
          <a:prstGeom prst="rect">
            <a:avLst/>
          </a:prstGeom>
          <a:solidFill>
            <a:srgbClr val="0A0B0D"/>
          </a:solidFill>
          <a:ln w="15875">
            <a:solidFill>
              <a:srgbClr val="2E333B"/>
            </a:solidFill>
            <a:prstDash val="dash"/>
          </a:ln>
        </p:spPr>
        <p:txBody>
          <a:bodyPr wrap="square" lIns="50800" tIns="50800" rIns="50800" bIns="50800" rtlCol="0" anchor="ctr"/>
          <a:lstStyle/>
          <a:p>
            <a:pPr algn="ctr" indent="0" marL="0">
              <a:buNone/>
            </a:pPr>
            <a:r>
              <a:rPr lang="en-US" sz="1600" b="1" dirty="0">
                <a:solidFill>
                  <a:srgbClr val="2E333B"/>
                </a:solidFill>
                <a:latin typeface="Courier New" pitchFamily="34" charset="0"/>
                <a:ea typeface="Courier New" pitchFamily="34" charset="-122"/>
                <a:cs typeface="Courier New" pitchFamily="34" charset="-120"/>
              </a:rPr>
              <a:t>= agent</a:t>
            </a:r>
            <a:endParaRPr lang="en-US" sz="1600" dirty="0"/>
          </a:p>
        </p:txBody>
      </p:sp>
      <p:sp>
        <p:nvSpPr>
          <p:cNvPr id="10" name="Text 8"/>
          <p:cNvSpPr txBox="1"/>
          <p:nvPr/>
        </p:nvSpPr>
        <p:spPr>
          <a:xfrm>
            <a:off x="685800" y="3749040"/>
            <a:ext cx="10789920" cy="640080"/>
          </a:xfrm>
          <a:prstGeom prst="rect">
            <a:avLst/>
          </a:prstGeom>
          <a:noFill/>
          <a:ln/>
        </p:spPr>
        <p:txBody>
          <a:bodyPr wrap="square" lIns="0" tIns="0" rIns="0" bIns="0" rtlCol="0" anchor="t"/>
          <a:lstStyle/>
          <a:p>
            <a:pPr indent="0" marL="0">
              <a:buNone/>
            </a:pPr>
            <a:r>
              <a:rPr lang="en-US" sz="2600" b="1" dirty="0">
                <a:solidFill>
                  <a:srgbClr val="ECE9E2"/>
                </a:solidFill>
                <a:latin typeface="Arial" pitchFamily="34" charset="0"/>
                <a:ea typeface="Arial" pitchFamily="34" charset="-122"/>
                <a:cs typeface="Arial" pitchFamily="34" charset="-120"/>
              </a:rPr>
              <a:t>Tools: kalkulačka · search · databáze · API · Python · interní systémy</a:t>
            </a:r>
            <a:endParaRPr lang="en-US" sz="2600" dirty="0"/>
          </a:p>
        </p:txBody>
      </p:sp>
      <p:sp>
        <p:nvSpPr>
          <p:cNvPr id="11" name="Text 9"/>
          <p:cNvSpPr txBox="1"/>
          <p:nvPr/>
        </p:nvSpPr>
        <p:spPr>
          <a:xfrm>
            <a:off x="685800" y="4434840"/>
            <a:ext cx="10789920" cy="640080"/>
          </a:xfrm>
          <a:prstGeom prst="rect">
            <a:avLst/>
          </a:prstGeom>
          <a:noFill/>
          <a:ln/>
        </p:spPr>
        <p:txBody>
          <a:bodyPr wrap="square" lIns="0" tIns="0" rIns="0" bIns="0" rtlCol="0" anchor="t"/>
          <a:lstStyle/>
          <a:p>
            <a:pPr indent="0" marL="0">
              <a:buNone/>
            </a:pPr>
            <a:r>
              <a:rPr lang="en-US" sz="2200" dirty="0">
                <a:solidFill>
                  <a:srgbClr val="8A8F98"/>
                </a:solidFill>
                <a:latin typeface="Arial" pitchFamily="34" charset="0"/>
                <a:ea typeface="Arial" pitchFamily="34" charset="-122"/>
                <a:cs typeface="Arial" pitchFamily="34" charset="-120"/>
              </a:rPr>
              <a:t>Model navrhne volání, náš kód ho provede a vrátí výsledek.</a:t>
            </a:r>
            <a:endParaRPr lang="en-US" sz="22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15 · NÁSTROJE</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Tak mu dejme nástroje</a:t>
            </a:r>
            <a:endParaRPr lang="en-US" sz="3600" dirty="0"/>
          </a:p>
        </p:txBody>
      </p:sp>
      <p:sp>
        <p:nvSpPr>
          <p:cNvPr id="4" name="Text 2"/>
          <p:cNvSpPr/>
          <p:nvPr/>
        </p:nvSpPr>
        <p:spPr>
          <a:xfrm>
            <a:off x="68580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b="1" dirty="0">
                <a:solidFill>
                  <a:srgbClr val="ECE9E2"/>
                </a:solidFill>
                <a:latin typeface="Courier New" pitchFamily="34" charset="0"/>
                <a:ea typeface="Courier New" pitchFamily="34" charset="-122"/>
                <a:cs typeface="Courier New" pitchFamily="34" charset="-120"/>
              </a:rPr>
              <a:t>LLM</a:t>
            </a:r>
            <a:endParaRPr lang="en-US" sz="1600" dirty="0"/>
          </a:p>
        </p:txBody>
      </p:sp>
      <p:sp>
        <p:nvSpPr>
          <p:cNvPr id="5" name="Text 3"/>
          <p:cNvSpPr/>
          <p:nvPr/>
        </p:nvSpPr>
        <p:spPr>
          <a:xfrm>
            <a:off x="256032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dirty="0">
                <a:solidFill>
                  <a:srgbClr val="ECE9E2"/>
                </a:solidFill>
                <a:latin typeface="Courier New" pitchFamily="34" charset="0"/>
                <a:ea typeface="Courier New" pitchFamily="34" charset="-122"/>
                <a:cs typeface="Courier New" pitchFamily="34" charset="-120"/>
              </a:rPr>
              <a:t>+ aplikační</a:t>
            </a:r>
            <a:endParaRPr lang="en-US" sz="1600" dirty="0"/>
          </a:p>
          <a:p>
            <a:pPr algn="ctr" indent="0" marL="0">
              <a:buNone/>
            </a:pPr>
            <a:r>
              <a:rPr lang="en-US" sz="1600" dirty="0">
                <a:solidFill>
                  <a:srgbClr val="ECE9E2"/>
                </a:solidFill>
                <a:latin typeface="Courier New" pitchFamily="34" charset="0"/>
                <a:ea typeface="Courier New" pitchFamily="34" charset="-122"/>
                <a:cs typeface="Courier New" pitchFamily="34" charset="-120"/>
              </a:rPr>
              <a:t>kontext</a:t>
            </a:r>
            <a:endParaRPr lang="en-US" sz="1600" dirty="0"/>
          </a:p>
        </p:txBody>
      </p:sp>
      <p:sp>
        <p:nvSpPr>
          <p:cNvPr id="6" name="Text 4"/>
          <p:cNvSpPr/>
          <p:nvPr/>
        </p:nvSpPr>
        <p:spPr>
          <a:xfrm>
            <a:off x="443484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dirty="0">
                <a:solidFill>
                  <a:srgbClr val="ECE9E2"/>
                </a:solidFill>
                <a:latin typeface="Courier New" pitchFamily="34" charset="0"/>
                <a:ea typeface="Courier New" pitchFamily="34" charset="-122"/>
                <a:cs typeface="Courier New" pitchFamily="34" charset="-120"/>
              </a:rPr>
              <a:t>+ retrieval</a:t>
            </a:r>
            <a:endParaRPr lang="en-US" sz="1600" dirty="0"/>
          </a:p>
        </p:txBody>
      </p:sp>
      <p:sp>
        <p:nvSpPr>
          <p:cNvPr id="7" name="Text 5"/>
          <p:cNvSpPr/>
          <p:nvPr/>
        </p:nvSpPr>
        <p:spPr>
          <a:xfrm>
            <a:off x="630936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dirty="0">
                <a:solidFill>
                  <a:srgbClr val="ECE9E2"/>
                </a:solidFill>
                <a:latin typeface="Courier New" pitchFamily="34" charset="0"/>
                <a:ea typeface="Courier New" pitchFamily="34" charset="-122"/>
                <a:cs typeface="Courier New" pitchFamily="34" charset="-120"/>
              </a:rPr>
              <a:t>+ tools</a:t>
            </a:r>
            <a:endParaRPr lang="en-US" sz="1600" dirty="0"/>
          </a:p>
        </p:txBody>
      </p:sp>
      <p:sp>
        <p:nvSpPr>
          <p:cNvPr id="8" name="Text 6"/>
          <p:cNvSpPr/>
          <p:nvPr/>
        </p:nvSpPr>
        <p:spPr>
          <a:xfrm>
            <a:off x="8183880" y="2194560"/>
            <a:ext cx="1691640" cy="82296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600" dirty="0">
                <a:solidFill>
                  <a:srgbClr val="ECE9E2"/>
                </a:solidFill>
                <a:latin typeface="Courier New" pitchFamily="34" charset="0"/>
                <a:ea typeface="Courier New" pitchFamily="34" charset="-122"/>
                <a:cs typeface="Courier New" pitchFamily="34" charset="-120"/>
              </a:rPr>
              <a:t>+ state</a:t>
            </a:r>
            <a:endParaRPr lang="en-US" sz="1600" dirty="0"/>
          </a:p>
        </p:txBody>
      </p:sp>
      <p:sp>
        <p:nvSpPr>
          <p:cNvPr id="9" name="Text 7"/>
          <p:cNvSpPr/>
          <p:nvPr/>
        </p:nvSpPr>
        <p:spPr>
          <a:xfrm>
            <a:off x="10058400" y="2194560"/>
            <a:ext cx="1691640" cy="822960"/>
          </a:xfrm>
          <a:prstGeom prst="rect">
            <a:avLst/>
          </a:prstGeom>
          <a:solidFill>
            <a:srgbClr val="0A0B0D"/>
          </a:solidFill>
          <a:ln w="15875">
            <a:solidFill>
              <a:srgbClr val="FF9F1C"/>
            </a:solidFill>
            <a:prstDash val="dash"/>
          </a:ln>
        </p:spPr>
        <p:txBody>
          <a:bodyPr wrap="square" lIns="50800" tIns="50800" rIns="50800" bIns="50800" rtlCol="0" anchor="ctr"/>
          <a:lstStyle/>
          <a:p>
            <a:pPr algn="ctr" indent="0" marL="0">
              <a:buNone/>
            </a:pPr>
            <a:r>
              <a:rPr lang="en-US" sz="1600" b="1" dirty="0">
                <a:solidFill>
                  <a:srgbClr val="FF9F1C"/>
                </a:solidFill>
                <a:latin typeface="Courier New" pitchFamily="34" charset="0"/>
                <a:ea typeface="Courier New" pitchFamily="34" charset="-122"/>
                <a:cs typeface="Courier New" pitchFamily="34" charset="-120"/>
              </a:rPr>
              <a:t>= agent</a:t>
            </a:r>
            <a:endParaRPr lang="en-US" sz="1600" dirty="0"/>
          </a:p>
        </p:txBody>
      </p:sp>
      <p:sp>
        <p:nvSpPr>
          <p:cNvPr id="10" name="Text 8"/>
          <p:cNvSpPr txBox="1"/>
          <p:nvPr/>
        </p:nvSpPr>
        <p:spPr>
          <a:xfrm>
            <a:off x="685800" y="3749040"/>
            <a:ext cx="10789920" cy="640080"/>
          </a:xfrm>
          <a:prstGeom prst="rect">
            <a:avLst/>
          </a:prstGeom>
          <a:noFill/>
          <a:ln/>
        </p:spPr>
        <p:txBody>
          <a:bodyPr wrap="square" lIns="0" tIns="0" rIns="0" bIns="0" rtlCol="0" anchor="t"/>
          <a:lstStyle/>
          <a:p>
            <a:pPr indent="0" marL="0">
              <a:buNone/>
            </a:pPr>
            <a:r>
              <a:rPr lang="en-US" sz="2600" b="1" dirty="0">
                <a:solidFill>
                  <a:srgbClr val="ECE9E2"/>
                </a:solidFill>
                <a:latin typeface="Arial" pitchFamily="34" charset="0"/>
                <a:ea typeface="Arial" pitchFamily="34" charset="-122"/>
                <a:cs typeface="Arial" pitchFamily="34" charset="-120"/>
              </a:rPr>
              <a:t>LLM není celý agent. Je to jedna komponenta.</a:t>
            </a:r>
            <a:endParaRPr lang="en-US" sz="2600" dirty="0"/>
          </a:p>
        </p:txBody>
      </p:sp>
      <p:sp>
        <p:nvSpPr>
          <p:cNvPr id="11" name="Text 9"/>
          <p:cNvSpPr txBox="1"/>
          <p:nvPr/>
        </p:nvSpPr>
        <p:spPr>
          <a:xfrm>
            <a:off x="685800" y="4434840"/>
            <a:ext cx="10789920" cy="640080"/>
          </a:xfrm>
          <a:prstGeom prst="rect">
            <a:avLst/>
          </a:prstGeom>
          <a:noFill/>
          <a:ln/>
        </p:spPr>
        <p:txBody>
          <a:bodyPr wrap="square" lIns="0" tIns="0" rIns="0" bIns="0" rtlCol="0" anchor="t"/>
          <a:lstStyle/>
          <a:p>
            <a:pPr indent="0" marL="0">
              <a:buNone/>
            </a:pPr>
            <a:r>
              <a:rPr lang="en-US" sz="2200" dirty="0">
                <a:solidFill>
                  <a:srgbClr val="8A8F98"/>
                </a:solidFill>
                <a:latin typeface="Arial" pitchFamily="34" charset="0"/>
                <a:ea typeface="Arial" pitchFamily="34" charset="-122"/>
                <a:cs typeface="Arial" pitchFamily="34" charset="-120"/>
              </a:rPr>
              <a:t>Agent = smyčka: zvol akci → spusť tool → přečti výsledek → pokračuj, nebo skonči.</a:t>
            </a:r>
            <a:endParaRPr lang="en-US" sz="22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16 · DVA SVĚTY</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Dva světy</a:t>
            </a:r>
            <a:endParaRPr lang="en-US" sz="3600" dirty="0"/>
          </a:p>
        </p:txBody>
      </p:sp>
      <p:sp>
        <p:nvSpPr>
          <p:cNvPr id="4" name="Text 2"/>
          <p:cNvSpPr txBox="1"/>
          <p:nvPr/>
        </p:nvSpPr>
        <p:spPr>
          <a:xfrm>
            <a:off x="685800" y="1828800"/>
            <a:ext cx="5029200" cy="457200"/>
          </a:xfrm>
          <a:prstGeom prst="rect">
            <a:avLst/>
          </a:prstGeom>
          <a:noFill/>
          <a:ln/>
        </p:spPr>
        <p:txBody>
          <a:bodyPr wrap="square" lIns="0" tIns="0" rIns="0" bIns="0" rtlCol="0" anchor="t"/>
          <a:lstStyle/>
          <a:p>
            <a:pPr indent="0" marL="0">
              <a:buNone/>
            </a:pPr>
            <a:r>
              <a:rPr lang="en-US" sz="2400" b="1" dirty="0">
                <a:solidFill>
                  <a:srgbClr val="ECE9E2"/>
                </a:solidFill>
                <a:latin typeface="Courier New" pitchFamily="34" charset="0"/>
                <a:ea typeface="Courier New" pitchFamily="34" charset="-122"/>
                <a:cs typeface="Courier New" pitchFamily="34" charset="-120"/>
              </a:rPr>
              <a:t>DETERMINISTIC</a:t>
            </a:r>
            <a:endParaRPr lang="en-US" sz="2400" dirty="0"/>
          </a:p>
        </p:txBody>
      </p:sp>
      <p:sp>
        <p:nvSpPr>
          <p:cNvPr id="5" name="Text 3"/>
          <p:cNvSpPr txBox="1"/>
          <p:nvPr/>
        </p:nvSpPr>
        <p:spPr>
          <a:xfrm>
            <a:off x="6400800" y="1828800"/>
            <a:ext cx="5029200" cy="457200"/>
          </a:xfrm>
          <a:prstGeom prst="rect">
            <a:avLst/>
          </a:prstGeom>
          <a:noFill/>
          <a:ln/>
        </p:spPr>
        <p:txBody>
          <a:bodyPr wrap="square" lIns="0" tIns="0" rIns="0" bIns="0" rtlCol="0" anchor="t"/>
          <a:lstStyle/>
          <a:p>
            <a:pPr indent="0" marL="0">
              <a:buNone/>
            </a:pPr>
            <a:r>
              <a:rPr lang="en-US" sz="2400" b="1" dirty="0">
                <a:solidFill>
                  <a:srgbClr val="FF9F1C"/>
                </a:solidFill>
                <a:latin typeface="Courier New" pitchFamily="34" charset="0"/>
                <a:ea typeface="Courier New" pitchFamily="34" charset="-122"/>
                <a:cs typeface="Courier New" pitchFamily="34" charset="-120"/>
              </a:rPr>
              <a:t>PROBABILISTIC</a:t>
            </a:r>
            <a:endParaRPr lang="en-US" sz="2400" dirty="0"/>
          </a:p>
        </p:txBody>
      </p:sp>
      <p:sp>
        <p:nvSpPr>
          <p:cNvPr id="6" name="Text 4"/>
          <p:cNvSpPr txBox="1"/>
          <p:nvPr/>
        </p:nvSpPr>
        <p:spPr>
          <a:xfrm>
            <a:off x="685800" y="2468880"/>
            <a:ext cx="502920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pravidla</a:t>
            </a:r>
            <a:endParaRPr lang="en-US" sz="1800" dirty="0"/>
          </a:p>
        </p:txBody>
      </p:sp>
      <p:sp>
        <p:nvSpPr>
          <p:cNvPr id="7" name="Text 5"/>
          <p:cNvSpPr txBox="1"/>
          <p:nvPr/>
        </p:nvSpPr>
        <p:spPr>
          <a:xfrm>
            <a:off x="685800" y="2898648"/>
            <a:ext cx="502920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výpočty</a:t>
            </a:r>
            <a:endParaRPr lang="en-US" sz="1800" dirty="0"/>
          </a:p>
        </p:txBody>
      </p:sp>
      <p:sp>
        <p:nvSpPr>
          <p:cNvPr id="8" name="Text 6"/>
          <p:cNvSpPr txBox="1"/>
          <p:nvPr/>
        </p:nvSpPr>
        <p:spPr>
          <a:xfrm>
            <a:off x="685800" y="3328416"/>
            <a:ext cx="502920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validace</a:t>
            </a:r>
            <a:endParaRPr lang="en-US" sz="1800" dirty="0"/>
          </a:p>
        </p:txBody>
      </p:sp>
      <p:sp>
        <p:nvSpPr>
          <p:cNvPr id="9" name="Text 7"/>
          <p:cNvSpPr txBox="1"/>
          <p:nvPr/>
        </p:nvSpPr>
        <p:spPr>
          <a:xfrm>
            <a:off x="685800" y="3758184"/>
            <a:ext cx="502920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autorizace</a:t>
            </a:r>
            <a:endParaRPr lang="en-US" sz="1800" dirty="0"/>
          </a:p>
        </p:txBody>
      </p:sp>
      <p:sp>
        <p:nvSpPr>
          <p:cNvPr id="10" name="Text 8"/>
          <p:cNvSpPr txBox="1"/>
          <p:nvPr/>
        </p:nvSpPr>
        <p:spPr>
          <a:xfrm>
            <a:off x="685800" y="4187952"/>
            <a:ext cx="502920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DB constraints</a:t>
            </a:r>
            <a:endParaRPr lang="en-US" sz="1800" dirty="0"/>
          </a:p>
        </p:txBody>
      </p:sp>
      <p:sp>
        <p:nvSpPr>
          <p:cNvPr id="11" name="Text 9"/>
          <p:cNvSpPr txBox="1"/>
          <p:nvPr/>
        </p:nvSpPr>
        <p:spPr>
          <a:xfrm>
            <a:off x="685800" y="4617720"/>
            <a:ext cx="502920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workflows</a:t>
            </a:r>
            <a:endParaRPr lang="en-US" sz="1800" dirty="0"/>
          </a:p>
        </p:txBody>
      </p:sp>
      <p:sp>
        <p:nvSpPr>
          <p:cNvPr id="12" name="Text 10"/>
          <p:cNvSpPr txBox="1"/>
          <p:nvPr/>
        </p:nvSpPr>
        <p:spPr>
          <a:xfrm>
            <a:off x="685800" y="5047488"/>
            <a:ext cx="502920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invarianty</a:t>
            </a:r>
            <a:endParaRPr lang="en-US" sz="1800" dirty="0"/>
          </a:p>
        </p:txBody>
      </p:sp>
      <p:sp>
        <p:nvSpPr>
          <p:cNvPr id="13" name="Text 11"/>
          <p:cNvSpPr txBox="1"/>
          <p:nvPr/>
        </p:nvSpPr>
        <p:spPr>
          <a:xfrm>
            <a:off x="6400800" y="2468880"/>
            <a:ext cx="512064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interpretace jazyka</a:t>
            </a:r>
            <a:endParaRPr lang="en-US" sz="1800" dirty="0"/>
          </a:p>
        </p:txBody>
      </p:sp>
      <p:sp>
        <p:nvSpPr>
          <p:cNvPr id="14" name="Text 12"/>
          <p:cNvSpPr txBox="1"/>
          <p:nvPr/>
        </p:nvSpPr>
        <p:spPr>
          <a:xfrm>
            <a:off x="6400800" y="2898648"/>
            <a:ext cx="512064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klasifikace nejasného vstupu</a:t>
            </a:r>
            <a:endParaRPr lang="en-US" sz="1800" dirty="0"/>
          </a:p>
        </p:txBody>
      </p:sp>
      <p:sp>
        <p:nvSpPr>
          <p:cNvPr id="15" name="Text 13"/>
          <p:cNvSpPr txBox="1"/>
          <p:nvPr/>
        </p:nvSpPr>
        <p:spPr>
          <a:xfrm>
            <a:off x="6400800" y="3328416"/>
            <a:ext cx="512064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extrakce</a:t>
            </a:r>
            <a:endParaRPr lang="en-US" sz="1800" dirty="0"/>
          </a:p>
        </p:txBody>
      </p:sp>
      <p:sp>
        <p:nvSpPr>
          <p:cNvPr id="16" name="Text 14"/>
          <p:cNvSpPr txBox="1"/>
          <p:nvPr/>
        </p:nvSpPr>
        <p:spPr>
          <a:xfrm>
            <a:off x="6400800" y="3758184"/>
            <a:ext cx="512064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sumarizace</a:t>
            </a:r>
            <a:endParaRPr lang="en-US" sz="1800" dirty="0"/>
          </a:p>
        </p:txBody>
      </p:sp>
      <p:sp>
        <p:nvSpPr>
          <p:cNvPr id="17" name="Text 15"/>
          <p:cNvSpPr txBox="1"/>
          <p:nvPr/>
        </p:nvSpPr>
        <p:spPr>
          <a:xfrm>
            <a:off x="6400800" y="4187952"/>
            <a:ext cx="512064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generování</a:t>
            </a:r>
            <a:endParaRPr lang="en-US" sz="1800" dirty="0"/>
          </a:p>
        </p:txBody>
      </p:sp>
      <p:sp>
        <p:nvSpPr>
          <p:cNvPr id="18" name="Text 16"/>
          <p:cNvSpPr txBox="1"/>
          <p:nvPr/>
        </p:nvSpPr>
        <p:spPr>
          <a:xfrm>
            <a:off x="6400800" y="4617720"/>
            <a:ext cx="5120640" cy="384048"/>
          </a:xfrm>
          <a:prstGeom prst="rect">
            <a:avLst/>
          </a:prstGeom>
          <a:noFill/>
          <a:ln/>
        </p:spPr>
        <p:txBody>
          <a:bodyPr wrap="square" lIns="0" tIns="0" rIns="0" bIns="0" rtlCol="0" anchor="t"/>
          <a:lstStyle/>
          <a:p>
            <a:pPr indent="0" marL="0">
              <a:buNone/>
            </a:pPr>
            <a:r>
              <a:rPr lang="en-US" sz="1800" dirty="0">
                <a:solidFill>
                  <a:srgbClr val="ECE9E2"/>
                </a:solidFill>
                <a:latin typeface="Courier New" pitchFamily="34" charset="0"/>
                <a:ea typeface="Courier New" pitchFamily="34" charset="-122"/>
                <a:cs typeface="Courier New" pitchFamily="34" charset="-120"/>
              </a:rPr>
              <a:t>fuzzy matching</a:t>
            </a:r>
            <a:endParaRPr lang="en-US" sz="1800" dirty="0"/>
          </a:p>
        </p:txBody>
      </p:sp>
      <p:sp>
        <p:nvSpPr>
          <p:cNvPr id="19" name="Shape 17"/>
          <p:cNvSpPr/>
          <p:nvPr/>
        </p:nvSpPr>
        <p:spPr>
          <a:xfrm>
            <a:off x="5989320" y="1828800"/>
            <a:ext cx="0" cy="3566160"/>
          </a:xfrm>
          <a:prstGeom prst="line">
            <a:avLst/>
          </a:prstGeom>
          <a:noFill/>
          <a:ln w="12700">
            <a:solidFill>
              <a:srgbClr val="2E333B"/>
            </a:solidFill>
            <a:prstDash val="dash"/>
          </a:ln>
        </p:spPr>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17 · ŠPATNĚ</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Dosáhl 18 let?</a:t>
            </a:r>
            <a:endParaRPr lang="en-US" sz="3600" dirty="0"/>
          </a:p>
        </p:txBody>
      </p:sp>
      <p:sp>
        <p:nvSpPr>
          <p:cNvPr id="4" name="Text 2"/>
          <p:cNvSpPr txBox="1"/>
          <p:nvPr/>
        </p:nvSpPr>
        <p:spPr>
          <a:xfrm>
            <a:off x="685800" y="2103120"/>
            <a:ext cx="548640" cy="731520"/>
          </a:xfrm>
          <a:prstGeom prst="rect">
            <a:avLst/>
          </a:prstGeom>
          <a:noFill/>
          <a:ln/>
        </p:spPr>
        <p:txBody>
          <a:bodyPr wrap="square" lIns="0" tIns="0" rIns="0" bIns="0" rtlCol="0" anchor="ctr"/>
          <a:lstStyle/>
          <a:p>
            <a:pPr indent="0" marL="0">
              <a:buNone/>
            </a:pPr>
            <a:r>
              <a:rPr lang="en-US" sz="3600" b="1" dirty="0">
                <a:solidFill>
                  <a:srgbClr val="FF9F1C"/>
                </a:solidFill>
                <a:latin typeface="Courier New" pitchFamily="34" charset="0"/>
                <a:ea typeface="Courier New" pitchFamily="34" charset="-122"/>
                <a:cs typeface="Courier New" pitchFamily="34" charset="-120"/>
              </a:rPr>
              <a:t>✗</a:t>
            </a:r>
            <a:endParaRPr lang="en-US" sz="3600" dirty="0"/>
          </a:p>
        </p:txBody>
      </p:sp>
      <p:sp>
        <p:nvSpPr>
          <p:cNvPr id="5" name="Text 3"/>
          <p:cNvSpPr/>
          <p:nvPr/>
        </p:nvSpPr>
        <p:spPr>
          <a:xfrm>
            <a:off x="1371600" y="2194560"/>
            <a:ext cx="2377440" cy="64008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800" dirty="0">
                <a:solidFill>
                  <a:srgbClr val="ECE9E2"/>
                </a:solidFill>
                <a:latin typeface="Courier New" pitchFamily="34" charset="0"/>
                <a:ea typeface="Courier New" pitchFamily="34" charset="-122"/>
                <a:cs typeface="Courier New" pitchFamily="34" charset="-120"/>
              </a:rPr>
              <a:t>birth_date</a:t>
            </a:r>
            <a:endParaRPr lang="en-US" sz="1800" dirty="0"/>
          </a:p>
        </p:txBody>
      </p:sp>
      <p:sp>
        <p:nvSpPr>
          <p:cNvPr id="6" name="Shape 4"/>
          <p:cNvSpPr/>
          <p:nvPr/>
        </p:nvSpPr>
        <p:spPr>
          <a:xfrm>
            <a:off x="3840480" y="2514600"/>
            <a:ext cx="731520" cy="0"/>
          </a:xfrm>
          <a:prstGeom prst="line">
            <a:avLst/>
          </a:prstGeom>
          <a:noFill/>
          <a:ln w="19050">
            <a:solidFill>
              <a:srgbClr val="8A8F98"/>
            </a:solidFill>
            <a:prstDash val="solid"/>
            <a:tailEnd type="triangle"/>
          </a:ln>
        </p:spPr>
      </p:sp>
      <p:sp>
        <p:nvSpPr>
          <p:cNvPr id="7" name="Text 5"/>
          <p:cNvSpPr/>
          <p:nvPr/>
        </p:nvSpPr>
        <p:spPr>
          <a:xfrm>
            <a:off x="4663440" y="2194560"/>
            <a:ext cx="1645920" cy="64008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2000" dirty="0">
                <a:solidFill>
                  <a:srgbClr val="FF9F1C"/>
                </a:solidFill>
                <a:latin typeface="Courier New" pitchFamily="34" charset="0"/>
                <a:ea typeface="Courier New" pitchFamily="34" charset="-122"/>
                <a:cs typeface="Courier New" pitchFamily="34" charset="-120"/>
              </a:rPr>
              <a:t>LLM</a:t>
            </a:r>
            <a:endParaRPr lang="en-US" sz="2000" dirty="0"/>
          </a:p>
        </p:txBody>
      </p:sp>
      <p:sp>
        <p:nvSpPr>
          <p:cNvPr id="8" name="Shape 6"/>
          <p:cNvSpPr/>
          <p:nvPr/>
        </p:nvSpPr>
        <p:spPr>
          <a:xfrm>
            <a:off x="6400800" y="2514600"/>
            <a:ext cx="731520" cy="0"/>
          </a:xfrm>
          <a:prstGeom prst="line">
            <a:avLst/>
          </a:prstGeom>
          <a:noFill/>
          <a:ln w="19050">
            <a:solidFill>
              <a:srgbClr val="8A8F98"/>
            </a:solidFill>
            <a:prstDash val="solid"/>
            <a:tailEnd type="triangle"/>
          </a:ln>
        </p:spPr>
      </p:sp>
      <p:sp>
        <p:nvSpPr>
          <p:cNvPr id="9" name="Text 7"/>
          <p:cNvSpPr txBox="1"/>
          <p:nvPr/>
        </p:nvSpPr>
        <p:spPr>
          <a:xfrm>
            <a:off x="7269480" y="2194560"/>
            <a:ext cx="3657600" cy="640080"/>
          </a:xfrm>
          <a:prstGeom prst="rect">
            <a:avLst/>
          </a:prstGeom>
          <a:noFill/>
          <a:ln/>
        </p:spPr>
        <p:txBody>
          <a:bodyPr wrap="square" lIns="0" tIns="0" rIns="0" bIns="0" rtlCol="0" anchor="ctr"/>
          <a:lstStyle/>
          <a:p>
            <a:pPr indent="0" marL="0">
              <a:buNone/>
            </a:pPr>
            <a:r>
              <a:rPr lang="en-US" sz="2000" dirty="0">
                <a:solidFill>
                  <a:srgbClr val="8A8F98"/>
                </a:solidFill>
                <a:latin typeface="Courier New" pitchFamily="34" charset="0"/>
                <a:ea typeface="Courier New" pitchFamily="34" charset="-122"/>
                <a:cs typeface="Courier New" pitchFamily="34" charset="-120"/>
              </a:rPr>
              <a:t>„ano, asi jo“</a:t>
            </a:r>
            <a:endParaRPr lang="en-US" sz="2000" dirty="0"/>
          </a:p>
        </p:txBody>
      </p:sp>
      <p:sp>
        <p:nvSpPr>
          <p:cNvPr id="10" name="Text 8"/>
          <p:cNvSpPr txBox="1"/>
          <p:nvPr/>
        </p:nvSpPr>
        <p:spPr>
          <a:xfrm>
            <a:off x="685800" y="3383280"/>
            <a:ext cx="548640" cy="731520"/>
          </a:xfrm>
          <a:prstGeom prst="rect">
            <a:avLst/>
          </a:prstGeom>
          <a:noFill/>
          <a:ln/>
        </p:spPr>
        <p:txBody>
          <a:bodyPr wrap="square" lIns="0" tIns="0" rIns="0" bIns="0" rtlCol="0" anchor="ctr"/>
          <a:lstStyle/>
          <a:p>
            <a:pPr indent="0" marL="0">
              <a:buNone/>
            </a:pPr>
            <a:r>
              <a:rPr lang="en-US" sz="3600" b="1" dirty="0">
                <a:solidFill>
                  <a:srgbClr val="ECE9E2"/>
                </a:solidFill>
                <a:latin typeface="Courier New" pitchFamily="34" charset="0"/>
                <a:ea typeface="Courier New" pitchFamily="34" charset="-122"/>
                <a:cs typeface="Courier New" pitchFamily="34" charset="-120"/>
              </a:rPr>
              <a:t>✓</a:t>
            </a:r>
            <a:endParaRPr lang="en-US" sz="3600" dirty="0"/>
          </a:p>
        </p:txBody>
      </p:sp>
      <p:sp>
        <p:nvSpPr>
          <p:cNvPr id="11" name="Text 9"/>
          <p:cNvSpPr/>
          <p:nvPr/>
        </p:nvSpPr>
        <p:spPr>
          <a:xfrm>
            <a:off x="1371600" y="3474720"/>
            <a:ext cx="2377440" cy="64008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800" dirty="0">
                <a:solidFill>
                  <a:srgbClr val="ECE9E2"/>
                </a:solidFill>
                <a:latin typeface="Courier New" pitchFamily="34" charset="0"/>
                <a:ea typeface="Courier New" pitchFamily="34" charset="-122"/>
                <a:cs typeface="Courier New" pitchFamily="34" charset="-120"/>
              </a:rPr>
              <a:t>birth_date</a:t>
            </a:r>
            <a:endParaRPr lang="en-US" sz="1800" dirty="0"/>
          </a:p>
        </p:txBody>
      </p:sp>
      <p:sp>
        <p:nvSpPr>
          <p:cNvPr id="12" name="Shape 10"/>
          <p:cNvSpPr/>
          <p:nvPr/>
        </p:nvSpPr>
        <p:spPr>
          <a:xfrm>
            <a:off x="3840480" y="3794760"/>
            <a:ext cx="731520" cy="0"/>
          </a:xfrm>
          <a:prstGeom prst="line">
            <a:avLst/>
          </a:prstGeom>
          <a:noFill/>
          <a:ln w="19050">
            <a:solidFill>
              <a:srgbClr val="8A8F98"/>
            </a:solidFill>
            <a:prstDash val="solid"/>
            <a:tailEnd type="triangle"/>
          </a:ln>
        </p:spPr>
      </p:sp>
      <p:sp>
        <p:nvSpPr>
          <p:cNvPr id="13" name="Text 11"/>
          <p:cNvSpPr/>
          <p:nvPr/>
        </p:nvSpPr>
        <p:spPr>
          <a:xfrm>
            <a:off x="4663440" y="3474720"/>
            <a:ext cx="2377440" cy="64008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500" dirty="0">
                <a:solidFill>
                  <a:srgbClr val="ECE9E2"/>
                </a:solidFill>
                <a:latin typeface="Courier New" pitchFamily="34" charset="0"/>
                <a:ea typeface="Courier New" pitchFamily="34" charset="-122"/>
                <a:cs typeface="Courier New" pitchFamily="34" charset="-120"/>
              </a:rPr>
              <a:t>věk(d, dnes) &gt;= 18</a:t>
            </a:r>
            <a:endParaRPr lang="en-US" sz="1500" dirty="0"/>
          </a:p>
        </p:txBody>
      </p:sp>
      <p:sp>
        <p:nvSpPr>
          <p:cNvPr id="14" name="Shape 12"/>
          <p:cNvSpPr/>
          <p:nvPr/>
        </p:nvSpPr>
        <p:spPr>
          <a:xfrm>
            <a:off x="7132320" y="3794760"/>
            <a:ext cx="731520" cy="0"/>
          </a:xfrm>
          <a:prstGeom prst="line">
            <a:avLst/>
          </a:prstGeom>
          <a:noFill/>
          <a:ln w="19050">
            <a:solidFill>
              <a:srgbClr val="8A8F98"/>
            </a:solidFill>
            <a:prstDash val="solid"/>
            <a:tailEnd type="triangle"/>
          </a:ln>
        </p:spPr>
      </p:sp>
      <p:sp>
        <p:nvSpPr>
          <p:cNvPr id="15" name="Text 13"/>
          <p:cNvSpPr txBox="1"/>
          <p:nvPr/>
        </p:nvSpPr>
        <p:spPr>
          <a:xfrm>
            <a:off x="8001000" y="3474720"/>
            <a:ext cx="2743200" cy="640080"/>
          </a:xfrm>
          <a:prstGeom prst="rect">
            <a:avLst/>
          </a:prstGeom>
          <a:noFill/>
          <a:ln/>
        </p:spPr>
        <p:txBody>
          <a:bodyPr wrap="square" lIns="0" tIns="0" rIns="0" bIns="0" rtlCol="0" anchor="ctr"/>
          <a:lstStyle/>
          <a:p>
            <a:pPr indent="0" marL="0">
              <a:buNone/>
            </a:pPr>
            <a:r>
              <a:rPr lang="en-US" sz="2200" b="1" dirty="0">
                <a:solidFill>
                  <a:srgbClr val="ECE9E2"/>
                </a:solidFill>
                <a:latin typeface="Courier New" pitchFamily="34" charset="0"/>
                <a:ea typeface="Courier New" pitchFamily="34" charset="-122"/>
                <a:cs typeface="Courier New" pitchFamily="34" charset="-120"/>
              </a:rPr>
              <a:t>true</a:t>
            </a:r>
            <a:endParaRPr lang="en-US" sz="2200" dirty="0"/>
          </a:p>
        </p:txBody>
      </p:sp>
      <p:sp>
        <p:nvSpPr>
          <p:cNvPr id="16" name="Text 14"/>
          <p:cNvSpPr txBox="1"/>
          <p:nvPr/>
        </p:nvSpPr>
        <p:spPr>
          <a:xfrm>
            <a:off x="685800" y="4846320"/>
            <a:ext cx="10789920" cy="822960"/>
          </a:xfrm>
          <a:prstGeom prst="rect">
            <a:avLst/>
          </a:prstGeom>
          <a:noFill/>
          <a:ln/>
        </p:spPr>
        <p:txBody>
          <a:bodyPr wrap="square" lIns="0" tIns="0" rIns="0" bIns="0" rtlCol="0" anchor="t"/>
          <a:lstStyle/>
          <a:p>
            <a:pPr indent="0" marL="0">
              <a:buNone/>
            </a:pPr>
            <a:r>
              <a:rPr lang="en-US" sz="2400" b="1" dirty="0">
                <a:solidFill>
                  <a:srgbClr val="ECE9E2"/>
                </a:solidFill>
                <a:latin typeface="Arial" pitchFamily="34" charset="0"/>
                <a:ea typeface="Arial" pitchFamily="34" charset="-122"/>
                <a:cs typeface="Arial" pitchFamily="34" charset="-120"/>
              </a:rPr>
              <a:t>Nedělej z deterministického problému probabilistický jen proto, že máš LLM.</a:t>
            </a:r>
            <a:endParaRPr lang="en-US" sz="24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18 · DOBŘE</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Je to stížnost?</a:t>
            </a:r>
            <a:endParaRPr lang="en-US" sz="3600" dirty="0"/>
          </a:p>
        </p:txBody>
      </p:sp>
      <p:sp>
        <p:nvSpPr>
          <p:cNvPr id="4" name="Text 2"/>
          <p:cNvSpPr txBox="1"/>
          <p:nvPr/>
        </p:nvSpPr>
        <p:spPr>
          <a:xfrm>
            <a:off x="685800" y="1828800"/>
            <a:ext cx="10789920" cy="822960"/>
          </a:xfrm>
          <a:prstGeom prst="rect">
            <a:avLst/>
          </a:prstGeom>
          <a:noFill/>
          <a:ln/>
        </p:spPr>
        <p:txBody>
          <a:bodyPr wrap="square" lIns="0" tIns="0" rIns="0" bIns="0" rtlCol="0" anchor="t"/>
          <a:lstStyle/>
          <a:p>
            <a:pPr indent="0" marL="0">
              <a:buNone/>
            </a:pPr>
            <a:r>
              <a:rPr lang="en-US" sz="3400" b="1" dirty="0">
                <a:solidFill>
                  <a:srgbClr val="ECE9E2"/>
                </a:solidFill>
                <a:latin typeface="Arial" pitchFamily="34" charset="0"/>
                <a:ea typeface="Arial" pitchFamily="34" charset="-122"/>
                <a:cs typeface="Arial" pitchFamily="34" charset="-120"/>
              </a:rPr>
              <a:t>„No paráda, zase mi to přišlo rozbitý.“</a:t>
            </a:r>
            <a:endParaRPr lang="en-US" sz="3400" dirty="0"/>
          </a:p>
        </p:txBody>
      </p:sp>
      <p:sp>
        <p:nvSpPr>
          <p:cNvPr id="5" name="Shape 3"/>
          <p:cNvSpPr/>
          <p:nvPr/>
        </p:nvSpPr>
        <p:spPr>
          <a:xfrm>
            <a:off x="685800" y="2926080"/>
            <a:ext cx="5120640" cy="1463040"/>
          </a:xfrm>
          <a:prstGeom prst="rect">
            <a:avLst/>
          </a:prstGeom>
          <a:solidFill>
            <a:srgbClr val="111318"/>
          </a:solidFill>
          <a:ln w="12700">
            <a:solidFill>
              <a:srgbClr val="2E333B"/>
            </a:solidFill>
            <a:prstDash val="solid"/>
          </a:ln>
        </p:spPr>
      </p:sp>
      <p:sp>
        <p:nvSpPr>
          <p:cNvPr id="6" name="Text 4"/>
          <p:cNvSpPr txBox="1"/>
          <p:nvPr/>
        </p:nvSpPr>
        <p:spPr>
          <a:xfrm>
            <a:off x="868680" y="3108960"/>
            <a:ext cx="4846320" cy="1188720"/>
          </a:xfrm>
          <a:prstGeom prst="rect">
            <a:avLst/>
          </a:prstGeom>
          <a:noFill/>
          <a:ln/>
        </p:spPr>
        <p:txBody>
          <a:bodyPr wrap="square" lIns="0" tIns="0" rIns="0" bIns="0" rtlCol="0" anchor="t"/>
          <a:lstStyle/>
          <a:p>
            <a:pPr indent="0" marL="0">
              <a:buNone/>
            </a:pPr>
            <a:r>
              <a:rPr lang="en-US" sz="1700" dirty="0">
                <a:solidFill>
                  <a:srgbClr val="ECE9E2"/>
                </a:solidFill>
                <a:latin typeface="Courier New" pitchFamily="34" charset="0"/>
                <a:ea typeface="Courier New" pitchFamily="34" charset="-122"/>
                <a:cs typeface="Courier New" pitchFamily="34" charset="-120"/>
              </a:rPr>
              <a:t>if "paráda" in msg:</a:t>
            </a:r>
            <a:endParaRPr lang="en-US" sz="1700" dirty="0"/>
          </a:p>
          <a:p>
            <a:pPr indent="0" marL="0">
              <a:buNone/>
            </a:pPr>
            <a:r>
              <a:rPr lang="en-US" sz="1700" dirty="0">
                <a:solidFill>
                  <a:srgbClr val="ECE9E2"/>
                </a:solidFill>
                <a:latin typeface="Courier New" pitchFamily="34" charset="0"/>
                <a:ea typeface="Courier New" pitchFamily="34" charset="-122"/>
                <a:cs typeface="Courier New" pitchFamily="34" charset="-120"/>
              </a:rPr>
              <a:t>    return PRAISE</a:t>
            </a:r>
            <a:endParaRPr lang="en-US" sz="1700" dirty="0"/>
          </a:p>
          <a:p>
            <a:pPr indent="0" marL="0">
              <a:buNone/>
            </a:pPr>
            <a:r>
              <a:rPr lang="en-US" sz="1700" dirty="0">
                <a:solidFill>
                  <a:srgbClr val="8A8F98"/>
                </a:solidFill>
                <a:latin typeface="Courier New" pitchFamily="34" charset="0"/>
                <a:ea typeface="Courier New" pitchFamily="34" charset="-122"/>
                <a:cs typeface="Courier New" pitchFamily="34" charset="-120"/>
              </a:rPr>
              <a:t># ...a 4000 dalších výjimek</a:t>
            </a:r>
            <a:endParaRPr lang="en-US" sz="1700" dirty="0"/>
          </a:p>
        </p:txBody>
      </p:sp>
      <p:sp>
        <p:nvSpPr>
          <p:cNvPr id="7" name="Text 5"/>
          <p:cNvSpPr/>
          <p:nvPr/>
        </p:nvSpPr>
        <p:spPr>
          <a:xfrm>
            <a:off x="6400800" y="3291840"/>
            <a:ext cx="1463040" cy="73152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2000" dirty="0">
                <a:solidFill>
                  <a:srgbClr val="FF9F1C"/>
                </a:solidFill>
                <a:latin typeface="Courier New" pitchFamily="34" charset="0"/>
                <a:ea typeface="Courier New" pitchFamily="34" charset="-122"/>
                <a:cs typeface="Courier New" pitchFamily="34" charset="-120"/>
              </a:rPr>
              <a:t>LLM</a:t>
            </a:r>
            <a:endParaRPr lang="en-US" sz="2000" dirty="0"/>
          </a:p>
        </p:txBody>
      </p:sp>
      <p:sp>
        <p:nvSpPr>
          <p:cNvPr id="8" name="Shape 6"/>
          <p:cNvSpPr/>
          <p:nvPr/>
        </p:nvSpPr>
        <p:spPr>
          <a:xfrm flipV="1">
            <a:off x="7955280" y="2926080"/>
            <a:ext cx="731520" cy="731520"/>
          </a:xfrm>
          <a:prstGeom prst="line">
            <a:avLst/>
          </a:prstGeom>
          <a:noFill/>
          <a:ln w="19050">
            <a:solidFill>
              <a:srgbClr val="FF9F1C"/>
            </a:solidFill>
            <a:prstDash val="solid"/>
            <a:tailEnd type="triangle"/>
          </a:ln>
        </p:spPr>
      </p:sp>
      <p:sp>
        <p:nvSpPr>
          <p:cNvPr id="9" name="Text 7"/>
          <p:cNvSpPr txBox="1"/>
          <p:nvPr/>
        </p:nvSpPr>
        <p:spPr>
          <a:xfrm>
            <a:off x="8778240" y="2743200"/>
            <a:ext cx="2926080" cy="365760"/>
          </a:xfrm>
          <a:prstGeom prst="rect">
            <a:avLst/>
          </a:prstGeom>
          <a:noFill/>
          <a:ln/>
        </p:spPr>
        <p:txBody>
          <a:bodyPr wrap="square" lIns="0" tIns="0" rIns="0" bIns="0" rtlCol="0" anchor="t"/>
          <a:lstStyle/>
          <a:p>
            <a:pPr indent="0" marL="0">
              <a:buNone/>
            </a:pPr>
            <a:r>
              <a:rPr lang="en-US" sz="1800" b="1" dirty="0">
                <a:solidFill>
                  <a:srgbClr val="FF9F1C"/>
                </a:solidFill>
                <a:latin typeface="Courier New" pitchFamily="34" charset="0"/>
                <a:ea typeface="Courier New" pitchFamily="34" charset="-122"/>
                <a:cs typeface="Courier New" pitchFamily="34" charset="-120"/>
              </a:rPr>
              <a:t>complaint</a:t>
            </a:r>
            <a:endParaRPr lang="en-US" sz="1800" dirty="0"/>
          </a:p>
        </p:txBody>
      </p:sp>
      <p:sp>
        <p:nvSpPr>
          <p:cNvPr id="10" name="Shape 8"/>
          <p:cNvSpPr/>
          <p:nvPr/>
        </p:nvSpPr>
        <p:spPr>
          <a:xfrm flipV="1">
            <a:off x="7955280" y="3383280"/>
            <a:ext cx="731520" cy="274320"/>
          </a:xfrm>
          <a:prstGeom prst="line">
            <a:avLst/>
          </a:prstGeom>
          <a:noFill/>
          <a:ln w="19050">
            <a:solidFill>
              <a:srgbClr val="2E333B"/>
            </a:solidFill>
            <a:prstDash val="solid"/>
            <a:tailEnd type="triangle"/>
          </a:ln>
        </p:spPr>
      </p:sp>
      <p:sp>
        <p:nvSpPr>
          <p:cNvPr id="11" name="Text 9"/>
          <p:cNvSpPr txBox="1"/>
          <p:nvPr/>
        </p:nvSpPr>
        <p:spPr>
          <a:xfrm>
            <a:off x="8778240" y="3200400"/>
            <a:ext cx="2926080" cy="365760"/>
          </a:xfrm>
          <a:prstGeom prst="rect">
            <a:avLst/>
          </a:prstGeom>
          <a:noFill/>
          <a:ln/>
        </p:spPr>
        <p:txBody>
          <a:bodyPr wrap="square" lIns="0" tIns="0" rIns="0" bIns="0" rtlCol="0" anchor="t"/>
          <a:lstStyle/>
          <a:p>
            <a:pPr indent="0" marL="0">
              <a:buNone/>
            </a:pPr>
            <a:r>
              <a:rPr lang="en-US" sz="1800" dirty="0">
                <a:solidFill>
                  <a:srgbClr val="8A8F98"/>
                </a:solidFill>
                <a:latin typeface="Courier New" pitchFamily="34" charset="0"/>
                <a:ea typeface="Courier New" pitchFamily="34" charset="-122"/>
                <a:cs typeface="Courier New" pitchFamily="34" charset="-120"/>
              </a:rPr>
              <a:t>praise</a:t>
            </a:r>
            <a:endParaRPr lang="en-US" sz="1800" dirty="0"/>
          </a:p>
        </p:txBody>
      </p:sp>
      <p:sp>
        <p:nvSpPr>
          <p:cNvPr id="12" name="Shape 10"/>
          <p:cNvSpPr/>
          <p:nvPr/>
        </p:nvSpPr>
        <p:spPr>
          <a:xfrm>
            <a:off x="7955280" y="3657600"/>
            <a:ext cx="731520" cy="182880"/>
          </a:xfrm>
          <a:prstGeom prst="line">
            <a:avLst/>
          </a:prstGeom>
          <a:noFill/>
          <a:ln w="19050">
            <a:solidFill>
              <a:srgbClr val="2E333B"/>
            </a:solidFill>
            <a:prstDash val="solid"/>
            <a:tailEnd type="triangle"/>
          </a:ln>
        </p:spPr>
      </p:sp>
      <p:sp>
        <p:nvSpPr>
          <p:cNvPr id="13" name="Text 11"/>
          <p:cNvSpPr txBox="1"/>
          <p:nvPr/>
        </p:nvSpPr>
        <p:spPr>
          <a:xfrm>
            <a:off x="8778240" y="3657600"/>
            <a:ext cx="2926080" cy="365760"/>
          </a:xfrm>
          <a:prstGeom prst="rect">
            <a:avLst/>
          </a:prstGeom>
          <a:noFill/>
          <a:ln/>
        </p:spPr>
        <p:txBody>
          <a:bodyPr wrap="square" lIns="0" tIns="0" rIns="0" bIns="0" rtlCol="0" anchor="t"/>
          <a:lstStyle/>
          <a:p>
            <a:pPr indent="0" marL="0">
              <a:buNone/>
            </a:pPr>
            <a:r>
              <a:rPr lang="en-US" sz="1800" dirty="0">
                <a:solidFill>
                  <a:srgbClr val="8A8F98"/>
                </a:solidFill>
                <a:latin typeface="Courier New" pitchFamily="34" charset="0"/>
                <a:ea typeface="Courier New" pitchFamily="34" charset="-122"/>
                <a:cs typeface="Courier New" pitchFamily="34" charset="-120"/>
              </a:rPr>
              <a:t>question</a:t>
            </a:r>
            <a:endParaRPr lang="en-US" sz="1800" dirty="0"/>
          </a:p>
        </p:txBody>
      </p:sp>
      <p:sp>
        <p:nvSpPr>
          <p:cNvPr id="14" name="Shape 12"/>
          <p:cNvSpPr/>
          <p:nvPr/>
        </p:nvSpPr>
        <p:spPr>
          <a:xfrm>
            <a:off x="7955280" y="3657600"/>
            <a:ext cx="731520" cy="640080"/>
          </a:xfrm>
          <a:prstGeom prst="line">
            <a:avLst/>
          </a:prstGeom>
          <a:noFill/>
          <a:ln w="19050">
            <a:solidFill>
              <a:srgbClr val="2E333B"/>
            </a:solidFill>
            <a:prstDash val="solid"/>
            <a:tailEnd type="triangle"/>
          </a:ln>
        </p:spPr>
      </p:sp>
      <p:sp>
        <p:nvSpPr>
          <p:cNvPr id="15" name="Text 13"/>
          <p:cNvSpPr txBox="1"/>
          <p:nvPr/>
        </p:nvSpPr>
        <p:spPr>
          <a:xfrm>
            <a:off x="8778240" y="4114800"/>
            <a:ext cx="2926080" cy="365760"/>
          </a:xfrm>
          <a:prstGeom prst="rect">
            <a:avLst/>
          </a:prstGeom>
          <a:noFill/>
          <a:ln/>
        </p:spPr>
        <p:txBody>
          <a:bodyPr wrap="square" lIns="0" tIns="0" rIns="0" bIns="0" rtlCol="0" anchor="t"/>
          <a:lstStyle/>
          <a:p>
            <a:pPr indent="0" marL="0">
              <a:buNone/>
            </a:pPr>
            <a:r>
              <a:rPr lang="en-US" sz="1800" dirty="0">
                <a:solidFill>
                  <a:srgbClr val="8A8F98"/>
                </a:solidFill>
                <a:latin typeface="Courier New" pitchFamily="34" charset="0"/>
                <a:ea typeface="Courier New" pitchFamily="34" charset="-122"/>
                <a:cs typeface="Courier New" pitchFamily="34" charset="-120"/>
              </a:rPr>
              <a:t>nejisté → člověk</a:t>
            </a:r>
            <a:endParaRPr lang="en-US" sz="1800" dirty="0"/>
          </a:p>
        </p:txBody>
      </p:sp>
      <p:sp>
        <p:nvSpPr>
          <p:cNvPr id="16" name="Text 14"/>
          <p:cNvSpPr txBox="1"/>
          <p:nvPr/>
        </p:nvSpPr>
        <p:spPr>
          <a:xfrm>
            <a:off x="685800" y="4937760"/>
            <a:ext cx="10789920" cy="640080"/>
          </a:xfrm>
          <a:prstGeom prst="rect">
            <a:avLst/>
          </a:prstGeom>
          <a:noFill/>
          <a:ln/>
        </p:spPr>
        <p:txBody>
          <a:bodyPr wrap="square" lIns="0" tIns="0" rIns="0" bIns="0" rtlCol="0" anchor="t"/>
          <a:lstStyle/>
          <a:p>
            <a:pPr indent="0" marL="0">
              <a:buNone/>
            </a:pPr>
            <a:r>
              <a:rPr lang="en-US" sz="2400" b="1" dirty="0">
                <a:solidFill>
                  <a:srgbClr val="ECE9E2"/>
                </a:solidFill>
                <a:latin typeface="Arial" pitchFamily="34" charset="0"/>
                <a:ea typeface="Arial" pitchFamily="34" charset="-122"/>
                <a:cs typeface="Arial" pitchFamily="34" charset="-120"/>
              </a:rPr>
              <a:t>Tady rychle přibývají výjimky. Tady se model může hodit.</a:t>
            </a:r>
            <a:endParaRPr lang="en-US" sz="24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19 · ARCHITEKTURA</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To nejlepší z obou světů</a:t>
            </a:r>
            <a:endParaRPr lang="en-US" sz="3600" dirty="0"/>
          </a:p>
        </p:txBody>
      </p:sp>
      <p:sp>
        <p:nvSpPr>
          <p:cNvPr id="4" name="Text 2"/>
          <p:cNvSpPr/>
          <p:nvPr/>
        </p:nvSpPr>
        <p:spPr>
          <a:xfrm>
            <a:off x="5184648" y="1801368"/>
            <a:ext cx="1828800" cy="384048"/>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USER</a:t>
            </a:r>
            <a:endParaRPr lang="en-US" sz="1400" dirty="0"/>
          </a:p>
        </p:txBody>
      </p:sp>
      <p:sp>
        <p:nvSpPr>
          <p:cNvPr id="5" name="Shape 3"/>
          <p:cNvSpPr/>
          <p:nvPr/>
        </p:nvSpPr>
        <p:spPr>
          <a:xfrm>
            <a:off x="6099048" y="2185416"/>
            <a:ext cx="0" cy="210312"/>
          </a:xfrm>
          <a:prstGeom prst="line">
            <a:avLst/>
          </a:prstGeom>
          <a:noFill/>
          <a:ln w="19050">
            <a:solidFill>
              <a:srgbClr val="8A8F98"/>
            </a:solidFill>
            <a:prstDash val="solid"/>
            <a:tailEnd type="triangle"/>
          </a:ln>
        </p:spPr>
      </p:sp>
      <p:sp>
        <p:nvSpPr>
          <p:cNvPr id="6" name="Text 4"/>
          <p:cNvSpPr/>
          <p:nvPr/>
        </p:nvSpPr>
        <p:spPr>
          <a:xfrm>
            <a:off x="3172968" y="2395728"/>
            <a:ext cx="5852160" cy="502920"/>
          </a:xfrm>
          <a:prstGeom prst="rect">
            <a:avLst/>
          </a:prstGeom>
          <a:solidFill>
            <a:srgbClr val="0A0B0D"/>
          </a:solidFill>
          <a:ln w="15875">
            <a:solidFill>
              <a:srgbClr val="FF9F1C"/>
            </a:solidFill>
            <a:prstDash val="solid"/>
          </a:ln>
        </p:spPr>
        <p:txBody>
          <a:bodyPr wrap="square" lIns="50800" tIns="50800" rIns="50800" bIns="50800" rtlCol="0" anchor="ctr"/>
          <a:lstStyle/>
          <a:p>
            <a:pPr algn="ctr" indent="0" marL="0">
              <a:buNone/>
            </a:pPr>
            <a:r>
              <a:rPr lang="en-US" sz="1500" b="1" dirty="0">
                <a:solidFill>
                  <a:srgbClr val="FF9F1C"/>
                </a:solidFill>
                <a:latin typeface="Courier New" pitchFamily="34" charset="0"/>
                <a:ea typeface="Courier New" pitchFamily="34" charset="-122"/>
                <a:cs typeface="Courier New" pitchFamily="34" charset="-120"/>
              </a:rPr>
              <a:t>LLM  ·  interpretuje / navrhuje / generuje</a:t>
            </a:r>
            <a:endParaRPr lang="en-US" sz="1500" dirty="0"/>
          </a:p>
        </p:txBody>
      </p:sp>
      <p:sp>
        <p:nvSpPr>
          <p:cNvPr id="7" name="Shape 5"/>
          <p:cNvSpPr/>
          <p:nvPr/>
        </p:nvSpPr>
        <p:spPr>
          <a:xfrm>
            <a:off x="6099048" y="2898648"/>
            <a:ext cx="0" cy="210312"/>
          </a:xfrm>
          <a:prstGeom prst="line">
            <a:avLst/>
          </a:prstGeom>
          <a:noFill/>
          <a:ln w="19050">
            <a:solidFill>
              <a:srgbClr val="8A8F98"/>
            </a:solidFill>
            <a:prstDash val="solid"/>
            <a:tailEnd type="triangle"/>
          </a:ln>
        </p:spPr>
      </p:sp>
      <p:sp>
        <p:nvSpPr>
          <p:cNvPr id="8" name="Text 6"/>
          <p:cNvSpPr/>
          <p:nvPr/>
        </p:nvSpPr>
        <p:spPr>
          <a:xfrm>
            <a:off x="3172968" y="3108960"/>
            <a:ext cx="5852160" cy="457200"/>
          </a:xfrm>
          <a:prstGeom prst="rect">
            <a:avLst/>
          </a:prstGeom>
          <a:solidFill>
            <a:srgbClr val="0A0B0D"/>
          </a:solidFill>
          <a:ln w="25400">
            <a:solidFill>
              <a:srgbClr val="ECE9E2"/>
            </a:solidFill>
            <a:prstDash val="solid"/>
          </a:ln>
        </p:spPr>
        <p:txBody>
          <a:bodyPr wrap="square" lIns="50800" tIns="50800" rIns="50800" bIns="50800" rtlCol="0" anchor="ctr"/>
          <a:lstStyle/>
          <a:p>
            <a:pPr algn="ctr" indent="0" marL="0">
              <a:buNone/>
            </a:pPr>
            <a:r>
              <a:rPr lang="en-US" sz="1400" b="1" dirty="0">
                <a:solidFill>
                  <a:srgbClr val="ECE9E2"/>
                </a:solidFill>
                <a:latin typeface="Courier New" pitchFamily="34" charset="0"/>
                <a:ea typeface="Courier New" pitchFamily="34" charset="-122"/>
                <a:cs typeface="Courier New" pitchFamily="34" charset="-120"/>
              </a:rPr>
              <a:t>AUTORIZACE + VALIDACE ARGUMENTŮ  (před akcí)</a:t>
            </a:r>
            <a:endParaRPr lang="en-US" sz="1400" dirty="0"/>
          </a:p>
        </p:txBody>
      </p:sp>
      <p:sp>
        <p:nvSpPr>
          <p:cNvPr id="9" name="Shape 7"/>
          <p:cNvSpPr/>
          <p:nvPr/>
        </p:nvSpPr>
        <p:spPr>
          <a:xfrm flipH="1">
            <a:off x="3355848" y="3566160"/>
            <a:ext cx="1280160" cy="246888"/>
          </a:xfrm>
          <a:prstGeom prst="line">
            <a:avLst/>
          </a:prstGeom>
          <a:noFill/>
          <a:ln w="19050">
            <a:solidFill>
              <a:srgbClr val="8A8F98"/>
            </a:solidFill>
            <a:prstDash val="solid"/>
            <a:tailEnd type="triangle"/>
          </a:ln>
        </p:spPr>
      </p:sp>
      <p:sp>
        <p:nvSpPr>
          <p:cNvPr id="10" name="Shape 8"/>
          <p:cNvSpPr/>
          <p:nvPr/>
        </p:nvSpPr>
        <p:spPr>
          <a:xfrm>
            <a:off x="7562088" y="3566160"/>
            <a:ext cx="1280160" cy="246888"/>
          </a:xfrm>
          <a:prstGeom prst="line">
            <a:avLst/>
          </a:prstGeom>
          <a:noFill/>
          <a:ln w="19050">
            <a:solidFill>
              <a:srgbClr val="8A8F98"/>
            </a:solidFill>
            <a:prstDash val="solid"/>
            <a:tailEnd type="triangle"/>
          </a:ln>
        </p:spPr>
      </p:sp>
      <p:sp>
        <p:nvSpPr>
          <p:cNvPr id="11" name="Text 9"/>
          <p:cNvSpPr/>
          <p:nvPr/>
        </p:nvSpPr>
        <p:spPr>
          <a:xfrm>
            <a:off x="1188720" y="3813048"/>
            <a:ext cx="4206240" cy="77724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deterministic tools</a:t>
            </a:r>
            <a:endParaRPr lang="en-US" sz="1300" dirty="0"/>
          </a:p>
          <a:p>
            <a:pPr algn="ctr" indent="0" marL="0">
              <a:buNone/>
            </a:pPr>
            <a:r>
              <a:rPr lang="en-US" sz="1300" dirty="0">
                <a:solidFill>
                  <a:srgbClr val="ECE9E2"/>
                </a:solidFill>
                <a:latin typeface="Courier New" pitchFamily="34" charset="0"/>
                <a:ea typeface="Courier New" pitchFamily="34" charset="-122"/>
                <a:cs typeface="Courier New" pitchFamily="34" charset="-120"/>
              </a:rPr>
              <a:t>calculator · APIs · business rules</a:t>
            </a:r>
            <a:endParaRPr lang="en-US" sz="1300" dirty="0"/>
          </a:p>
        </p:txBody>
      </p:sp>
      <p:sp>
        <p:nvSpPr>
          <p:cNvPr id="12" name="Text 10"/>
          <p:cNvSpPr/>
          <p:nvPr/>
        </p:nvSpPr>
        <p:spPr>
          <a:xfrm>
            <a:off x="6793992" y="3813048"/>
            <a:ext cx="4206240" cy="777240"/>
          </a:xfrm>
          <a:prstGeom prst="rect">
            <a:avLst/>
          </a:prstGeom>
          <a:solidFill>
            <a:srgbClr val="0A0B0D"/>
          </a:solidFill>
          <a:ln w="15875">
            <a:solidFill>
              <a:srgbClr val="ECE9E2"/>
            </a:solidFill>
            <a:prstDash val="solid"/>
          </a:ln>
        </p:spPr>
        <p:txBody>
          <a:bodyPr wrap="square" lIns="50800" tIns="50800" rIns="50800" bIns="50800" rtlCol="0" anchor="ctr"/>
          <a:lstStyle/>
          <a:p>
            <a:pPr algn="ctr" indent="0" marL="0">
              <a:buNone/>
            </a:pPr>
            <a:r>
              <a:rPr lang="en-US" sz="1300" dirty="0">
                <a:solidFill>
                  <a:srgbClr val="ECE9E2"/>
                </a:solidFill>
                <a:latin typeface="Courier New" pitchFamily="34" charset="0"/>
                <a:ea typeface="Courier New" pitchFamily="34" charset="-122"/>
                <a:cs typeface="Courier New" pitchFamily="34" charset="-120"/>
              </a:rPr>
              <a:t>external knowledge</a:t>
            </a:r>
            <a:endParaRPr lang="en-US" sz="1300" dirty="0"/>
          </a:p>
          <a:p>
            <a:pPr algn="ctr" indent="0" marL="0">
              <a:buNone/>
            </a:pPr>
            <a:r>
              <a:rPr lang="en-US" sz="1300" dirty="0">
                <a:solidFill>
                  <a:srgbClr val="ECE9E2"/>
                </a:solidFill>
                <a:latin typeface="Courier New" pitchFamily="34" charset="0"/>
                <a:ea typeface="Courier New" pitchFamily="34" charset="-122"/>
                <a:cs typeface="Courier New" pitchFamily="34" charset="-120"/>
              </a:rPr>
              <a:t>search / RAG · database · documents</a:t>
            </a:r>
            <a:endParaRPr lang="en-US" sz="1300" dirty="0"/>
          </a:p>
        </p:txBody>
      </p:sp>
      <p:sp>
        <p:nvSpPr>
          <p:cNvPr id="13" name="Shape 11"/>
          <p:cNvSpPr/>
          <p:nvPr/>
        </p:nvSpPr>
        <p:spPr>
          <a:xfrm>
            <a:off x="3355848" y="4590288"/>
            <a:ext cx="1280160" cy="228600"/>
          </a:xfrm>
          <a:prstGeom prst="line">
            <a:avLst/>
          </a:prstGeom>
          <a:noFill/>
          <a:ln w="19050">
            <a:solidFill>
              <a:srgbClr val="8A8F98"/>
            </a:solidFill>
            <a:prstDash val="solid"/>
            <a:tailEnd type="triangle"/>
          </a:ln>
        </p:spPr>
      </p:sp>
      <p:sp>
        <p:nvSpPr>
          <p:cNvPr id="14" name="Shape 12"/>
          <p:cNvSpPr/>
          <p:nvPr/>
        </p:nvSpPr>
        <p:spPr>
          <a:xfrm flipH="1">
            <a:off x="7562088" y="4590288"/>
            <a:ext cx="1280160" cy="228600"/>
          </a:xfrm>
          <a:prstGeom prst="line">
            <a:avLst/>
          </a:prstGeom>
          <a:noFill/>
          <a:ln w="19050">
            <a:solidFill>
              <a:srgbClr val="8A8F98"/>
            </a:solidFill>
            <a:prstDash val="solid"/>
            <a:tailEnd type="triangle"/>
          </a:ln>
        </p:spPr>
      </p:sp>
      <p:sp>
        <p:nvSpPr>
          <p:cNvPr id="15" name="Text 13"/>
          <p:cNvSpPr/>
          <p:nvPr/>
        </p:nvSpPr>
        <p:spPr>
          <a:xfrm>
            <a:off x="3172968" y="4818888"/>
            <a:ext cx="5852160" cy="457200"/>
          </a:xfrm>
          <a:prstGeom prst="rect">
            <a:avLst/>
          </a:prstGeom>
          <a:solidFill>
            <a:srgbClr val="0A0B0D"/>
          </a:solidFill>
          <a:ln w="25400">
            <a:solidFill>
              <a:srgbClr val="ECE9E2"/>
            </a:solidFill>
            <a:prstDash val="solid"/>
          </a:ln>
        </p:spPr>
        <p:txBody>
          <a:bodyPr wrap="square" lIns="50800" tIns="50800" rIns="50800" bIns="50800" rtlCol="0" anchor="ctr"/>
          <a:lstStyle/>
          <a:p>
            <a:pPr algn="ctr" indent="0" marL="0">
              <a:buNone/>
            </a:pPr>
            <a:r>
              <a:rPr lang="en-US" sz="1400" b="1" dirty="0">
                <a:solidFill>
                  <a:srgbClr val="ECE9E2"/>
                </a:solidFill>
                <a:latin typeface="Courier New" pitchFamily="34" charset="0"/>
                <a:ea typeface="Courier New" pitchFamily="34" charset="-122"/>
                <a:cs typeface="Courier New" pitchFamily="34" charset="-120"/>
              </a:rPr>
              <a:t>VALIDACE VÝSTUPU</a:t>
            </a:r>
            <a:endParaRPr lang="en-US" sz="1400" dirty="0"/>
          </a:p>
        </p:txBody>
      </p:sp>
      <p:sp>
        <p:nvSpPr>
          <p:cNvPr id="16" name="Shape 14"/>
          <p:cNvSpPr/>
          <p:nvPr/>
        </p:nvSpPr>
        <p:spPr>
          <a:xfrm>
            <a:off x="6099048" y="5276088"/>
            <a:ext cx="0" cy="210312"/>
          </a:xfrm>
          <a:prstGeom prst="line">
            <a:avLst/>
          </a:prstGeom>
          <a:noFill/>
          <a:ln w="19050">
            <a:solidFill>
              <a:srgbClr val="8A8F98"/>
            </a:solidFill>
            <a:prstDash val="solid"/>
            <a:tailEnd type="triangle"/>
          </a:ln>
        </p:spPr>
      </p:sp>
      <p:sp>
        <p:nvSpPr>
          <p:cNvPr id="17" name="Text 15"/>
          <p:cNvSpPr/>
          <p:nvPr/>
        </p:nvSpPr>
        <p:spPr>
          <a:xfrm>
            <a:off x="5184648" y="5486400"/>
            <a:ext cx="1828800" cy="384048"/>
          </a:xfrm>
          <a:prstGeom prst="rect">
            <a:avLst/>
          </a:prstGeom>
          <a:solidFill>
            <a:srgbClr val="0A0B0D"/>
          </a:solidFill>
          <a:ln w="15875">
            <a:solidFill>
              <a:srgbClr val="8A8F98"/>
            </a:solidFill>
            <a:prstDash val="solid"/>
          </a:ln>
        </p:spPr>
        <p:txBody>
          <a:bodyPr wrap="square" lIns="50800" tIns="50800" rIns="50800" bIns="50800" rtlCol="0" anchor="ctr"/>
          <a:lstStyle/>
          <a:p>
            <a:pPr algn="ctr" indent="0" marL="0">
              <a:buNone/>
            </a:pPr>
            <a:r>
              <a:rPr lang="en-US" sz="1400" dirty="0">
                <a:solidFill>
                  <a:srgbClr val="ECE9E2"/>
                </a:solidFill>
                <a:latin typeface="Courier New" pitchFamily="34" charset="0"/>
                <a:ea typeface="Courier New" pitchFamily="34" charset="-122"/>
                <a:cs typeface="Courier New" pitchFamily="34" charset="-120"/>
              </a:rPr>
              <a:t>RESULT</a:t>
            </a:r>
            <a:endParaRPr lang="en-US" sz="1400" dirty="0"/>
          </a:p>
        </p:txBody>
      </p:sp>
      <p:sp>
        <p:nvSpPr>
          <p:cNvPr id="18" name="Shape 16"/>
          <p:cNvSpPr/>
          <p:nvPr/>
        </p:nvSpPr>
        <p:spPr>
          <a:xfrm flipH="1">
            <a:off x="868680" y="4197096"/>
            <a:ext cx="320040" cy="0"/>
          </a:xfrm>
          <a:prstGeom prst="line">
            <a:avLst/>
          </a:prstGeom>
          <a:noFill/>
          <a:ln w="15875">
            <a:solidFill>
              <a:srgbClr val="FF9F1C"/>
            </a:solidFill>
            <a:prstDash val="dash"/>
          </a:ln>
        </p:spPr>
      </p:sp>
      <p:sp>
        <p:nvSpPr>
          <p:cNvPr id="19" name="Shape 17"/>
          <p:cNvSpPr/>
          <p:nvPr/>
        </p:nvSpPr>
        <p:spPr>
          <a:xfrm flipV="1">
            <a:off x="868680" y="2642616"/>
            <a:ext cx="0" cy="1554480"/>
          </a:xfrm>
          <a:prstGeom prst="line">
            <a:avLst/>
          </a:prstGeom>
          <a:noFill/>
          <a:ln w="15875">
            <a:solidFill>
              <a:srgbClr val="FF9F1C"/>
            </a:solidFill>
            <a:prstDash val="dash"/>
          </a:ln>
        </p:spPr>
      </p:sp>
      <p:sp>
        <p:nvSpPr>
          <p:cNvPr id="20" name="Shape 18"/>
          <p:cNvSpPr/>
          <p:nvPr/>
        </p:nvSpPr>
        <p:spPr>
          <a:xfrm>
            <a:off x="868680" y="2642616"/>
            <a:ext cx="2304288" cy="0"/>
          </a:xfrm>
          <a:prstGeom prst="line">
            <a:avLst/>
          </a:prstGeom>
          <a:noFill/>
          <a:ln w="15875">
            <a:solidFill>
              <a:srgbClr val="FF9F1C"/>
            </a:solidFill>
            <a:prstDash val="dash"/>
            <a:tailEnd type="triangle"/>
          </a:ln>
        </p:spPr>
      </p:sp>
      <p:sp>
        <p:nvSpPr>
          <p:cNvPr id="21" name="Shape 19"/>
          <p:cNvSpPr/>
          <p:nvPr/>
        </p:nvSpPr>
        <p:spPr>
          <a:xfrm>
            <a:off x="11000232" y="4197096"/>
            <a:ext cx="338328" cy="0"/>
          </a:xfrm>
          <a:prstGeom prst="line">
            <a:avLst/>
          </a:prstGeom>
          <a:noFill/>
          <a:ln w="15875">
            <a:solidFill>
              <a:srgbClr val="FF9F1C"/>
            </a:solidFill>
            <a:prstDash val="dash"/>
          </a:ln>
        </p:spPr>
      </p:sp>
      <p:sp>
        <p:nvSpPr>
          <p:cNvPr id="22" name="Shape 20"/>
          <p:cNvSpPr/>
          <p:nvPr/>
        </p:nvSpPr>
        <p:spPr>
          <a:xfrm flipV="1">
            <a:off x="11338560" y="2642616"/>
            <a:ext cx="0" cy="1554480"/>
          </a:xfrm>
          <a:prstGeom prst="line">
            <a:avLst/>
          </a:prstGeom>
          <a:noFill/>
          <a:ln w="15875">
            <a:solidFill>
              <a:srgbClr val="FF9F1C"/>
            </a:solidFill>
            <a:prstDash val="dash"/>
          </a:ln>
        </p:spPr>
      </p:sp>
      <p:sp>
        <p:nvSpPr>
          <p:cNvPr id="23" name="Shape 21"/>
          <p:cNvSpPr/>
          <p:nvPr/>
        </p:nvSpPr>
        <p:spPr>
          <a:xfrm flipH="1">
            <a:off x="9025128" y="2642616"/>
            <a:ext cx="2313432" cy="0"/>
          </a:xfrm>
          <a:prstGeom prst="line">
            <a:avLst/>
          </a:prstGeom>
          <a:noFill/>
          <a:ln w="15875">
            <a:solidFill>
              <a:srgbClr val="FF9F1C"/>
            </a:solidFill>
            <a:prstDash val="dash"/>
            <a:tailEnd type="triangle"/>
          </a:ln>
        </p:spPr>
      </p:sp>
      <p:sp>
        <p:nvSpPr>
          <p:cNvPr id="24" name="Text 22"/>
          <p:cNvSpPr txBox="1"/>
          <p:nvPr/>
        </p:nvSpPr>
        <p:spPr>
          <a:xfrm>
            <a:off x="7680960" y="2167128"/>
            <a:ext cx="3657600" cy="274320"/>
          </a:xfrm>
          <a:prstGeom prst="rect">
            <a:avLst/>
          </a:prstGeom>
          <a:noFill/>
          <a:ln/>
        </p:spPr>
        <p:txBody>
          <a:bodyPr wrap="square" lIns="0" tIns="0" rIns="0" bIns="0" rtlCol="0" anchor="t"/>
          <a:lstStyle/>
          <a:p>
            <a:pPr algn="r" indent="0" marL="0">
              <a:buNone/>
            </a:pPr>
            <a:r>
              <a:rPr lang="en-US" sz="1200" dirty="0">
                <a:solidFill>
                  <a:srgbClr val="FF9F1C"/>
                </a:solidFill>
                <a:latin typeface="Courier New" pitchFamily="34" charset="0"/>
                <a:ea typeface="Courier New" pitchFamily="34" charset="-122"/>
                <a:cs typeface="Courier New" pitchFamily="34" charset="-120"/>
              </a:rPr>
              <a:t>výsledky zpět do kontextu</a:t>
            </a:r>
            <a:endParaRPr lang="en-US" sz="12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20 · TERMINÁTOŘI?</a:t>
            </a:r>
            <a:endParaRPr lang="en-US" sz="1200" dirty="0"/>
          </a:p>
        </p:txBody>
      </p:sp>
      <p:sp>
        <p:nvSpPr>
          <p:cNvPr id="3" name="Text 1"/>
          <p:cNvSpPr txBox="1"/>
          <p:nvPr/>
        </p:nvSpPr>
        <p:spPr>
          <a:xfrm>
            <a:off x="685800" y="1188720"/>
            <a:ext cx="10972800" cy="914400"/>
          </a:xfrm>
          <a:prstGeom prst="rect">
            <a:avLst/>
          </a:prstGeom>
          <a:noFill/>
          <a:ln/>
        </p:spPr>
        <p:txBody>
          <a:bodyPr wrap="square" lIns="0" tIns="0" rIns="0" bIns="0" rtlCol="0" anchor="t"/>
          <a:lstStyle/>
          <a:p>
            <a:pPr indent="0" marL="0">
              <a:buNone/>
            </a:pPr>
            <a:r>
              <a:rPr lang="en-US" sz="4400" b="1" dirty="0">
                <a:solidFill>
                  <a:srgbClr val="ECE9E2"/>
                </a:solidFill>
                <a:latin typeface="Arial" pitchFamily="34" charset="0"/>
                <a:ea typeface="Arial" pitchFamily="34" charset="-122"/>
                <a:cs typeface="Arial" pitchFamily="34" charset="-120"/>
              </a:rPr>
              <a:t>Takže… zničí nás Terminátoři?</a:t>
            </a:r>
            <a:endParaRPr lang="en-US" sz="4400" dirty="0"/>
          </a:p>
        </p:txBody>
      </p:sp>
      <p:sp>
        <p:nvSpPr>
          <p:cNvPr id="4" name="Text 2"/>
          <p:cNvSpPr txBox="1"/>
          <p:nvPr/>
        </p:nvSpPr>
        <p:spPr>
          <a:xfrm>
            <a:off x="685800" y="2651760"/>
            <a:ext cx="10972800" cy="640080"/>
          </a:xfrm>
          <a:prstGeom prst="rect">
            <a:avLst/>
          </a:prstGeom>
          <a:noFill/>
          <a:ln/>
        </p:spPr>
        <p:txBody>
          <a:bodyPr wrap="square" lIns="0" tIns="0" rIns="0" bIns="0" rtlCol="0" anchor="t"/>
          <a:lstStyle/>
          <a:p>
            <a:pPr indent="0" marL="0">
              <a:buNone/>
            </a:pPr>
            <a:r>
              <a:rPr lang="en-US" sz="2800" dirty="0">
                <a:solidFill>
                  <a:srgbClr val="ECE9E2"/>
                </a:solidFill>
                <a:latin typeface="Arial" pitchFamily="34" charset="0"/>
                <a:ea typeface="Arial" pitchFamily="34" charset="-122"/>
                <a:cs typeface="Arial" pitchFamily="34" charset="-120"/>
              </a:rPr>
              <a:t>Znalost mechanismu není důkaz bezpečnosti.</a:t>
            </a:r>
            <a:endParaRPr lang="en-US" sz="2800" dirty="0"/>
          </a:p>
        </p:txBody>
      </p:sp>
      <p:sp>
        <p:nvSpPr>
          <p:cNvPr id="5" name="Text 3"/>
          <p:cNvSpPr txBox="1"/>
          <p:nvPr/>
        </p:nvSpPr>
        <p:spPr>
          <a:xfrm>
            <a:off x="685800" y="3383280"/>
            <a:ext cx="10515600" cy="1188720"/>
          </a:xfrm>
          <a:prstGeom prst="rect">
            <a:avLst/>
          </a:prstGeom>
          <a:noFill/>
          <a:ln/>
        </p:spPr>
        <p:txBody>
          <a:bodyPr wrap="square" lIns="0" tIns="0" rIns="0" bIns="0" rtlCol="0" anchor="t"/>
          <a:lstStyle/>
          <a:p>
            <a:pPr indent="0" marL="0">
              <a:buNone/>
            </a:pPr>
            <a:r>
              <a:rPr lang="en-US" sz="2200" dirty="0">
                <a:solidFill>
                  <a:srgbClr val="8A8F98"/>
                </a:solidFill>
                <a:latin typeface="Arial" pitchFamily="34" charset="0"/>
                <a:ea typeface="Arial" pitchFamily="34" charset="-122"/>
                <a:cs typeface="Arial" pitchFamily="34" charset="-120"/>
              </a:rPr>
              <a:t>Co můžeme řídit hned: oprávnění, ověřování a lidský dohled.</a:t>
            </a:r>
            <a:endParaRPr lang="en-US" sz="2200" dirty="0"/>
          </a:p>
        </p:txBody>
      </p:sp>
      <p:sp>
        <p:nvSpPr>
          <p:cNvPr id="6" name="Text 4"/>
          <p:cNvSpPr txBox="1"/>
          <p:nvPr/>
        </p:nvSpPr>
        <p:spPr>
          <a:xfrm>
            <a:off x="685800" y="4937760"/>
            <a:ext cx="10972800" cy="640080"/>
          </a:xfrm>
          <a:prstGeom prst="rect">
            <a:avLst/>
          </a:prstGeom>
          <a:noFill/>
          <a:ln/>
        </p:spPr>
        <p:txBody>
          <a:bodyPr wrap="square" lIns="0" tIns="0" rIns="0" bIns="0" rtlCol="0" anchor="t"/>
          <a:lstStyle/>
          <a:p>
            <a:pPr indent="0" marL="0">
              <a:buNone/>
            </a:pPr>
            <a:r>
              <a:rPr lang="en-US" sz="3000" b="1" dirty="0">
                <a:solidFill>
                  <a:srgbClr val="FF9F1C"/>
                </a:solidFill>
                <a:latin typeface="Arial" pitchFamily="34" charset="0"/>
                <a:ea typeface="Arial" pitchFamily="34" charset="-122"/>
                <a:cs typeface="Arial" pitchFamily="34" charset="-120"/>
              </a:rPr>
              <a:t>DON'T PANIC ≠ don't care.</a:t>
            </a:r>
            <a:endParaRPr lang="en-US" sz="30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914400"/>
            <a:ext cx="11155680" cy="1645920"/>
          </a:xfrm>
          <a:prstGeom prst="rect">
            <a:avLst/>
          </a:prstGeom>
          <a:noFill/>
          <a:ln/>
        </p:spPr>
        <p:txBody>
          <a:bodyPr wrap="square" lIns="0" tIns="0" rIns="0" bIns="0" rtlCol="0" anchor="ctr"/>
          <a:lstStyle/>
          <a:p>
            <a:pPr indent="0" marL="0">
              <a:buNone/>
            </a:pPr>
            <a:r>
              <a:rPr lang="en-US" sz="10000" b="1" dirty="0">
                <a:solidFill>
                  <a:srgbClr val="ECE9E2"/>
                </a:solidFill>
                <a:latin typeface="Arial" pitchFamily="34" charset="0"/>
                <a:ea typeface="Arial" pitchFamily="34" charset="-122"/>
                <a:cs typeface="Arial" pitchFamily="34" charset="-120"/>
              </a:rPr>
              <a:t>DON'T PANIC</a:t>
            </a:r>
            <a:endParaRPr lang="en-US" sz="10000" dirty="0"/>
          </a:p>
        </p:txBody>
      </p:sp>
      <p:sp>
        <p:nvSpPr>
          <p:cNvPr id="3" name="Text 1"/>
          <p:cNvSpPr txBox="1"/>
          <p:nvPr/>
        </p:nvSpPr>
        <p:spPr>
          <a:xfrm>
            <a:off x="685800" y="2743200"/>
            <a:ext cx="10972800" cy="640080"/>
          </a:xfrm>
          <a:prstGeom prst="rect">
            <a:avLst/>
          </a:prstGeom>
          <a:noFill/>
          <a:ln/>
        </p:spPr>
        <p:txBody>
          <a:bodyPr wrap="square" lIns="0" tIns="0" rIns="0" bIns="0" rtlCol="0" anchor="t"/>
          <a:lstStyle/>
          <a:p>
            <a:pPr indent="0" marL="0">
              <a:buNone/>
            </a:pPr>
            <a:r>
              <a:rPr lang="en-US" sz="3200" dirty="0">
                <a:solidFill>
                  <a:srgbClr val="ECE9E2"/>
                </a:solidFill>
                <a:latin typeface="Arial" pitchFamily="34" charset="0"/>
                <a:ea typeface="Arial" pitchFamily="34" charset="-122"/>
                <a:cs typeface="Arial" pitchFamily="34" charset="-120"/>
              </a:rPr>
              <a:t>It's just software.</a:t>
            </a:r>
            <a:endParaRPr lang="en-US" sz="3200" dirty="0"/>
          </a:p>
        </p:txBody>
      </p:sp>
      <p:sp>
        <p:nvSpPr>
          <p:cNvPr id="4" name="Text 2"/>
          <p:cNvSpPr txBox="1"/>
          <p:nvPr/>
        </p:nvSpPr>
        <p:spPr>
          <a:xfrm>
            <a:off x="685800" y="3291840"/>
            <a:ext cx="10972800" cy="640080"/>
          </a:xfrm>
          <a:prstGeom prst="rect">
            <a:avLst/>
          </a:prstGeom>
          <a:noFill/>
          <a:ln/>
        </p:spPr>
        <p:txBody>
          <a:bodyPr wrap="square" lIns="0" tIns="0" rIns="0" bIns="0" rtlCol="0" anchor="t"/>
          <a:lstStyle/>
          <a:p>
            <a:pPr indent="0" marL="0">
              <a:buNone/>
            </a:pPr>
            <a:r>
              <a:rPr lang="en-US" sz="3200" b="1" dirty="0">
                <a:solidFill>
                  <a:srgbClr val="FF9F1C"/>
                </a:solidFill>
                <a:latin typeface="Arial" pitchFamily="34" charset="0"/>
                <a:ea typeface="Arial" pitchFamily="34" charset="-122"/>
                <a:cs typeface="Arial" pitchFamily="34" charset="-120"/>
              </a:rPr>
              <a:t>Very weird software.</a:t>
            </a:r>
            <a:endParaRPr lang="en-US" sz="3200" dirty="0"/>
          </a:p>
        </p:txBody>
      </p:sp>
      <p:sp>
        <p:nvSpPr>
          <p:cNvPr id="5" name="Text 3"/>
          <p:cNvSpPr txBox="1"/>
          <p:nvPr/>
        </p:nvSpPr>
        <p:spPr>
          <a:xfrm>
            <a:off x="685800" y="4572000"/>
            <a:ext cx="10972800" cy="1005840"/>
          </a:xfrm>
          <a:prstGeom prst="rect">
            <a:avLst/>
          </a:prstGeom>
          <a:noFill/>
          <a:ln/>
        </p:spPr>
        <p:txBody>
          <a:bodyPr wrap="square" lIns="0" tIns="0" rIns="0" bIns="0" rtlCol="0" anchor="t"/>
          <a:lstStyle/>
          <a:p>
            <a:pPr indent="0" marL="0">
              <a:buNone/>
            </a:pPr>
            <a:r>
              <a:rPr lang="en-US" sz="2000" dirty="0">
                <a:solidFill>
                  <a:srgbClr val="8A8F98"/>
                </a:solidFill>
                <a:latin typeface="Arial" pitchFamily="34" charset="0"/>
                <a:ea typeface="Arial" pitchFamily="34" charset="-122"/>
                <a:cs typeface="Arial" pitchFamily="34" charset="-120"/>
              </a:rPr>
              <a:t>Don't replace certainty with probability</a:t>
            </a:r>
            <a:endParaRPr lang="en-US" sz="2000" dirty="0"/>
          </a:p>
          <a:p>
            <a:pPr indent="0" marL="0">
              <a:buNone/>
            </a:pPr>
            <a:r>
              <a:rPr lang="en-US" sz="2000" dirty="0">
                <a:solidFill>
                  <a:srgbClr val="8A8F98"/>
                </a:solidFill>
                <a:latin typeface="Arial" pitchFamily="34" charset="0"/>
                <a:ea typeface="Arial" pitchFamily="34" charset="-122"/>
                <a:cs typeface="Arial" pitchFamily="34" charset="-120"/>
              </a:rPr>
              <a:t>unless probability solves a problem certainty can't.</a:t>
            </a:r>
            <a:endParaRPr lang="en-US" sz="20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85800" y="457200"/>
            <a:ext cx="7315200" cy="274320"/>
          </a:xfrm>
          <a:prstGeom prst="rect">
            <a:avLst/>
          </a:prstGeom>
          <a:noFill/>
          <a:ln/>
        </p:spPr>
        <p:txBody>
          <a:bodyPr wrap="square" lIns="0" tIns="0" rIns="0" bIns="0" rtlCol="0" anchor="ctr"/>
          <a:lstStyle/>
          <a:p>
            <a:pPr indent="0" marL="0">
              <a:buNone/>
            </a:pPr>
            <a:r>
              <a:rPr lang="en-US" sz="1200" spc="200" kern="0" dirty="0">
                <a:solidFill>
                  <a:srgbClr val="FF9F1C"/>
                </a:solidFill>
                <a:latin typeface="Courier New" pitchFamily="34" charset="0"/>
                <a:ea typeface="Courier New" pitchFamily="34" charset="-122"/>
                <a:cs typeface="Courier New" pitchFamily="34" charset="-120"/>
              </a:rPr>
              <a:t>RESOURCES</a:t>
            </a:r>
            <a:endParaRPr lang="en-US" sz="1200" dirty="0"/>
          </a:p>
        </p:txBody>
      </p:sp>
      <p:sp>
        <p:nvSpPr>
          <p:cNvPr id="3" name="Text 9"/>
          <p:cNvSpPr/>
          <p:nvPr>
            <p:ph idx="109" type="title" hasCustomPrompt="1"/>
          </p:nvPr>
        </p:nvSpPr>
        <p:spPr>
          <a:xfrm>
            <a:off x="685800" y="868680"/>
            <a:ext cx="10789920" cy="822960"/>
          </a:xfrm>
          <a:prstGeom prst="rect">
            <a:avLst/>
          </a:prstGeom>
          <a:noFill/>
          <a:ln/>
        </p:spPr>
        <p:txBody>
          <a:bodyPr wrap="square" lIns="0" tIns="0" rIns="0" bIns="0" rtlCol="0" anchor="t"/>
          <a:lstStyle/>
          <a:p>
            <a:pPr algn="l" indent="0" marL="0">
              <a:buNone/>
            </a:pPr>
            <a:r>
              <a:rPr lang="en-US" sz="3600" b="1" dirty="0">
                <a:solidFill>
                  <a:srgbClr val="ECE9E2"/>
                </a:solidFill>
                <a:latin typeface="Arial" pitchFamily="34" charset="0"/>
                <a:ea typeface="Arial" pitchFamily="34" charset="-122"/>
                <a:cs typeface="Arial" pitchFamily="34" charset="-120"/>
              </a:rPr>
              <a:t>Kam dál</a:t>
            </a:r>
            <a:endParaRPr lang="en-US" sz="3600" dirty="0"/>
          </a:p>
        </p:txBody>
      </p:sp>
      <p:pic>
        <p:nvPicPr>
          <p:cNvPr id="4" name="Image 0" descr="preencoded.png">    </p:cNvPr>
          <p:cNvPicPr>
            <a:picLocks noChangeAspect="1"/>
          </p:cNvPicPr>
          <p:nvPr/>
        </p:nvPicPr>
        <p:blipFill>
          <a:blip r:embed="rId1"/>
          <a:stretch>
            <a:fillRect/>
          </a:stretch>
        </p:blipFill>
        <p:spPr>
          <a:xfrm>
            <a:off x="8778240" y="1783080"/>
            <a:ext cx="2651760" cy="2651760"/>
          </a:xfrm>
          <a:prstGeom prst="rect">
            <a:avLst/>
          </a:prstGeom>
        </p:spPr>
      </p:pic>
      <p:sp>
        <p:nvSpPr>
          <p:cNvPr id="5" name="Text 2"/>
          <p:cNvSpPr txBox="1"/>
          <p:nvPr/>
        </p:nvSpPr>
        <p:spPr>
          <a:xfrm>
            <a:off x="8778240" y="4526280"/>
            <a:ext cx="2651760" cy="320040"/>
          </a:xfrm>
          <a:prstGeom prst="rect">
            <a:avLst/>
          </a:prstGeom>
          <a:noFill/>
          <a:ln/>
        </p:spPr>
        <p:txBody>
          <a:bodyPr wrap="square" lIns="0" tIns="0" rIns="0" bIns="0" rtlCol="0" anchor="t"/>
          <a:lstStyle/>
          <a:p>
            <a:pPr algn="ctr" indent="0" marL="0">
              <a:buNone/>
            </a:pPr>
            <a:r>
              <a:rPr lang="en-US" sz="1300" dirty="0">
                <a:solidFill>
                  <a:srgbClr val="FF9F1C"/>
                </a:solidFill>
                <a:latin typeface="Courier New" pitchFamily="34" charset="0"/>
                <a:ea typeface="Courier New" pitchFamily="34" charset="-122"/>
                <a:cs typeface="Courier New" pitchFamily="34" charset="-120"/>
              </a:rPr>
              <a:t>Transformer Explainer</a:t>
            </a:r>
            <a:endParaRPr lang="en-US" sz="1300" dirty="0"/>
          </a:p>
        </p:txBody>
      </p:sp>
      <p:sp>
        <p:nvSpPr>
          <p:cNvPr id="6" name="Text 3"/>
          <p:cNvSpPr txBox="1"/>
          <p:nvPr/>
        </p:nvSpPr>
        <p:spPr>
          <a:xfrm>
            <a:off x="685800" y="1828800"/>
            <a:ext cx="7772400" cy="320040"/>
          </a:xfrm>
          <a:prstGeom prst="rect">
            <a:avLst/>
          </a:prstGeom>
          <a:noFill/>
          <a:ln/>
        </p:spPr>
        <p:txBody>
          <a:bodyPr wrap="square" lIns="0" tIns="0" rIns="0" bIns="0" rtlCol="0" anchor="t"/>
          <a:lstStyle/>
          <a:p>
            <a:pPr indent="0" marL="0">
              <a:buNone/>
            </a:pPr>
            <a:r>
              <a:rPr lang="en-US" sz="1800" b="1" dirty="0">
                <a:solidFill>
                  <a:srgbClr val="ECE9E2"/>
                </a:solidFill>
                <a:latin typeface="Courier New" pitchFamily="34" charset="0"/>
                <a:ea typeface="Courier New" pitchFamily="34" charset="-122"/>
                <a:cs typeface="Courier New" pitchFamily="34" charset="-120"/>
              </a:rPr>
              <a:t>Transformer Explainer</a:t>
            </a:r>
            <a:endParaRPr lang="en-US" sz="1800" dirty="0"/>
          </a:p>
        </p:txBody>
      </p:sp>
      <p:sp>
        <p:nvSpPr>
          <p:cNvPr id="7" name="Text 4"/>
          <p:cNvSpPr txBox="1"/>
          <p:nvPr/>
        </p:nvSpPr>
        <p:spPr>
          <a:xfrm>
            <a:off x="685800" y="2148840"/>
            <a:ext cx="7772400" cy="292608"/>
          </a:xfrm>
          <a:prstGeom prst="rect">
            <a:avLst/>
          </a:prstGeom>
          <a:noFill/>
          <a:ln/>
        </p:spPr>
        <p:txBody>
          <a:bodyPr wrap="square" lIns="0" tIns="0" rIns="0" bIns="0" rtlCol="0" anchor="t"/>
          <a:lstStyle/>
          <a:p>
            <a:pPr indent="0" marL="0">
              <a:buNone/>
            </a:pPr>
            <a:r>
              <a:rPr lang="en-US" sz="1400" u="sng" dirty="0">
                <a:solidFill>
                  <a:srgbClr val="8A8F98"/>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poloclub.github.io/transformer-explainer</a:t>
            </a:r>
            <a:endParaRPr lang="en-US" sz="1400" dirty="0"/>
          </a:p>
        </p:txBody>
      </p:sp>
      <p:sp>
        <p:nvSpPr>
          <p:cNvPr id="8" name="Text 5"/>
          <p:cNvSpPr txBox="1"/>
          <p:nvPr/>
        </p:nvSpPr>
        <p:spPr>
          <a:xfrm>
            <a:off x="685800" y="2514600"/>
            <a:ext cx="7772400" cy="320040"/>
          </a:xfrm>
          <a:prstGeom prst="rect">
            <a:avLst/>
          </a:prstGeom>
          <a:noFill/>
          <a:ln/>
        </p:spPr>
        <p:txBody>
          <a:bodyPr wrap="square" lIns="0" tIns="0" rIns="0" bIns="0" rtlCol="0" anchor="t"/>
          <a:lstStyle/>
          <a:p>
            <a:pPr indent="0" marL="0">
              <a:buNone/>
            </a:pPr>
            <a:r>
              <a:rPr lang="en-US" sz="1800" b="1" dirty="0">
                <a:solidFill>
                  <a:srgbClr val="ECE9E2"/>
                </a:solidFill>
                <a:latin typeface="Courier New" pitchFamily="34" charset="0"/>
                <a:ea typeface="Courier New" pitchFamily="34" charset="-122"/>
                <a:cs typeface="Courier New" pitchFamily="34" charset="-120"/>
              </a:rPr>
              <a:t>Vaswani et al. 2017</a:t>
            </a:r>
            <a:endParaRPr lang="en-US" sz="1800" dirty="0"/>
          </a:p>
        </p:txBody>
      </p:sp>
      <p:sp>
        <p:nvSpPr>
          <p:cNvPr id="9" name="Text 6"/>
          <p:cNvSpPr txBox="1"/>
          <p:nvPr/>
        </p:nvSpPr>
        <p:spPr>
          <a:xfrm>
            <a:off x="685800" y="2834640"/>
            <a:ext cx="7772400" cy="292608"/>
          </a:xfrm>
          <a:prstGeom prst="rect">
            <a:avLst/>
          </a:prstGeom>
          <a:noFill/>
          <a:ln/>
        </p:spPr>
        <p:txBody>
          <a:bodyPr wrap="square" lIns="0" tIns="0" rIns="0" bIns="0" rtlCol="0" anchor="t"/>
          <a:lstStyle/>
          <a:p>
            <a:pPr indent="0" marL="0">
              <a:buNone/>
            </a:pPr>
            <a:r>
              <a:rPr lang="en-US" sz="1400" u="sng" dirty="0">
                <a:solidFill>
                  <a:srgbClr val="8A8F98"/>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Attention Is All You Need · arxiv.org/abs/1706.03762</a:t>
            </a:r>
            <a:endParaRPr lang="en-US" sz="1400" dirty="0"/>
          </a:p>
        </p:txBody>
      </p:sp>
      <p:sp>
        <p:nvSpPr>
          <p:cNvPr id="10" name="Text 7"/>
          <p:cNvSpPr txBox="1"/>
          <p:nvPr/>
        </p:nvSpPr>
        <p:spPr>
          <a:xfrm>
            <a:off x="685800" y="3200400"/>
            <a:ext cx="7772400" cy="320040"/>
          </a:xfrm>
          <a:prstGeom prst="rect">
            <a:avLst/>
          </a:prstGeom>
          <a:noFill/>
          <a:ln/>
        </p:spPr>
        <p:txBody>
          <a:bodyPr wrap="square" lIns="0" tIns="0" rIns="0" bIns="0" rtlCol="0" anchor="t"/>
          <a:lstStyle/>
          <a:p>
            <a:pPr indent="0" marL="0">
              <a:buNone/>
            </a:pPr>
            <a:r>
              <a:rPr lang="en-US" sz="1800" b="1" dirty="0">
                <a:solidFill>
                  <a:srgbClr val="ECE9E2"/>
                </a:solidFill>
                <a:latin typeface="Courier New" pitchFamily="34" charset="0"/>
                <a:ea typeface="Courier New" pitchFamily="34" charset="-122"/>
                <a:cs typeface="Courier New" pitchFamily="34" charset="-120"/>
              </a:rPr>
              <a:t>Ouyang et al. 2022</a:t>
            </a:r>
            <a:endParaRPr lang="en-US" sz="1800" dirty="0"/>
          </a:p>
        </p:txBody>
      </p:sp>
      <p:sp>
        <p:nvSpPr>
          <p:cNvPr id="11" name="Text 8"/>
          <p:cNvSpPr txBox="1"/>
          <p:nvPr/>
        </p:nvSpPr>
        <p:spPr>
          <a:xfrm>
            <a:off x="685800" y="3520440"/>
            <a:ext cx="7772400" cy="292608"/>
          </a:xfrm>
          <a:prstGeom prst="rect">
            <a:avLst/>
          </a:prstGeom>
          <a:noFill/>
          <a:ln/>
        </p:spPr>
        <p:txBody>
          <a:bodyPr wrap="square" lIns="0" tIns="0" rIns="0" bIns="0" rtlCol="0" anchor="t"/>
          <a:lstStyle/>
          <a:p>
            <a:pPr indent="0" marL="0">
              <a:buNone/>
            </a:pPr>
            <a:r>
              <a:rPr lang="en-US" sz="1400" u="sng" dirty="0">
                <a:solidFill>
                  <a:srgbClr val="8A8F98"/>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InstructGPT · arxiv.org/abs/2203.02155</a:t>
            </a:r>
            <a:endParaRPr lang="en-US" sz="1400" dirty="0"/>
          </a:p>
        </p:txBody>
      </p:sp>
      <p:sp>
        <p:nvSpPr>
          <p:cNvPr id="12" name="Text 9"/>
          <p:cNvSpPr txBox="1"/>
          <p:nvPr/>
        </p:nvSpPr>
        <p:spPr>
          <a:xfrm>
            <a:off x="685800" y="3886200"/>
            <a:ext cx="7772400" cy="320040"/>
          </a:xfrm>
          <a:prstGeom prst="rect">
            <a:avLst/>
          </a:prstGeom>
          <a:noFill/>
          <a:ln/>
        </p:spPr>
        <p:txBody>
          <a:bodyPr wrap="square" lIns="0" tIns="0" rIns="0" bIns="0" rtlCol="0" anchor="t"/>
          <a:lstStyle/>
          <a:p>
            <a:pPr indent="0" marL="0">
              <a:buNone/>
            </a:pPr>
            <a:r>
              <a:rPr lang="en-US" sz="1800" b="1" dirty="0">
                <a:solidFill>
                  <a:srgbClr val="ECE9E2"/>
                </a:solidFill>
                <a:latin typeface="Courier New" pitchFamily="34" charset="0"/>
                <a:ea typeface="Courier New" pitchFamily="34" charset="-122"/>
                <a:cs typeface="Courier New" pitchFamily="34" charset="-120"/>
              </a:rPr>
              <a:t>Lewis et al. 2020</a:t>
            </a:r>
            <a:endParaRPr lang="en-US" sz="1800" dirty="0"/>
          </a:p>
        </p:txBody>
      </p:sp>
      <p:sp>
        <p:nvSpPr>
          <p:cNvPr id="13" name="Text 10"/>
          <p:cNvSpPr txBox="1"/>
          <p:nvPr/>
        </p:nvSpPr>
        <p:spPr>
          <a:xfrm>
            <a:off x="685800" y="4206240"/>
            <a:ext cx="7772400" cy="292608"/>
          </a:xfrm>
          <a:prstGeom prst="rect">
            <a:avLst/>
          </a:prstGeom>
          <a:noFill/>
          <a:ln/>
        </p:spPr>
        <p:txBody>
          <a:bodyPr wrap="square" lIns="0" tIns="0" rIns="0" bIns="0" rtlCol="0" anchor="t"/>
          <a:lstStyle/>
          <a:p>
            <a:pPr indent="0" marL="0">
              <a:buNone/>
            </a:pPr>
            <a:r>
              <a:rPr lang="en-US" sz="1400" u="sng" dirty="0">
                <a:solidFill>
                  <a:srgbClr val="8A8F98"/>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Retrieval-Augmented Generation · arxiv.org/abs/2005.11401</a:t>
            </a:r>
            <a:endParaRPr lang="en-US" sz="1400" dirty="0"/>
          </a:p>
        </p:txBody>
      </p:sp>
      <p:sp>
        <p:nvSpPr>
          <p:cNvPr id="25" name="Slide Number Placeholder 0"/>
          <p:cNvSpPr>
            <a:spLocks noGrp="1"/>
          </p:cNvSpPr>
          <p:nvPr>
            <p:ph type="sldNum" sz="quarter" idx="4294967295"/>
          </p:nvPr>
        </p:nvSpPr>
        <p:spPr>
          <a:xfrm>
            <a:off x="10865815" y="6291072"/>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ourier New"/>
                <a:ea typeface="Courier New"/>
                <a:cs typeface="Courier New"/>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Stopařův průvodce po LLMs</dc:title>
  <dc:subject>PptxGenJS Presentation</dc:subject>
  <dc:creator>AI Monday 2026</dc:creator>
  <cp:lastModifiedBy>AI Monday 2026</cp:lastModifiedBy>
  <cp:revision>1</cp:revision>
  <dcterms:created xsi:type="dcterms:W3CDTF">2026-10-04T15:38:13Z</dcterms:created>
  <dcterms:modified xsi:type="dcterms:W3CDTF">2026-10-04T15:38:13Z</dcterms:modified>
</cp:coreProperties>
</file>